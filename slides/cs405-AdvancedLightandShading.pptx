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50" r:id="rId1"/>
  </p:sldMasterIdLst>
  <p:notesMasterIdLst>
    <p:notesMasterId r:id="rId76"/>
  </p:notesMasterIdLst>
  <p:sldIdLst>
    <p:sldId id="258" r:id="rId2"/>
    <p:sldId id="297" r:id="rId3"/>
    <p:sldId id="298" r:id="rId4"/>
    <p:sldId id="299" r:id="rId5"/>
    <p:sldId id="300" r:id="rId6"/>
    <p:sldId id="301" r:id="rId7"/>
    <p:sldId id="315" r:id="rId8"/>
    <p:sldId id="302" r:id="rId9"/>
    <p:sldId id="303" r:id="rId10"/>
    <p:sldId id="304" r:id="rId11"/>
    <p:sldId id="305" r:id="rId12"/>
    <p:sldId id="306" r:id="rId13"/>
    <p:sldId id="307" r:id="rId14"/>
    <p:sldId id="308" r:id="rId15"/>
    <p:sldId id="309" r:id="rId16"/>
    <p:sldId id="310" r:id="rId17"/>
    <p:sldId id="311" r:id="rId18"/>
    <p:sldId id="312" r:id="rId19"/>
    <p:sldId id="313" r:id="rId20"/>
    <p:sldId id="316" r:id="rId21"/>
    <p:sldId id="317" r:id="rId22"/>
    <p:sldId id="318" r:id="rId23"/>
    <p:sldId id="320" r:id="rId24"/>
    <p:sldId id="321" r:id="rId25"/>
    <p:sldId id="322" r:id="rId26"/>
    <p:sldId id="323" r:id="rId27"/>
    <p:sldId id="324" r:id="rId28"/>
    <p:sldId id="325" r:id="rId29"/>
    <p:sldId id="326" r:id="rId30"/>
    <p:sldId id="327" r:id="rId31"/>
    <p:sldId id="257" r:id="rId32"/>
    <p:sldId id="378" r:id="rId33"/>
    <p:sldId id="259" r:id="rId34"/>
    <p:sldId id="343" r:id="rId35"/>
    <p:sldId id="344" r:id="rId36"/>
    <p:sldId id="345" r:id="rId37"/>
    <p:sldId id="365" r:id="rId38"/>
    <p:sldId id="346" r:id="rId39"/>
    <p:sldId id="347" r:id="rId40"/>
    <p:sldId id="367" r:id="rId41"/>
    <p:sldId id="368" r:id="rId42"/>
    <p:sldId id="348" r:id="rId43"/>
    <p:sldId id="349" r:id="rId44"/>
    <p:sldId id="350" r:id="rId45"/>
    <p:sldId id="351" r:id="rId46"/>
    <p:sldId id="369" r:id="rId47"/>
    <p:sldId id="370" r:id="rId48"/>
    <p:sldId id="371" r:id="rId49"/>
    <p:sldId id="372" r:id="rId50"/>
    <p:sldId id="352" r:id="rId51"/>
    <p:sldId id="353" r:id="rId52"/>
    <p:sldId id="356" r:id="rId53"/>
    <p:sldId id="354" r:id="rId54"/>
    <p:sldId id="355" r:id="rId55"/>
    <p:sldId id="357" r:id="rId56"/>
    <p:sldId id="358" r:id="rId57"/>
    <p:sldId id="359" r:id="rId58"/>
    <p:sldId id="374" r:id="rId59"/>
    <p:sldId id="375" r:id="rId60"/>
    <p:sldId id="377" r:id="rId61"/>
    <p:sldId id="360" r:id="rId62"/>
    <p:sldId id="376" r:id="rId63"/>
    <p:sldId id="361" r:id="rId64"/>
    <p:sldId id="373" r:id="rId65"/>
    <p:sldId id="362" r:id="rId66"/>
    <p:sldId id="363" r:id="rId67"/>
    <p:sldId id="364" r:id="rId68"/>
    <p:sldId id="260" r:id="rId69"/>
    <p:sldId id="261" r:id="rId70"/>
    <p:sldId id="262" r:id="rId71"/>
    <p:sldId id="263" r:id="rId72"/>
    <p:sldId id="265" r:id="rId73"/>
    <p:sldId id="264" r:id="rId74"/>
    <p:sldId id="256" r:id="rId75"/>
  </p:sldIdLst>
  <p:sldSz cx="9144000" cy="6858000" type="screen4x3"/>
  <p:notesSz cx="6858000" cy="9144000"/>
  <p:defaultTextStyle>
    <a:defPPr>
      <a:defRPr lang="en-US"/>
    </a:defPPr>
    <a:lvl1pPr algn="ctr" rtl="0" eaLnBrk="0" fontAlgn="base" hangingPunct="0">
      <a:spcBef>
        <a:spcPct val="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1pPr>
    <a:lvl2pPr marL="457200" algn="ctr" rtl="0" eaLnBrk="0" fontAlgn="base" hangingPunct="0">
      <a:spcBef>
        <a:spcPct val="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2pPr>
    <a:lvl3pPr marL="914400" algn="ctr" rtl="0" eaLnBrk="0" fontAlgn="base" hangingPunct="0">
      <a:spcBef>
        <a:spcPct val="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3pPr>
    <a:lvl4pPr marL="1371600" algn="ctr" rtl="0" eaLnBrk="0" fontAlgn="base" hangingPunct="0">
      <a:spcBef>
        <a:spcPct val="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4pPr>
    <a:lvl5pPr marL="1828800" algn="ctr" rtl="0" eaLnBrk="0" fontAlgn="base" hangingPunct="0">
      <a:spcBef>
        <a:spcPct val="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781" autoAdjust="0"/>
    <p:restoredTop sz="94564"/>
  </p:normalViewPr>
  <p:slideViewPr>
    <p:cSldViewPr>
      <p:cViewPr varScale="1">
        <p:scale>
          <a:sx n="115" d="100"/>
          <a:sy n="115" d="100"/>
        </p:scale>
        <p:origin x="2472" y="18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" d="1"/>
        <a:sy n="1" d="1"/>
      </p:scale>
      <p:origin x="0" y="2568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slide" Target="slides/slide73.xml"/><Relationship Id="rId79" Type="http://schemas.openxmlformats.org/officeDocument/2006/relationships/theme" Target="theme/theme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>
            <a:extLst>
              <a:ext uri="{FF2B5EF4-FFF2-40B4-BE49-F238E27FC236}">
                <a16:creationId xmlns:a16="http://schemas.microsoft.com/office/drawing/2014/main" id="{B50DA6F4-604A-9DEE-C01C-C2D74F7C3DAA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defRPr/>
            </a:lvl1pPr>
          </a:lstStyle>
          <a:p>
            <a:endParaRPr lang="en-US" altLang="tr-TR"/>
          </a:p>
        </p:txBody>
      </p:sp>
      <p:sp>
        <p:nvSpPr>
          <p:cNvPr id="11267" name="Rectangle 3">
            <a:extLst>
              <a:ext uri="{FF2B5EF4-FFF2-40B4-BE49-F238E27FC236}">
                <a16:creationId xmlns:a16="http://schemas.microsoft.com/office/drawing/2014/main" id="{CA53AAA9-671C-2A28-19FF-54F642796CB2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/>
            </a:lvl1pPr>
          </a:lstStyle>
          <a:p>
            <a:endParaRPr lang="en-US" altLang="tr-TR"/>
          </a:p>
        </p:txBody>
      </p:sp>
      <p:sp>
        <p:nvSpPr>
          <p:cNvPr id="11268" name="Rectangle 4">
            <a:extLst>
              <a:ext uri="{FF2B5EF4-FFF2-40B4-BE49-F238E27FC236}">
                <a16:creationId xmlns:a16="http://schemas.microsoft.com/office/drawing/2014/main" id="{AEDFF66E-0C7B-46D7-B8E3-B3613B776BEC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11269" name="Rectangle 5">
            <a:extLst>
              <a:ext uri="{FF2B5EF4-FFF2-40B4-BE49-F238E27FC236}">
                <a16:creationId xmlns:a16="http://schemas.microsoft.com/office/drawing/2014/main" id="{AD6686F5-1403-81C8-75F6-FDC2D1DB9AB9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tr-TR"/>
              <a:t>Click to edit Master text styles</a:t>
            </a:r>
          </a:p>
          <a:p>
            <a:pPr lvl="1"/>
            <a:r>
              <a:rPr lang="en-US" altLang="tr-TR"/>
              <a:t>Second level</a:t>
            </a:r>
          </a:p>
          <a:p>
            <a:pPr lvl="2"/>
            <a:r>
              <a:rPr lang="en-US" altLang="tr-TR"/>
              <a:t>Third level</a:t>
            </a:r>
          </a:p>
          <a:p>
            <a:pPr lvl="3"/>
            <a:r>
              <a:rPr lang="en-US" altLang="tr-TR"/>
              <a:t>Fourth level</a:t>
            </a:r>
          </a:p>
          <a:p>
            <a:pPr lvl="4"/>
            <a:r>
              <a:rPr lang="en-US" altLang="tr-TR"/>
              <a:t>Fifth level</a:t>
            </a:r>
          </a:p>
        </p:txBody>
      </p:sp>
      <p:sp>
        <p:nvSpPr>
          <p:cNvPr id="11270" name="Rectangle 6">
            <a:extLst>
              <a:ext uri="{FF2B5EF4-FFF2-40B4-BE49-F238E27FC236}">
                <a16:creationId xmlns:a16="http://schemas.microsoft.com/office/drawing/2014/main" id="{4079D94F-CAFF-C8DE-76DD-14FAFA0D2606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>
              <a:defRPr/>
            </a:lvl1pPr>
          </a:lstStyle>
          <a:p>
            <a:endParaRPr lang="en-US" altLang="tr-TR"/>
          </a:p>
        </p:txBody>
      </p:sp>
      <p:sp>
        <p:nvSpPr>
          <p:cNvPr id="11271" name="Rectangle 7">
            <a:extLst>
              <a:ext uri="{FF2B5EF4-FFF2-40B4-BE49-F238E27FC236}">
                <a16:creationId xmlns:a16="http://schemas.microsoft.com/office/drawing/2014/main" id="{8774BBB4-7529-E852-A785-D4074B6BC49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/>
            </a:lvl1pPr>
          </a:lstStyle>
          <a:p>
            <a:fld id="{F6AC2AFE-B420-E745-95C3-54CAD088CA51}" type="slidenum">
              <a:rPr lang="en-US" altLang="tr-TR"/>
              <a:pPr/>
              <a:t>‹#›</a:t>
            </a:fld>
            <a:endParaRPr lang="en-US" altLang="tr-T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49778934-95AC-66DC-52E2-BF37657581C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3A8216A0-6603-5442-8A21-7F89E4BBEE16}" type="slidenum">
              <a:rPr lang="en-US" altLang="tr-TR"/>
              <a:pPr/>
              <a:t>1</a:t>
            </a:fld>
            <a:endParaRPr lang="en-US" altLang="tr-TR"/>
          </a:p>
        </p:txBody>
      </p:sp>
      <p:sp>
        <p:nvSpPr>
          <p:cNvPr id="481282" name="Rectangle 2">
            <a:extLst>
              <a:ext uri="{FF2B5EF4-FFF2-40B4-BE49-F238E27FC236}">
                <a16:creationId xmlns:a16="http://schemas.microsoft.com/office/drawing/2014/main" id="{99E1AD7D-B620-6984-1386-03A8F6D4999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81283" name="Rectangle 3">
            <a:extLst>
              <a:ext uri="{FF2B5EF4-FFF2-40B4-BE49-F238E27FC236}">
                <a16:creationId xmlns:a16="http://schemas.microsoft.com/office/drawing/2014/main" id="{CA1DE3E9-40B2-999B-9592-D3A8840A48E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GB" altLang="tr-TR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25CA2A74-7926-377D-E33A-A8F2C891F26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F94A9C21-B934-A444-B0F6-C7E1BEA380F2}" type="slidenum">
              <a:rPr lang="en-US" altLang="tr-TR"/>
              <a:pPr/>
              <a:t>2</a:t>
            </a:fld>
            <a:endParaRPr lang="en-US" altLang="tr-TR"/>
          </a:p>
        </p:txBody>
      </p:sp>
      <p:sp>
        <p:nvSpPr>
          <p:cNvPr id="482306" name="Rectangle 2">
            <a:extLst>
              <a:ext uri="{FF2B5EF4-FFF2-40B4-BE49-F238E27FC236}">
                <a16:creationId xmlns:a16="http://schemas.microsoft.com/office/drawing/2014/main" id="{F49D4404-6F2D-A32F-8C7D-93D080FE2BF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82307" name="Rectangle 3">
            <a:extLst>
              <a:ext uri="{FF2B5EF4-FFF2-40B4-BE49-F238E27FC236}">
                <a16:creationId xmlns:a16="http://schemas.microsoft.com/office/drawing/2014/main" id="{3332282B-CC3B-34E5-5086-C06AFE12F3B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GB" altLang="tr-TR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12291770-675B-29C2-82B5-F20B6B897D8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4F5C842-7C4F-8748-A073-E4233772806F}" type="slidenum">
              <a:rPr lang="en-US" altLang="tr-TR"/>
              <a:pPr/>
              <a:t>3</a:t>
            </a:fld>
            <a:endParaRPr lang="en-US" altLang="tr-TR"/>
          </a:p>
        </p:txBody>
      </p:sp>
      <p:sp>
        <p:nvSpPr>
          <p:cNvPr id="483330" name="Rectangle 2">
            <a:extLst>
              <a:ext uri="{FF2B5EF4-FFF2-40B4-BE49-F238E27FC236}">
                <a16:creationId xmlns:a16="http://schemas.microsoft.com/office/drawing/2014/main" id="{42ED1C05-9257-ADF2-2494-F7CF752B738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83331" name="Rectangle 3">
            <a:extLst>
              <a:ext uri="{FF2B5EF4-FFF2-40B4-BE49-F238E27FC236}">
                <a16:creationId xmlns:a16="http://schemas.microsoft.com/office/drawing/2014/main" id="{2393EA7B-9DDC-4CA9-4E9D-D2CFAD21BAB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GB" altLang="tr-TR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5B7621F8-63F4-AFCB-4646-2492EA28273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DAA34EC3-41A0-7D40-B2CE-692A9D646116}" type="slidenum">
              <a:rPr lang="en-US" altLang="tr-TR"/>
              <a:pPr/>
              <a:t>4</a:t>
            </a:fld>
            <a:endParaRPr lang="en-US" altLang="tr-TR"/>
          </a:p>
        </p:txBody>
      </p:sp>
      <p:sp>
        <p:nvSpPr>
          <p:cNvPr id="484354" name="Rectangle 2">
            <a:extLst>
              <a:ext uri="{FF2B5EF4-FFF2-40B4-BE49-F238E27FC236}">
                <a16:creationId xmlns:a16="http://schemas.microsoft.com/office/drawing/2014/main" id="{54282631-086B-39BE-A981-5EE78CAABED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84355" name="Rectangle 3">
            <a:extLst>
              <a:ext uri="{FF2B5EF4-FFF2-40B4-BE49-F238E27FC236}">
                <a16:creationId xmlns:a16="http://schemas.microsoft.com/office/drawing/2014/main" id="{A05B213C-8A81-EE85-269B-240612A2CE1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GB" altLang="tr-TR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34023851-1EE7-9E6A-8AA5-B14BE22DD69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D6CE8F3-A632-F545-BC6B-7CD87A3A8E4A}" type="slidenum">
              <a:rPr lang="en-US" altLang="tr-TR"/>
              <a:pPr/>
              <a:t>5</a:t>
            </a:fld>
            <a:endParaRPr lang="en-US" altLang="tr-TR"/>
          </a:p>
        </p:txBody>
      </p:sp>
      <p:sp>
        <p:nvSpPr>
          <p:cNvPr id="485378" name="Rectangle 2">
            <a:extLst>
              <a:ext uri="{FF2B5EF4-FFF2-40B4-BE49-F238E27FC236}">
                <a16:creationId xmlns:a16="http://schemas.microsoft.com/office/drawing/2014/main" id="{AB65A985-FF5F-F48A-AD18-DB8066AA5DE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85379" name="Rectangle 3">
            <a:extLst>
              <a:ext uri="{FF2B5EF4-FFF2-40B4-BE49-F238E27FC236}">
                <a16:creationId xmlns:a16="http://schemas.microsoft.com/office/drawing/2014/main" id="{670A31A1-9987-6F0D-165C-1BC7EAE641A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GB" altLang="tr-TR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B0CDF7E0-FBD2-6A08-FCC8-B9C7A47A1FF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4BD9277-66D6-E446-B254-1751FC61C467}" type="slidenum">
              <a:rPr lang="en-US" altLang="tr-TR"/>
              <a:pPr/>
              <a:t>6</a:t>
            </a:fld>
            <a:endParaRPr lang="en-US" altLang="tr-TR"/>
          </a:p>
        </p:txBody>
      </p:sp>
      <p:sp>
        <p:nvSpPr>
          <p:cNvPr id="486402" name="Rectangle 2">
            <a:extLst>
              <a:ext uri="{FF2B5EF4-FFF2-40B4-BE49-F238E27FC236}">
                <a16:creationId xmlns:a16="http://schemas.microsoft.com/office/drawing/2014/main" id="{C9881CDC-F750-5C5C-70B5-C39969C21CA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86403" name="Rectangle 3">
            <a:extLst>
              <a:ext uri="{FF2B5EF4-FFF2-40B4-BE49-F238E27FC236}">
                <a16:creationId xmlns:a16="http://schemas.microsoft.com/office/drawing/2014/main" id="{606DA95B-7C45-46E9-3B2D-78751DA1370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GB" altLang="tr-TR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B50E04BB-02D5-18AD-81BD-986CC5D01A4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9E284C3-7062-744C-9095-848616426B5A}" type="slidenum">
              <a:rPr lang="en-US" altLang="tr-TR"/>
              <a:pPr/>
              <a:t>7</a:t>
            </a:fld>
            <a:endParaRPr lang="en-US" altLang="tr-TR"/>
          </a:p>
        </p:txBody>
      </p:sp>
      <p:sp>
        <p:nvSpPr>
          <p:cNvPr id="487426" name="Rectangle 2">
            <a:extLst>
              <a:ext uri="{FF2B5EF4-FFF2-40B4-BE49-F238E27FC236}">
                <a16:creationId xmlns:a16="http://schemas.microsoft.com/office/drawing/2014/main" id="{678B8FD0-44E3-12DC-F578-03098918AEC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87427" name="Rectangle 3">
            <a:extLst>
              <a:ext uri="{FF2B5EF4-FFF2-40B4-BE49-F238E27FC236}">
                <a16:creationId xmlns:a16="http://schemas.microsoft.com/office/drawing/2014/main" id="{415E4D2B-AE8D-B473-F015-13013BEADBD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GB" altLang="tr-TR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F986FF22-DE68-810A-369D-1A7EC6445BC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5A09A83D-4F4A-9C4D-8A97-0A5E4ED580D8}" type="slidenum">
              <a:rPr lang="en-US" altLang="tr-TR"/>
              <a:pPr/>
              <a:t>8</a:t>
            </a:fld>
            <a:endParaRPr lang="en-US" altLang="tr-TR"/>
          </a:p>
        </p:txBody>
      </p:sp>
      <p:sp>
        <p:nvSpPr>
          <p:cNvPr id="488450" name="Rectangle 2">
            <a:extLst>
              <a:ext uri="{FF2B5EF4-FFF2-40B4-BE49-F238E27FC236}">
                <a16:creationId xmlns:a16="http://schemas.microsoft.com/office/drawing/2014/main" id="{6451365D-3628-AD7D-62DF-3D1914D40FD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88451" name="Rectangle 3">
            <a:extLst>
              <a:ext uri="{FF2B5EF4-FFF2-40B4-BE49-F238E27FC236}">
                <a16:creationId xmlns:a16="http://schemas.microsoft.com/office/drawing/2014/main" id="{B276DAA6-4F55-6A37-EF79-48B5AAF2233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GB" altLang="tr-TR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F658D894-C24A-2977-A63D-A644B3362AD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263130E-F1E2-B141-A919-4FD2B3CF28AC}" type="slidenum">
              <a:rPr lang="en-US" altLang="tr-TR"/>
              <a:pPr/>
              <a:t>9</a:t>
            </a:fld>
            <a:endParaRPr lang="en-US" altLang="tr-TR"/>
          </a:p>
        </p:txBody>
      </p:sp>
      <p:sp>
        <p:nvSpPr>
          <p:cNvPr id="489474" name="Rectangle 2">
            <a:extLst>
              <a:ext uri="{FF2B5EF4-FFF2-40B4-BE49-F238E27FC236}">
                <a16:creationId xmlns:a16="http://schemas.microsoft.com/office/drawing/2014/main" id="{7D011874-E3AF-7E54-47E3-9E95FE1C023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89475" name="Rectangle 3">
            <a:extLst>
              <a:ext uri="{FF2B5EF4-FFF2-40B4-BE49-F238E27FC236}">
                <a16:creationId xmlns:a16="http://schemas.microsoft.com/office/drawing/2014/main" id="{34694ACF-FCDC-8592-B00E-6EB5BA69F23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GB" altLang="tr-TR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2BDE05E8-A1F0-5949-DA8B-8F2C9404D76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D7019CC8-411D-484D-9990-DC076A3666F4}" type="slidenum">
              <a:rPr lang="en-US" altLang="tr-TR"/>
              <a:pPr/>
              <a:t>10</a:t>
            </a:fld>
            <a:endParaRPr lang="en-US" altLang="tr-TR"/>
          </a:p>
        </p:txBody>
      </p:sp>
      <p:sp>
        <p:nvSpPr>
          <p:cNvPr id="490498" name="Rectangle 2">
            <a:extLst>
              <a:ext uri="{FF2B5EF4-FFF2-40B4-BE49-F238E27FC236}">
                <a16:creationId xmlns:a16="http://schemas.microsoft.com/office/drawing/2014/main" id="{636A4234-9818-142A-C5E0-4AC10DB0472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90499" name="Rectangle 3">
            <a:extLst>
              <a:ext uri="{FF2B5EF4-FFF2-40B4-BE49-F238E27FC236}">
                <a16:creationId xmlns:a16="http://schemas.microsoft.com/office/drawing/2014/main" id="{28D7FB3E-B3E0-7DDB-1D28-6288FF3F04D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GB" altLang="tr-TR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E19039A7-2650-7544-7685-D343BFE59E4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8A01C99-6001-2040-858E-1234970A0AB1}" type="slidenum">
              <a:rPr lang="en-US" altLang="tr-TR"/>
              <a:pPr/>
              <a:t>11</a:t>
            </a:fld>
            <a:endParaRPr lang="en-US" altLang="tr-TR"/>
          </a:p>
        </p:txBody>
      </p:sp>
      <p:sp>
        <p:nvSpPr>
          <p:cNvPr id="491522" name="Rectangle 2">
            <a:extLst>
              <a:ext uri="{FF2B5EF4-FFF2-40B4-BE49-F238E27FC236}">
                <a16:creationId xmlns:a16="http://schemas.microsoft.com/office/drawing/2014/main" id="{57D8A6C3-9BEF-8707-780C-39800E95691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91523" name="Rectangle 3">
            <a:extLst>
              <a:ext uri="{FF2B5EF4-FFF2-40B4-BE49-F238E27FC236}">
                <a16:creationId xmlns:a16="http://schemas.microsoft.com/office/drawing/2014/main" id="{83E11775-1ABD-B087-657C-D368BB3D119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GB" altLang="tr-TR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61BA2AD3-5224-59FF-EA36-40F9CFAAA72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D879E0B8-D689-C347-8295-80A2631C5295}" type="slidenum">
              <a:rPr lang="en-US" altLang="tr-TR"/>
              <a:pPr/>
              <a:t>12</a:t>
            </a:fld>
            <a:endParaRPr lang="en-US" altLang="tr-TR"/>
          </a:p>
        </p:txBody>
      </p:sp>
      <p:sp>
        <p:nvSpPr>
          <p:cNvPr id="492546" name="Rectangle 2">
            <a:extLst>
              <a:ext uri="{FF2B5EF4-FFF2-40B4-BE49-F238E27FC236}">
                <a16:creationId xmlns:a16="http://schemas.microsoft.com/office/drawing/2014/main" id="{BC129EE9-B446-23E8-2F65-F033C5ECAFF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92547" name="Rectangle 3">
            <a:extLst>
              <a:ext uri="{FF2B5EF4-FFF2-40B4-BE49-F238E27FC236}">
                <a16:creationId xmlns:a16="http://schemas.microsoft.com/office/drawing/2014/main" id="{F6892983-1503-A3F7-F3AC-63BD245ADAF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GB" altLang="tr-TR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EC48F9FC-F20B-256D-7446-29D882A8E0D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C3808C9-2B3A-CC4C-8AF9-8DDF6FCF6CBA}" type="slidenum">
              <a:rPr lang="en-US" altLang="tr-TR"/>
              <a:pPr/>
              <a:t>13</a:t>
            </a:fld>
            <a:endParaRPr lang="en-US" altLang="tr-TR"/>
          </a:p>
        </p:txBody>
      </p:sp>
      <p:sp>
        <p:nvSpPr>
          <p:cNvPr id="493570" name="Rectangle 2">
            <a:extLst>
              <a:ext uri="{FF2B5EF4-FFF2-40B4-BE49-F238E27FC236}">
                <a16:creationId xmlns:a16="http://schemas.microsoft.com/office/drawing/2014/main" id="{29283967-2138-7286-4C1E-0D846C45C58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93571" name="Rectangle 3">
            <a:extLst>
              <a:ext uri="{FF2B5EF4-FFF2-40B4-BE49-F238E27FC236}">
                <a16:creationId xmlns:a16="http://schemas.microsoft.com/office/drawing/2014/main" id="{6D5A6FC4-F6EF-D416-8C2E-3277F6062CF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GB" altLang="tr-TR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D60871EB-9249-E415-DDB1-98A28FDEE1B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869D755-597E-9E42-B701-9996BF0608EA}" type="slidenum">
              <a:rPr lang="en-US" altLang="tr-TR"/>
              <a:pPr/>
              <a:t>14</a:t>
            </a:fld>
            <a:endParaRPr lang="en-US" altLang="tr-TR"/>
          </a:p>
        </p:txBody>
      </p:sp>
      <p:sp>
        <p:nvSpPr>
          <p:cNvPr id="494594" name="Rectangle 2">
            <a:extLst>
              <a:ext uri="{FF2B5EF4-FFF2-40B4-BE49-F238E27FC236}">
                <a16:creationId xmlns:a16="http://schemas.microsoft.com/office/drawing/2014/main" id="{8F16FD9E-7F6F-08AF-22B2-8C113979C8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94595" name="Rectangle 3">
            <a:extLst>
              <a:ext uri="{FF2B5EF4-FFF2-40B4-BE49-F238E27FC236}">
                <a16:creationId xmlns:a16="http://schemas.microsoft.com/office/drawing/2014/main" id="{D3EA9856-1181-E8B1-F7B1-129A4CF8793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GB" altLang="tr-TR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9D2A8B56-429E-1514-E42D-4BA1CAB260C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F8AC4383-5D32-F947-B7EE-33A2B75EDFA0}" type="slidenum">
              <a:rPr lang="en-US" altLang="tr-TR"/>
              <a:pPr/>
              <a:t>15</a:t>
            </a:fld>
            <a:endParaRPr lang="en-US" altLang="tr-TR"/>
          </a:p>
        </p:txBody>
      </p:sp>
      <p:sp>
        <p:nvSpPr>
          <p:cNvPr id="495618" name="Rectangle 2">
            <a:extLst>
              <a:ext uri="{FF2B5EF4-FFF2-40B4-BE49-F238E27FC236}">
                <a16:creationId xmlns:a16="http://schemas.microsoft.com/office/drawing/2014/main" id="{8F97DDE9-3DC1-B5D1-546A-B29C4109952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95619" name="Rectangle 3">
            <a:extLst>
              <a:ext uri="{FF2B5EF4-FFF2-40B4-BE49-F238E27FC236}">
                <a16:creationId xmlns:a16="http://schemas.microsoft.com/office/drawing/2014/main" id="{D07160F9-09C4-F476-E666-447DEBB86CE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GB" altLang="tr-TR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7D4BAFE7-5C9F-952B-7D7A-A69E454D784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84B0ACA-7EB8-3D4D-85F9-94B494466464}" type="slidenum">
              <a:rPr lang="en-US" altLang="tr-TR"/>
              <a:pPr/>
              <a:t>16</a:t>
            </a:fld>
            <a:endParaRPr lang="en-US" altLang="tr-TR"/>
          </a:p>
        </p:txBody>
      </p:sp>
      <p:sp>
        <p:nvSpPr>
          <p:cNvPr id="496642" name="Rectangle 2">
            <a:extLst>
              <a:ext uri="{FF2B5EF4-FFF2-40B4-BE49-F238E27FC236}">
                <a16:creationId xmlns:a16="http://schemas.microsoft.com/office/drawing/2014/main" id="{81B6BC50-D353-22B0-0D34-6068DAA001F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96643" name="Rectangle 3">
            <a:extLst>
              <a:ext uri="{FF2B5EF4-FFF2-40B4-BE49-F238E27FC236}">
                <a16:creationId xmlns:a16="http://schemas.microsoft.com/office/drawing/2014/main" id="{0D6087BF-3AB1-46BB-472A-2C389F94203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GB" altLang="tr-TR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04BB83B1-03BF-F289-82D1-9CC98B0E0E9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3F4AE3DC-52B6-3048-A365-87BD000DF197}" type="slidenum">
              <a:rPr lang="en-US" altLang="tr-TR"/>
              <a:pPr/>
              <a:t>17</a:t>
            </a:fld>
            <a:endParaRPr lang="en-US" altLang="tr-TR"/>
          </a:p>
        </p:txBody>
      </p:sp>
      <p:sp>
        <p:nvSpPr>
          <p:cNvPr id="497666" name="Rectangle 2">
            <a:extLst>
              <a:ext uri="{FF2B5EF4-FFF2-40B4-BE49-F238E27FC236}">
                <a16:creationId xmlns:a16="http://schemas.microsoft.com/office/drawing/2014/main" id="{0D753A61-4C8E-A8CB-AB89-4A36D8CC1C6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97667" name="Rectangle 3">
            <a:extLst>
              <a:ext uri="{FF2B5EF4-FFF2-40B4-BE49-F238E27FC236}">
                <a16:creationId xmlns:a16="http://schemas.microsoft.com/office/drawing/2014/main" id="{B626645A-626F-DA8A-AA83-44160952E48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GB" altLang="tr-TR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65976BD8-8034-79FB-742A-60A97609EE3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78E9A1D-8907-F44A-8835-E61D41DCB98C}" type="slidenum">
              <a:rPr lang="en-US" altLang="tr-TR"/>
              <a:pPr/>
              <a:t>18</a:t>
            </a:fld>
            <a:endParaRPr lang="en-US" altLang="tr-TR"/>
          </a:p>
        </p:txBody>
      </p:sp>
      <p:sp>
        <p:nvSpPr>
          <p:cNvPr id="498690" name="Rectangle 2">
            <a:extLst>
              <a:ext uri="{FF2B5EF4-FFF2-40B4-BE49-F238E27FC236}">
                <a16:creationId xmlns:a16="http://schemas.microsoft.com/office/drawing/2014/main" id="{FD3F47E7-8089-2C55-2428-BCF102E548E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98691" name="Rectangle 3">
            <a:extLst>
              <a:ext uri="{FF2B5EF4-FFF2-40B4-BE49-F238E27FC236}">
                <a16:creationId xmlns:a16="http://schemas.microsoft.com/office/drawing/2014/main" id="{E557C8E2-274E-C7A3-8B89-A28503D3238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GB" altLang="tr-TR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ECE5C185-B783-4298-D7FE-00B074837DC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32AEB55D-DFE0-624F-AD23-6E8EC32D278E}" type="slidenum">
              <a:rPr lang="en-US" altLang="tr-TR"/>
              <a:pPr/>
              <a:t>19</a:t>
            </a:fld>
            <a:endParaRPr lang="en-US" altLang="tr-TR"/>
          </a:p>
        </p:txBody>
      </p:sp>
      <p:sp>
        <p:nvSpPr>
          <p:cNvPr id="499714" name="Rectangle 2">
            <a:extLst>
              <a:ext uri="{FF2B5EF4-FFF2-40B4-BE49-F238E27FC236}">
                <a16:creationId xmlns:a16="http://schemas.microsoft.com/office/drawing/2014/main" id="{D349A412-D456-F0AC-084A-E0BF2FCF2A7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99715" name="Rectangle 3">
            <a:extLst>
              <a:ext uri="{FF2B5EF4-FFF2-40B4-BE49-F238E27FC236}">
                <a16:creationId xmlns:a16="http://schemas.microsoft.com/office/drawing/2014/main" id="{52646863-D8FD-B59A-9D44-767E470654C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GB" altLang="tr-TR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423F1172-73BF-440F-2072-F833BFA1310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15E7194-8608-5344-83D4-05BB81EF9AED}" type="slidenum">
              <a:rPr lang="en-US" altLang="tr-TR"/>
              <a:pPr/>
              <a:t>20</a:t>
            </a:fld>
            <a:endParaRPr lang="en-US" altLang="tr-TR"/>
          </a:p>
        </p:txBody>
      </p:sp>
      <p:sp>
        <p:nvSpPr>
          <p:cNvPr id="500738" name="Rectangle 2">
            <a:extLst>
              <a:ext uri="{FF2B5EF4-FFF2-40B4-BE49-F238E27FC236}">
                <a16:creationId xmlns:a16="http://schemas.microsoft.com/office/drawing/2014/main" id="{6271F09D-7761-A203-A907-955C9380DDE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00739" name="Rectangle 3">
            <a:extLst>
              <a:ext uri="{FF2B5EF4-FFF2-40B4-BE49-F238E27FC236}">
                <a16:creationId xmlns:a16="http://schemas.microsoft.com/office/drawing/2014/main" id="{45D658D8-5B1A-3954-D086-E145CEE0CAD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GB" altLang="tr-TR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A6DD1906-10E8-9333-1A3A-84BE10DF421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D48C401-952C-4D42-8B0E-B609802AAD88}" type="slidenum">
              <a:rPr lang="en-US" altLang="tr-TR"/>
              <a:pPr/>
              <a:t>21</a:t>
            </a:fld>
            <a:endParaRPr lang="en-US" altLang="tr-TR"/>
          </a:p>
        </p:txBody>
      </p:sp>
      <p:sp>
        <p:nvSpPr>
          <p:cNvPr id="501762" name="Rectangle 2">
            <a:extLst>
              <a:ext uri="{FF2B5EF4-FFF2-40B4-BE49-F238E27FC236}">
                <a16:creationId xmlns:a16="http://schemas.microsoft.com/office/drawing/2014/main" id="{A8FCBB48-1A5C-EB2E-8218-818EB23CA93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01763" name="Rectangle 3">
            <a:extLst>
              <a:ext uri="{FF2B5EF4-FFF2-40B4-BE49-F238E27FC236}">
                <a16:creationId xmlns:a16="http://schemas.microsoft.com/office/drawing/2014/main" id="{D35C30BF-AA37-7BA9-77B3-E455A6CBED0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GB" altLang="tr-TR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D5616139-1337-DFAB-B51C-3A902B0A105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664812C-D84A-494F-A946-A3645042E288}" type="slidenum">
              <a:rPr lang="en-US" altLang="tr-TR"/>
              <a:pPr/>
              <a:t>22</a:t>
            </a:fld>
            <a:endParaRPr lang="en-US" altLang="tr-TR"/>
          </a:p>
        </p:txBody>
      </p:sp>
      <p:sp>
        <p:nvSpPr>
          <p:cNvPr id="502786" name="Rectangle 2">
            <a:extLst>
              <a:ext uri="{FF2B5EF4-FFF2-40B4-BE49-F238E27FC236}">
                <a16:creationId xmlns:a16="http://schemas.microsoft.com/office/drawing/2014/main" id="{729ECD96-F496-F207-13EF-E7D0464FE24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02787" name="Rectangle 3">
            <a:extLst>
              <a:ext uri="{FF2B5EF4-FFF2-40B4-BE49-F238E27FC236}">
                <a16:creationId xmlns:a16="http://schemas.microsoft.com/office/drawing/2014/main" id="{E3FFC8C6-EB11-5CC6-E982-D65079BABE1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GB" altLang="tr-TR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87A94003-62E0-51E4-3BB4-843B44614B1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71F38B7-A8C7-F44E-A85C-BC7A59DFDA64}" type="slidenum">
              <a:rPr lang="en-US" altLang="tr-TR"/>
              <a:pPr/>
              <a:t>23</a:t>
            </a:fld>
            <a:endParaRPr lang="en-US" altLang="tr-TR"/>
          </a:p>
        </p:txBody>
      </p:sp>
      <p:sp>
        <p:nvSpPr>
          <p:cNvPr id="503810" name="Rectangle 2">
            <a:extLst>
              <a:ext uri="{FF2B5EF4-FFF2-40B4-BE49-F238E27FC236}">
                <a16:creationId xmlns:a16="http://schemas.microsoft.com/office/drawing/2014/main" id="{69B95EDC-4BEC-DAF1-A21B-4FD5C04B71D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03811" name="Rectangle 3">
            <a:extLst>
              <a:ext uri="{FF2B5EF4-FFF2-40B4-BE49-F238E27FC236}">
                <a16:creationId xmlns:a16="http://schemas.microsoft.com/office/drawing/2014/main" id="{C5E12587-4277-F234-4E27-D72102FB9B8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GB" altLang="tr-TR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23F0873F-8B6B-9D74-B896-375DFA9ADF2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471AC0D6-83AA-9643-B8CF-E2AD8431E92B}" type="slidenum">
              <a:rPr lang="en-US" altLang="tr-TR"/>
              <a:pPr/>
              <a:t>24</a:t>
            </a:fld>
            <a:endParaRPr lang="en-US" altLang="tr-TR"/>
          </a:p>
        </p:txBody>
      </p:sp>
      <p:sp>
        <p:nvSpPr>
          <p:cNvPr id="504834" name="Rectangle 2">
            <a:extLst>
              <a:ext uri="{FF2B5EF4-FFF2-40B4-BE49-F238E27FC236}">
                <a16:creationId xmlns:a16="http://schemas.microsoft.com/office/drawing/2014/main" id="{289C0796-444A-44D2-6323-FA9B69A9A54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04835" name="Rectangle 3">
            <a:extLst>
              <a:ext uri="{FF2B5EF4-FFF2-40B4-BE49-F238E27FC236}">
                <a16:creationId xmlns:a16="http://schemas.microsoft.com/office/drawing/2014/main" id="{54FA3BC9-EA00-8225-8F8B-F3C9233053F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GB" altLang="tr-TR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A0600CA2-4237-D40B-C9ED-3DD73815CFA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4AED7E2C-AC3D-174C-9CB2-BB3273598FCB}" type="slidenum">
              <a:rPr lang="en-US" altLang="tr-TR"/>
              <a:pPr/>
              <a:t>25</a:t>
            </a:fld>
            <a:endParaRPr lang="en-US" altLang="tr-TR"/>
          </a:p>
        </p:txBody>
      </p:sp>
      <p:sp>
        <p:nvSpPr>
          <p:cNvPr id="505858" name="Rectangle 2">
            <a:extLst>
              <a:ext uri="{FF2B5EF4-FFF2-40B4-BE49-F238E27FC236}">
                <a16:creationId xmlns:a16="http://schemas.microsoft.com/office/drawing/2014/main" id="{69E0D5E9-B4FA-7A01-8F3C-5DEAFFB1784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05859" name="Rectangle 3">
            <a:extLst>
              <a:ext uri="{FF2B5EF4-FFF2-40B4-BE49-F238E27FC236}">
                <a16:creationId xmlns:a16="http://schemas.microsoft.com/office/drawing/2014/main" id="{BB9FCC2B-1EC7-D13F-95A5-BDF4583C518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GB" altLang="tr-TR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A854E814-7523-034E-227D-FF1F357AE16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F3DBAAC2-FC9A-5E41-A6E1-23164D6FA356}" type="slidenum">
              <a:rPr lang="en-US" altLang="tr-TR"/>
              <a:pPr/>
              <a:t>26</a:t>
            </a:fld>
            <a:endParaRPr lang="en-US" altLang="tr-TR"/>
          </a:p>
        </p:txBody>
      </p:sp>
      <p:sp>
        <p:nvSpPr>
          <p:cNvPr id="506882" name="Rectangle 2">
            <a:extLst>
              <a:ext uri="{FF2B5EF4-FFF2-40B4-BE49-F238E27FC236}">
                <a16:creationId xmlns:a16="http://schemas.microsoft.com/office/drawing/2014/main" id="{7FDB2D32-503F-9D87-056A-79F9E2148B4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06883" name="Rectangle 3">
            <a:extLst>
              <a:ext uri="{FF2B5EF4-FFF2-40B4-BE49-F238E27FC236}">
                <a16:creationId xmlns:a16="http://schemas.microsoft.com/office/drawing/2014/main" id="{67FB1CD1-A508-66BE-0B5D-83E9D28DBB6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GB" altLang="tr-TR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3332F324-0B95-8D7A-7BC7-868B3F2EE42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561ECA09-D96F-274E-8BCC-5585ED9BF60A}" type="slidenum">
              <a:rPr lang="en-US" altLang="tr-TR"/>
              <a:pPr/>
              <a:t>27</a:t>
            </a:fld>
            <a:endParaRPr lang="en-US" altLang="tr-TR"/>
          </a:p>
        </p:txBody>
      </p:sp>
      <p:sp>
        <p:nvSpPr>
          <p:cNvPr id="507906" name="Rectangle 2">
            <a:extLst>
              <a:ext uri="{FF2B5EF4-FFF2-40B4-BE49-F238E27FC236}">
                <a16:creationId xmlns:a16="http://schemas.microsoft.com/office/drawing/2014/main" id="{568A034B-7DBC-49A0-6DE7-468B0E11D5E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07907" name="Rectangle 3">
            <a:extLst>
              <a:ext uri="{FF2B5EF4-FFF2-40B4-BE49-F238E27FC236}">
                <a16:creationId xmlns:a16="http://schemas.microsoft.com/office/drawing/2014/main" id="{32AC7136-A536-93C9-5339-D7AC9A6E0BD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GB" altLang="tr-TR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86097E84-4E5D-D0B2-B4E7-CBED240ABC7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5681D85-963E-2742-890C-0C11A345D6BA}" type="slidenum">
              <a:rPr lang="en-US" altLang="tr-TR"/>
              <a:pPr/>
              <a:t>28</a:t>
            </a:fld>
            <a:endParaRPr lang="en-US" altLang="tr-TR"/>
          </a:p>
        </p:txBody>
      </p:sp>
      <p:sp>
        <p:nvSpPr>
          <p:cNvPr id="508930" name="Rectangle 2">
            <a:extLst>
              <a:ext uri="{FF2B5EF4-FFF2-40B4-BE49-F238E27FC236}">
                <a16:creationId xmlns:a16="http://schemas.microsoft.com/office/drawing/2014/main" id="{9590C0A3-8FED-3857-9354-2AF26F3F449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08931" name="Rectangle 3">
            <a:extLst>
              <a:ext uri="{FF2B5EF4-FFF2-40B4-BE49-F238E27FC236}">
                <a16:creationId xmlns:a16="http://schemas.microsoft.com/office/drawing/2014/main" id="{60B9FC7F-C47F-D6E5-9B78-B9395041A98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GB" altLang="tr-TR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5D050C88-B084-B03E-FD5F-7A19227AC80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5503F47-C9A6-004A-B437-24D1C06C1D18}" type="slidenum">
              <a:rPr lang="en-US" altLang="tr-TR"/>
              <a:pPr/>
              <a:t>29</a:t>
            </a:fld>
            <a:endParaRPr lang="en-US" altLang="tr-TR"/>
          </a:p>
        </p:txBody>
      </p:sp>
      <p:sp>
        <p:nvSpPr>
          <p:cNvPr id="509954" name="Rectangle 2">
            <a:extLst>
              <a:ext uri="{FF2B5EF4-FFF2-40B4-BE49-F238E27FC236}">
                <a16:creationId xmlns:a16="http://schemas.microsoft.com/office/drawing/2014/main" id="{87C91E7B-F9CF-B8F8-30BC-A01ABE4BE8D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09955" name="Rectangle 3">
            <a:extLst>
              <a:ext uri="{FF2B5EF4-FFF2-40B4-BE49-F238E27FC236}">
                <a16:creationId xmlns:a16="http://schemas.microsoft.com/office/drawing/2014/main" id="{2AF5127D-EEFF-7AF9-3263-D66923A8E9C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GB" altLang="tr-TR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323A35CE-A977-AA3C-4174-24CD2F69B2F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0F7F608-8E93-7446-9DFD-A5FE827BBFC8}" type="slidenum">
              <a:rPr lang="en-US" altLang="tr-TR"/>
              <a:pPr/>
              <a:t>30</a:t>
            </a:fld>
            <a:endParaRPr lang="en-US" altLang="tr-TR"/>
          </a:p>
        </p:txBody>
      </p:sp>
      <p:sp>
        <p:nvSpPr>
          <p:cNvPr id="510978" name="Rectangle 2">
            <a:extLst>
              <a:ext uri="{FF2B5EF4-FFF2-40B4-BE49-F238E27FC236}">
                <a16:creationId xmlns:a16="http://schemas.microsoft.com/office/drawing/2014/main" id="{62CC9CB6-CE63-B62D-7D15-ECF3EC989AE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10979" name="Rectangle 3">
            <a:extLst>
              <a:ext uri="{FF2B5EF4-FFF2-40B4-BE49-F238E27FC236}">
                <a16:creationId xmlns:a16="http://schemas.microsoft.com/office/drawing/2014/main" id="{A5091AAA-85FE-A88C-7716-C343FA3FDE8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GB" altLang="tr-TR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1B91E2C6-6B2B-3101-EAB6-AF7EFFC4BF6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5C972DFA-E043-8143-886B-DB8D9E4DB447}" type="slidenum">
              <a:rPr lang="en-US" altLang="tr-TR"/>
              <a:pPr/>
              <a:t>34</a:t>
            </a:fld>
            <a:endParaRPr lang="en-US" altLang="tr-TR"/>
          </a:p>
        </p:txBody>
      </p:sp>
      <p:sp>
        <p:nvSpPr>
          <p:cNvPr id="527362" name="Rectangle 2">
            <a:extLst>
              <a:ext uri="{FF2B5EF4-FFF2-40B4-BE49-F238E27FC236}">
                <a16:creationId xmlns:a16="http://schemas.microsoft.com/office/drawing/2014/main" id="{6656564A-67BB-80DB-9120-1516A6F3AF9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27363" name="Rectangle 3">
            <a:extLst>
              <a:ext uri="{FF2B5EF4-FFF2-40B4-BE49-F238E27FC236}">
                <a16:creationId xmlns:a16="http://schemas.microsoft.com/office/drawing/2014/main" id="{BBC06903-4152-BCD6-830F-6A4CF495721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GB" altLang="tr-TR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89FB721B-81B0-EE3F-86C2-A7942F6E0B1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31F01E1C-7EE5-C84B-AABD-6A8510968A6F}" type="slidenum">
              <a:rPr lang="en-US" altLang="tr-TR"/>
              <a:pPr/>
              <a:t>35</a:t>
            </a:fld>
            <a:endParaRPr lang="en-US" altLang="tr-TR"/>
          </a:p>
        </p:txBody>
      </p:sp>
      <p:sp>
        <p:nvSpPr>
          <p:cNvPr id="528386" name="Rectangle 2">
            <a:extLst>
              <a:ext uri="{FF2B5EF4-FFF2-40B4-BE49-F238E27FC236}">
                <a16:creationId xmlns:a16="http://schemas.microsoft.com/office/drawing/2014/main" id="{FA0F96E4-64DF-46CB-EC80-DA66D6A54F5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28387" name="Rectangle 3">
            <a:extLst>
              <a:ext uri="{FF2B5EF4-FFF2-40B4-BE49-F238E27FC236}">
                <a16:creationId xmlns:a16="http://schemas.microsoft.com/office/drawing/2014/main" id="{81D49FCB-AB40-D60D-7DA7-799D1BFFA69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GB" altLang="tr-TR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12888741-1831-3EB8-FEC3-B72E801F219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3681CB1-D236-5F4D-BC70-0498B7DB99F1}" type="slidenum">
              <a:rPr lang="en-US" altLang="tr-TR"/>
              <a:pPr/>
              <a:t>36</a:t>
            </a:fld>
            <a:endParaRPr lang="en-US" altLang="tr-TR"/>
          </a:p>
        </p:txBody>
      </p:sp>
      <p:sp>
        <p:nvSpPr>
          <p:cNvPr id="529410" name="Rectangle 2">
            <a:extLst>
              <a:ext uri="{FF2B5EF4-FFF2-40B4-BE49-F238E27FC236}">
                <a16:creationId xmlns:a16="http://schemas.microsoft.com/office/drawing/2014/main" id="{782EC94D-4419-E4AF-AAE7-5B44CD4E8B3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29411" name="Rectangle 3">
            <a:extLst>
              <a:ext uri="{FF2B5EF4-FFF2-40B4-BE49-F238E27FC236}">
                <a16:creationId xmlns:a16="http://schemas.microsoft.com/office/drawing/2014/main" id="{BFFE3B57-96D2-4E1F-EF5A-0F8C0D69ED1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GB" altLang="tr-TR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004ABDDB-2671-4A94-25A2-F8C2997F514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9F8684B-8EB4-1F41-9D88-DCCE31FFEA80}" type="slidenum">
              <a:rPr lang="en-US" altLang="tr-TR"/>
              <a:pPr/>
              <a:t>37</a:t>
            </a:fld>
            <a:endParaRPr lang="en-US" altLang="tr-TR"/>
          </a:p>
        </p:txBody>
      </p:sp>
      <p:sp>
        <p:nvSpPr>
          <p:cNvPr id="551938" name="Rectangle 2">
            <a:extLst>
              <a:ext uri="{FF2B5EF4-FFF2-40B4-BE49-F238E27FC236}">
                <a16:creationId xmlns:a16="http://schemas.microsoft.com/office/drawing/2014/main" id="{BF033B1D-A29A-DE9A-3EF7-3EB54E8198C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51939" name="Rectangle 3">
            <a:extLst>
              <a:ext uri="{FF2B5EF4-FFF2-40B4-BE49-F238E27FC236}">
                <a16:creationId xmlns:a16="http://schemas.microsoft.com/office/drawing/2014/main" id="{9A03AA71-68F2-3E87-67D8-CA65BD0ED04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GB" altLang="tr-TR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51A76A07-0771-56FE-EFA3-8AAB6966801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434E8F8-2245-F34A-A634-84AB23468F05}" type="slidenum">
              <a:rPr lang="en-US" altLang="tr-TR"/>
              <a:pPr/>
              <a:t>38</a:t>
            </a:fld>
            <a:endParaRPr lang="en-US" altLang="tr-TR"/>
          </a:p>
        </p:txBody>
      </p:sp>
      <p:sp>
        <p:nvSpPr>
          <p:cNvPr id="530434" name="Rectangle 2">
            <a:extLst>
              <a:ext uri="{FF2B5EF4-FFF2-40B4-BE49-F238E27FC236}">
                <a16:creationId xmlns:a16="http://schemas.microsoft.com/office/drawing/2014/main" id="{9EEB15D3-0D46-2D77-0B53-AB20A6D3275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30435" name="Rectangle 3">
            <a:extLst>
              <a:ext uri="{FF2B5EF4-FFF2-40B4-BE49-F238E27FC236}">
                <a16:creationId xmlns:a16="http://schemas.microsoft.com/office/drawing/2014/main" id="{0270894D-D377-243C-2EC9-2DA2D67C52D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GB" altLang="tr-TR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7E6A33A5-6FBB-9D7D-ECAD-B4C15B887C1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36971690-D7CE-8A4A-A7D1-391D477004E7}" type="slidenum">
              <a:rPr lang="en-US" altLang="tr-TR"/>
              <a:pPr/>
              <a:t>39</a:t>
            </a:fld>
            <a:endParaRPr lang="en-US" altLang="tr-TR"/>
          </a:p>
        </p:txBody>
      </p:sp>
      <p:sp>
        <p:nvSpPr>
          <p:cNvPr id="531458" name="Rectangle 2">
            <a:extLst>
              <a:ext uri="{FF2B5EF4-FFF2-40B4-BE49-F238E27FC236}">
                <a16:creationId xmlns:a16="http://schemas.microsoft.com/office/drawing/2014/main" id="{DAD91F5F-45C0-F32F-D31B-05C4B3AF7CF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31459" name="Rectangle 3">
            <a:extLst>
              <a:ext uri="{FF2B5EF4-FFF2-40B4-BE49-F238E27FC236}">
                <a16:creationId xmlns:a16="http://schemas.microsoft.com/office/drawing/2014/main" id="{DB07A2CF-45CA-CB73-4D95-825044F4B4D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GB" altLang="tr-TR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8911CD29-3961-B66A-FD2E-1E401B65710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59736514-E121-2B4B-B5F6-BB2C9D3ED393}" type="slidenum">
              <a:rPr lang="en-US" altLang="tr-TR"/>
              <a:pPr/>
              <a:t>40</a:t>
            </a:fld>
            <a:endParaRPr lang="en-US" altLang="tr-TR"/>
          </a:p>
        </p:txBody>
      </p:sp>
      <p:sp>
        <p:nvSpPr>
          <p:cNvPr id="556034" name="Rectangle 2">
            <a:extLst>
              <a:ext uri="{FF2B5EF4-FFF2-40B4-BE49-F238E27FC236}">
                <a16:creationId xmlns:a16="http://schemas.microsoft.com/office/drawing/2014/main" id="{38AD08F1-D759-7D9D-475D-E1439725441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56035" name="Rectangle 3">
            <a:extLst>
              <a:ext uri="{FF2B5EF4-FFF2-40B4-BE49-F238E27FC236}">
                <a16:creationId xmlns:a16="http://schemas.microsoft.com/office/drawing/2014/main" id="{24F499FE-6B0F-049B-2622-A63F7132688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GB" altLang="tr-TR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60A31D2B-B899-66B5-DFBE-6F3C63BDC49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7076E85-F1DA-8C49-8348-5085A8AB9FA9}" type="slidenum">
              <a:rPr lang="en-US" altLang="tr-TR"/>
              <a:pPr/>
              <a:t>41</a:t>
            </a:fld>
            <a:endParaRPr lang="en-US" altLang="tr-TR"/>
          </a:p>
        </p:txBody>
      </p:sp>
      <p:sp>
        <p:nvSpPr>
          <p:cNvPr id="558082" name="Rectangle 2">
            <a:extLst>
              <a:ext uri="{FF2B5EF4-FFF2-40B4-BE49-F238E27FC236}">
                <a16:creationId xmlns:a16="http://schemas.microsoft.com/office/drawing/2014/main" id="{AA627A84-6D78-6E87-CAEE-F00E164A230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58083" name="Rectangle 3">
            <a:extLst>
              <a:ext uri="{FF2B5EF4-FFF2-40B4-BE49-F238E27FC236}">
                <a16:creationId xmlns:a16="http://schemas.microsoft.com/office/drawing/2014/main" id="{A79044B8-0F44-37C0-7C68-F453E8A07F9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GB" altLang="tr-TR"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8E093C9A-8230-5949-70A7-D9B69F60745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4AB50F6A-DB4A-C241-8EB3-DDFC0AF2E484}" type="slidenum">
              <a:rPr lang="en-US" altLang="tr-TR"/>
              <a:pPr/>
              <a:t>42</a:t>
            </a:fld>
            <a:endParaRPr lang="en-US" altLang="tr-TR"/>
          </a:p>
        </p:txBody>
      </p:sp>
      <p:sp>
        <p:nvSpPr>
          <p:cNvPr id="532482" name="Rectangle 2">
            <a:extLst>
              <a:ext uri="{FF2B5EF4-FFF2-40B4-BE49-F238E27FC236}">
                <a16:creationId xmlns:a16="http://schemas.microsoft.com/office/drawing/2014/main" id="{904151AE-530A-76E6-CE5F-CD3B26C5315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32483" name="Rectangle 3">
            <a:extLst>
              <a:ext uri="{FF2B5EF4-FFF2-40B4-BE49-F238E27FC236}">
                <a16:creationId xmlns:a16="http://schemas.microsoft.com/office/drawing/2014/main" id="{5A0F457D-03FA-4586-6934-76733ADB6B8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GB" altLang="tr-TR"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9B653AA0-F9D0-E507-FA34-6B04D8F2DF5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303B3C4-BA1A-8041-9637-68EA1CF948C5}" type="slidenum">
              <a:rPr lang="en-US" altLang="tr-TR"/>
              <a:pPr/>
              <a:t>43</a:t>
            </a:fld>
            <a:endParaRPr lang="en-US" altLang="tr-TR"/>
          </a:p>
        </p:txBody>
      </p:sp>
      <p:sp>
        <p:nvSpPr>
          <p:cNvPr id="533506" name="Rectangle 2">
            <a:extLst>
              <a:ext uri="{FF2B5EF4-FFF2-40B4-BE49-F238E27FC236}">
                <a16:creationId xmlns:a16="http://schemas.microsoft.com/office/drawing/2014/main" id="{8578B328-8640-4D9E-3045-B088010F42F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33507" name="Rectangle 3">
            <a:extLst>
              <a:ext uri="{FF2B5EF4-FFF2-40B4-BE49-F238E27FC236}">
                <a16:creationId xmlns:a16="http://schemas.microsoft.com/office/drawing/2014/main" id="{878B1960-255E-00DE-A200-6138621726D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GB" altLang="tr-TR"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27AEF0FE-F706-68B0-F798-2BC688DB73E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A9B198D1-4F12-0341-98B0-6ED2B5AD2974}" type="slidenum">
              <a:rPr lang="en-US" altLang="tr-TR"/>
              <a:pPr/>
              <a:t>44</a:t>
            </a:fld>
            <a:endParaRPr lang="en-US" altLang="tr-TR"/>
          </a:p>
        </p:txBody>
      </p:sp>
      <p:sp>
        <p:nvSpPr>
          <p:cNvPr id="534530" name="Rectangle 2">
            <a:extLst>
              <a:ext uri="{FF2B5EF4-FFF2-40B4-BE49-F238E27FC236}">
                <a16:creationId xmlns:a16="http://schemas.microsoft.com/office/drawing/2014/main" id="{36E63AD8-908F-7509-381C-BBBA5C50889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34531" name="Rectangle 3">
            <a:extLst>
              <a:ext uri="{FF2B5EF4-FFF2-40B4-BE49-F238E27FC236}">
                <a16:creationId xmlns:a16="http://schemas.microsoft.com/office/drawing/2014/main" id="{48B46D86-3597-B2B1-F518-D415ADF18FC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GB" altLang="tr-TR"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DCD5FD2C-5504-6672-2428-AD2C28AEF1C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FDF5C19-6C9B-354F-A69D-3427425C4A3E}" type="slidenum">
              <a:rPr lang="en-US" altLang="tr-TR"/>
              <a:pPr/>
              <a:t>45</a:t>
            </a:fld>
            <a:endParaRPr lang="en-US" altLang="tr-TR"/>
          </a:p>
        </p:txBody>
      </p:sp>
      <p:sp>
        <p:nvSpPr>
          <p:cNvPr id="535554" name="Rectangle 2">
            <a:extLst>
              <a:ext uri="{FF2B5EF4-FFF2-40B4-BE49-F238E27FC236}">
                <a16:creationId xmlns:a16="http://schemas.microsoft.com/office/drawing/2014/main" id="{60671941-3AD4-293A-6EC3-1C2B2051D3B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35555" name="Rectangle 3">
            <a:extLst>
              <a:ext uri="{FF2B5EF4-FFF2-40B4-BE49-F238E27FC236}">
                <a16:creationId xmlns:a16="http://schemas.microsoft.com/office/drawing/2014/main" id="{0ECFA0A4-957B-D08D-B000-672F74C5841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GB" altLang="tr-TR"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88C052B2-3AD4-A571-753F-7C80F1F5726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ADCDC4BE-B208-2843-AD83-93DE95E66939}" type="slidenum">
              <a:rPr lang="en-US" altLang="tr-TR"/>
              <a:pPr/>
              <a:t>50</a:t>
            </a:fld>
            <a:endParaRPr lang="en-US" altLang="tr-TR"/>
          </a:p>
        </p:txBody>
      </p:sp>
      <p:sp>
        <p:nvSpPr>
          <p:cNvPr id="536578" name="Rectangle 2">
            <a:extLst>
              <a:ext uri="{FF2B5EF4-FFF2-40B4-BE49-F238E27FC236}">
                <a16:creationId xmlns:a16="http://schemas.microsoft.com/office/drawing/2014/main" id="{6F1CEADD-FC89-B09A-EEB6-D750B6F4EBF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36579" name="Rectangle 3">
            <a:extLst>
              <a:ext uri="{FF2B5EF4-FFF2-40B4-BE49-F238E27FC236}">
                <a16:creationId xmlns:a16="http://schemas.microsoft.com/office/drawing/2014/main" id="{9E67FC06-0306-6BA2-B81F-25038FCA128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GB" altLang="tr-TR"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EDEB6813-6190-BA96-CC4B-3DA0C22CFE5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6B88198-246D-8341-A73C-072E689A7BF4}" type="slidenum">
              <a:rPr lang="en-US" altLang="tr-TR"/>
              <a:pPr/>
              <a:t>51</a:t>
            </a:fld>
            <a:endParaRPr lang="en-US" altLang="tr-TR"/>
          </a:p>
        </p:txBody>
      </p:sp>
      <p:sp>
        <p:nvSpPr>
          <p:cNvPr id="537602" name="Rectangle 2">
            <a:extLst>
              <a:ext uri="{FF2B5EF4-FFF2-40B4-BE49-F238E27FC236}">
                <a16:creationId xmlns:a16="http://schemas.microsoft.com/office/drawing/2014/main" id="{B3B95F95-E875-5726-D802-ECA0D89EEBE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37603" name="Rectangle 3">
            <a:extLst>
              <a:ext uri="{FF2B5EF4-FFF2-40B4-BE49-F238E27FC236}">
                <a16:creationId xmlns:a16="http://schemas.microsoft.com/office/drawing/2014/main" id="{44C11E68-7E18-2DD7-E944-304CFD6F7D9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GB" altLang="tr-TR"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7AA2822E-F37B-930A-D18D-8DA67C14B26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400BE5D-6DCE-A34E-B3E3-B9F0D9510EA1}" type="slidenum">
              <a:rPr lang="en-US" altLang="tr-TR"/>
              <a:pPr/>
              <a:t>52</a:t>
            </a:fld>
            <a:endParaRPr lang="en-US" altLang="tr-TR"/>
          </a:p>
        </p:txBody>
      </p:sp>
      <p:sp>
        <p:nvSpPr>
          <p:cNvPr id="538626" name="Rectangle 2">
            <a:extLst>
              <a:ext uri="{FF2B5EF4-FFF2-40B4-BE49-F238E27FC236}">
                <a16:creationId xmlns:a16="http://schemas.microsoft.com/office/drawing/2014/main" id="{F121B6C0-FB5C-D525-7829-8E70D4F1FD2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38627" name="Rectangle 3">
            <a:extLst>
              <a:ext uri="{FF2B5EF4-FFF2-40B4-BE49-F238E27FC236}">
                <a16:creationId xmlns:a16="http://schemas.microsoft.com/office/drawing/2014/main" id="{BBD90365-B1CF-A1F7-BB53-6A49BE461D7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GB" altLang="tr-TR"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05922389-2713-A411-750A-3CD58D44D69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87BF76C-9098-7343-8809-63EF8BEE2567}" type="slidenum">
              <a:rPr lang="en-US" altLang="tr-TR"/>
              <a:pPr/>
              <a:t>53</a:t>
            </a:fld>
            <a:endParaRPr lang="en-US" altLang="tr-TR"/>
          </a:p>
        </p:txBody>
      </p:sp>
      <p:sp>
        <p:nvSpPr>
          <p:cNvPr id="539650" name="Rectangle 2">
            <a:extLst>
              <a:ext uri="{FF2B5EF4-FFF2-40B4-BE49-F238E27FC236}">
                <a16:creationId xmlns:a16="http://schemas.microsoft.com/office/drawing/2014/main" id="{40A4813F-710A-C4BC-51EE-DEE3058EB15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39651" name="Rectangle 3">
            <a:extLst>
              <a:ext uri="{FF2B5EF4-FFF2-40B4-BE49-F238E27FC236}">
                <a16:creationId xmlns:a16="http://schemas.microsoft.com/office/drawing/2014/main" id="{5EB325D6-D2DD-543F-EBB8-35B8C9514F0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GB" altLang="tr-TR"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679B052D-FFAA-E5E3-3CEE-7986FA4E420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E5AA677-FC20-214A-86DB-FD582EF7A1E4}" type="slidenum">
              <a:rPr lang="en-US" altLang="tr-TR"/>
              <a:pPr/>
              <a:t>54</a:t>
            </a:fld>
            <a:endParaRPr lang="en-US" altLang="tr-TR"/>
          </a:p>
        </p:txBody>
      </p:sp>
      <p:sp>
        <p:nvSpPr>
          <p:cNvPr id="540674" name="Rectangle 2">
            <a:extLst>
              <a:ext uri="{FF2B5EF4-FFF2-40B4-BE49-F238E27FC236}">
                <a16:creationId xmlns:a16="http://schemas.microsoft.com/office/drawing/2014/main" id="{DEC1D104-40E0-AA57-0F96-01DB976FC91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40675" name="Rectangle 3">
            <a:extLst>
              <a:ext uri="{FF2B5EF4-FFF2-40B4-BE49-F238E27FC236}">
                <a16:creationId xmlns:a16="http://schemas.microsoft.com/office/drawing/2014/main" id="{621DF228-4DD8-FECB-0E81-70BC838B3CF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GB" altLang="tr-TR"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FF487757-211C-AC6E-D0B2-5FC6DCEE07F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8F6017A3-1D37-8642-B1C4-84A832EEC635}" type="slidenum">
              <a:rPr lang="en-US" altLang="tr-TR"/>
              <a:pPr/>
              <a:t>55</a:t>
            </a:fld>
            <a:endParaRPr lang="en-US" altLang="tr-TR"/>
          </a:p>
        </p:txBody>
      </p:sp>
      <p:sp>
        <p:nvSpPr>
          <p:cNvPr id="541698" name="Rectangle 2">
            <a:extLst>
              <a:ext uri="{FF2B5EF4-FFF2-40B4-BE49-F238E27FC236}">
                <a16:creationId xmlns:a16="http://schemas.microsoft.com/office/drawing/2014/main" id="{FC5C4461-1E34-78A4-B9EE-E368547B44B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41699" name="Rectangle 3">
            <a:extLst>
              <a:ext uri="{FF2B5EF4-FFF2-40B4-BE49-F238E27FC236}">
                <a16:creationId xmlns:a16="http://schemas.microsoft.com/office/drawing/2014/main" id="{D648A4A5-8894-0A19-FFBF-0B35FBF6C35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GB" altLang="tr-TR"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DFAEC66C-A9BD-A7CA-4F22-54A33201A0C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42805B6-5CF7-7A4B-96B9-2E9D3E382B99}" type="slidenum">
              <a:rPr lang="en-US" altLang="tr-TR"/>
              <a:pPr/>
              <a:t>56</a:t>
            </a:fld>
            <a:endParaRPr lang="en-US" altLang="tr-TR"/>
          </a:p>
        </p:txBody>
      </p:sp>
      <p:sp>
        <p:nvSpPr>
          <p:cNvPr id="542722" name="Rectangle 2">
            <a:extLst>
              <a:ext uri="{FF2B5EF4-FFF2-40B4-BE49-F238E27FC236}">
                <a16:creationId xmlns:a16="http://schemas.microsoft.com/office/drawing/2014/main" id="{B5F6D0BD-0981-ECC5-59F4-8EAC6C05ACB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42723" name="Rectangle 3">
            <a:extLst>
              <a:ext uri="{FF2B5EF4-FFF2-40B4-BE49-F238E27FC236}">
                <a16:creationId xmlns:a16="http://schemas.microsoft.com/office/drawing/2014/main" id="{51F62B38-028B-75FA-BA77-CE8DD46CD8F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GB" altLang="tr-TR"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D06155AE-C666-AA75-9AB1-E07434C426F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DBA497DB-39B7-1042-B4F8-709C75AA02FD}" type="slidenum">
              <a:rPr lang="en-US" altLang="tr-TR"/>
              <a:pPr/>
              <a:t>57</a:t>
            </a:fld>
            <a:endParaRPr lang="en-US" altLang="tr-TR"/>
          </a:p>
        </p:txBody>
      </p:sp>
      <p:sp>
        <p:nvSpPr>
          <p:cNvPr id="543746" name="Rectangle 2">
            <a:extLst>
              <a:ext uri="{FF2B5EF4-FFF2-40B4-BE49-F238E27FC236}">
                <a16:creationId xmlns:a16="http://schemas.microsoft.com/office/drawing/2014/main" id="{A8C74E9C-7033-395C-F6B1-1426B653159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43747" name="Rectangle 3">
            <a:extLst>
              <a:ext uri="{FF2B5EF4-FFF2-40B4-BE49-F238E27FC236}">
                <a16:creationId xmlns:a16="http://schemas.microsoft.com/office/drawing/2014/main" id="{4CC319D5-6A4D-5ABA-9364-7C808BC21C5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GB" altLang="tr-TR"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F206F257-E78F-D099-B62E-7A72558F315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36240198-646D-5A46-9516-BB643136BCA8}" type="slidenum">
              <a:rPr lang="en-US" altLang="tr-TR"/>
              <a:pPr/>
              <a:t>61</a:t>
            </a:fld>
            <a:endParaRPr lang="en-US" altLang="tr-TR"/>
          </a:p>
        </p:txBody>
      </p:sp>
      <p:sp>
        <p:nvSpPr>
          <p:cNvPr id="544770" name="Rectangle 2">
            <a:extLst>
              <a:ext uri="{FF2B5EF4-FFF2-40B4-BE49-F238E27FC236}">
                <a16:creationId xmlns:a16="http://schemas.microsoft.com/office/drawing/2014/main" id="{6179D51B-AE39-A342-3CE4-3DD3E55DAE4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44771" name="Rectangle 3">
            <a:extLst>
              <a:ext uri="{FF2B5EF4-FFF2-40B4-BE49-F238E27FC236}">
                <a16:creationId xmlns:a16="http://schemas.microsoft.com/office/drawing/2014/main" id="{C31A2ADB-22D9-6154-8809-F7FCA8D92F4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GB" altLang="tr-TR"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AB5FFB7D-5277-C7A8-95DA-1C09169280F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630B15B-3E0F-1641-AAB4-7269D62AB0FB}" type="slidenum">
              <a:rPr lang="en-US" altLang="tr-TR"/>
              <a:pPr/>
              <a:t>63</a:t>
            </a:fld>
            <a:endParaRPr lang="en-US" altLang="tr-TR"/>
          </a:p>
        </p:txBody>
      </p:sp>
      <p:sp>
        <p:nvSpPr>
          <p:cNvPr id="545794" name="Rectangle 2">
            <a:extLst>
              <a:ext uri="{FF2B5EF4-FFF2-40B4-BE49-F238E27FC236}">
                <a16:creationId xmlns:a16="http://schemas.microsoft.com/office/drawing/2014/main" id="{CCCCCC6F-CCEC-6EF8-0569-E8E81FCD2BE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45795" name="Rectangle 3">
            <a:extLst>
              <a:ext uri="{FF2B5EF4-FFF2-40B4-BE49-F238E27FC236}">
                <a16:creationId xmlns:a16="http://schemas.microsoft.com/office/drawing/2014/main" id="{C0AEE210-867A-D154-6B7E-5454CC90DE3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GB" altLang="tr-TR"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CCD0BC41-334B-C7C0-9D86-4F69972B736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30D26521-E0A1-664E-B806-115E86DAA64A}" type="slidenum">
              <a:rPr lang="en-US" altLang="tr-TR"/>
              <a:pPr/>
              <a:t>65</a:t>
            </a:fld>
            <a:endParaRPr lang="en-US" altLang="tr-TR"/>
          </a:p>
        </p:txBody>
      </p:sp>
      <p:sp>
        <p:nvSpPr>
          <p:cNvPr id="546818" name="Rectangle 2">
            <a:extLst>
              <a:ext uri="{FF2B5EF4-FFF2-40B4-BE49-F238E27FC236}">
                <a16:creationId xmlns:a16="http://schemas.microsoft.com/office/drawing/2014/main" id="{0CFB3D61-024C-8FBF-2CEA-1C7EFC9C99E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46819" name="Rectangle 3">
            <a:extLst>
              <a:ext uri="{FF2B5EF4-FFF2-40B4-BE49-F238E27FC236}">
                <a16:creationId xmlns:a16="http://schemas.microsoft.com/office/drawing/2014/main" id="{4ACBE2B5-FED1-E0CD-51CE-C675DF3250B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GB" altLang="tr-TR"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133DA175-54B5-D2CF-8012-9F9E4D009CD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3F7E38BE-8319-384C-945E-E2AD0D66493F}" type="slidenum">
              <a:rPr lang="en-US" altLang="tr-TR"/>
              <a:pPr/>
              <a:t>66</a:t>
            </a:fld>
            <a:endParaRPr lang="en-US" altLang="tr-TR"/>
          </a:p>
        </p:txBody>
      </p:sp>
      <p:sp>
        <p:nvSpPr>
          <p:cNvPr id="547842" name="Rectangle 2">
            <a:extLst>
              <a:ext uri="{FF2B5EF4-FFF2-40B4-BE49-F238E27FC236}">
                <a16:creationId xmlns:a16="http://schemas.microsoft.com/office/drawing/2014/main" id="{9115A81D-6E75-34AB-44AD-A688B01D507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47843" name="Rectangle 3">
            <a:extLst>
              <a:ext uri="{FF2B5EF4-FFF2-40B4-BE49-F238E27FC236}">
                <a16:creationId xmlns:a16="http://schemas.microsoft.com/office/drawing/2014/main" id="{F6121CEF-245D-79FA-A474-96CCADDAD31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GB" altLang="tr-TR"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8899ED4D-96D6-432C-7DE1-CEEAB697949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4C4D0C4D-3732-DD4C-B2EC-E59C4911DB62}" type="slidenum">
              <a:rPr lang="en-US" altLang="tr-TR"/>
              <a:pPr/>
              <a:t>67</a:t>
            </a:fld>
            <a:endParaRPr lang="en-US" altLang="tr-TR"/>
          </a:p>
        </p:txBody>
      </p:sp>
      <p:sp>
        <p:nvSpPr>
          <p:cNvPr id="548866" name="Rectangle 2">
            <a:extLst>
              <a:ext uri="{FF2B5EF4-FFF2-40B4-BE49-F238E27FC236}">
                <a16:creationId xmlns:a16="http://schemas.microsoft.com/office/drawing/2014/main" id="{C62ACDD4-18EB-9246-011B-776AEEF89E4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48867" name="Rectangle 3">
            <a:extLst>
              <a:ext uri="{FF2B5EF4-FFF2-40B4-BE49-F238E27FC236}">
                <a16:creationId xmlns:a16="http://schemas.microsoft.com/office/drawing/2014/main" id="{432F8B00-5340-C971-D44B-CAF3299B740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GB" altLang="tr-TR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aşlık Slayd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15CE5D1E-BF13-C7AB-D910-869E6096C8F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tr-TR"/>
              <a:t>Asıl başlık stilini düzenlemek için tıklayın</a:t>
            </a:r>
            <a:endParaRPr lang="en-US"/>
          </a:p>
        </p:txBody>
      </p:sp>
      <p:sp>
        <p:nvSpPr>
          <p:cNvPr id="3" name="Alt Başlık 2">
            <a:extLst>
              <a:ext uri="{FF2B5EF4-FFF2-40B4-BE49-F238E27FC236}">
                <a16:creationId xmlns:a16="http://schemas.microsoft.com/office/drawing/2014/main" id="{61F69763-7D85-2A40-EA5D-79002BCA120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tr-TR"/>
              <a:t>Asıl alt başlık stilini düzenlemek için tıklayın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71108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aşlık ve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ECF9896E-35B4-1C0E-0C68-BF724DBF0B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  <a:endParaRPr lang="en-US"/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2C41090B-ABFB-9008-D27F-67D20235FB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59435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Bölüm Üst Bilgis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DBC0A4F6-1903-A166-092C-2C381B1A8C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tr-TR"/>
              <a:t>Asıl başlık stilini düzenlemek için tıklayın</a:t>
            </a:r>
            <a:endParaRPr lang="en-US"/>
          </a:p>
        </p:txBody>
      </p:sp>
      <p:sp>
        <p:nvSpPr>
          <p:cNvPr id="3" name="Metin Yer Tutucusu 2">
            <a:extLst>
              <a:ext uri="{FF2B5EF4-FFF2-40B4-BE49-F238E27FC236}">
                <a16:creationId xmlns:a16="http://schemas.microsoft.com/office/drawing/2014/main" id="{3BBA2C3E-7580-490E-D7CE-B144752716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</p:spTree>
    <p:extLst>
      <p:ext uri="{BB962C8B-B14F-4D97-AF65-F5344CB8AC3E}">
        <p14:creationId xmlns:p14="http://schemas.microsoft.com/office/powerpoint/2010/main" val="30525185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İki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156D8014-FF4E-04CC-A95E-24322B5E8A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  <a:endParaRPr lang="en-US"/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687CF52B-9D19-A271-01E0-D1C16B1D1A8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85800" y="1524000"/>
            <a:ext cx="3810000" cy="4724400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/>
          </a:p>
        </p:txBody>
      </p:sp>
      <p:sp>
        <p:nvSpPr>
          <p:cNvPr id="4" name="İçerik Yer Tutucusu 3">
            <a:extLst>
              <a:ext uri="{FF2B5EF4-FFF2-40B4-BE49-F238E27FC236}">
                <a16:creationId xmlns:a16="http://schemas.microsoft.com/office/drawing/2014/main" id="{4DBCDF40-9D8B-231F-621B-A3F2085A849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524000"/>
            <a:ext cx="3810000" cy="4724400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17468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Karşılaştır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8D161CFD-0645-F380-7A61-E267625D51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tr-TR"/>
              <a:t>Asıl başlık stilini düzenlemek için tıklayın</a:t>
            </a:r>
            <a:endParaRPr lang="en-US"/>
          </a:p>
        </p:txBody>
      </p:sp>
      <p:sp>
        <p:nvSpPr>
          <p:cNvPr id="3" name="Metin Yer Tutucusu 2">
            <a:extLst>
              <a:ext uri="{FF2B5EF4-FFF2-40B4-BE49-F238E27FC236}">
                <a16:creationId xmlns:a16="http://schemas.microsoft.com/office/drawing/2014/main" id="{16D47DA8-FB50-E899-1538-43484AC6ED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4" name="İçerik Yer Tutucusu 3">
            <a:extLst>
              <a:ext uri="{FF2B5EF4-FFF2-40B4-BE49-F238E27FC236}">
                <a16:creationId xmlns:a16="http://schemas.microsoft.com/office/drawing/2014/main" id="{44941CBD-A4DB-C9BF-9456-A7BA411BDF9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/>
          </a:p>
        </p:txBody>
      </p:sp>
      <p:sp>
        <p:nvSpPr>
          <p:cNvPr id="5" name="Metin Yer Tutucusu 4">
            <a:extLst>
              <a:ext uri="{FF2B5EF4-FFF2-40B4-BE49-F238E27FC236}">
                <a16:creationId xmlns:a16="http://schemas.microsoft.com/office/drawing/2014/main" id="{65F9FA14-FEB6-FF36-A90D-E427E7CA8A2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6" name="İçerik Yer Tutucusu 5">
            <a:extLst>
              <a:ext uri="{FF2B5EF4-FFF2-40B4-BE49-F238E27FC236}">
                <a16:creationId xmlns:a16="http://schemas.microsoft.com/office/drawing/2014/main" id="{CB40245A-A880-DE77-011B-72B612AE184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62812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Yalnızca Başlı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56989C65-EF19-AE05-9F4A-47B256987D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25146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o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429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Başlıklı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90A8DC0D-2E66-5B78-F773-104D59B004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tr-TR"/>
              <a:t>Asıl başlık stilini düzenlemek için tıklayın</a:t>
            </a:r>
            <a:endParaRPr lang="en-US"/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6A82D512-BBEC-3B84-445E-A5C4D6F4C4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/>
          </a:p>
        </p:txBody>
      </p:sp>
      <p:sp>
        <p:nvSpPr>
          <p:cNvPr id="4" name="Metin Yer Tutucusu 3">
            <a:extLst>
              <a:ext uri="{FF2B5EF4-FFF2-40B4-BE49-F238E27FC236}">
                <a16:creationId xmlns:a16="http://schemas.microsoft.com/office/drawing/2014/main" id="{F1E3C47D-BB9E-633E-E708-46AB54864BA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</p:spTree>
    <p:extLst>
      <p:ext uri="{BB962C8B-B14F-4D97-AF65-F5344CB8AC3E}">
        <p14:creationId xmlns:p14="http://schemas.microsoft.com/office/powerpoint/2010/main" val="22379229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aşlıklı Res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55C2E6A2-87C1-87BF-E076-4F54865FCB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tr-TR"/>
              <a:t>Asıl başlık stilini düzenlemek için tıklayın</a:t>
            </a:r>
            <a:endParaRPr lang="en-US"/>
          </a:p>
        </p:txBody>
      </p:sp>
      <p:sp>
        <p:nvSpPr>
          <p:cNvPr id="3" name="Resim Yer Tutucusu 2">
            <a:extLst>
              <a:ext uri="{FF2B5EF4-FFF2-40B4-BE49-F238E27FC236}">
                <a16:creationId xmlns:a16="http://schemas.microsoft.com/office/drawing/2014/main" id="{F866DC90-87CC-55E4-9CB9-14E94949F32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Metin Yer Tutucusu 3">
            <a:extLst>
              <a:ext uri="{FF2B5EF4-FFF2-40B4-BE49-F238E27FC236}">
                <a16:creationId xmlns:a16="http://schemas.microsoft.com/office/drawing/2014/main" id="{0FF3ADF9-CFD1-A35F-148A-7D373BB0B5C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</p:spTree>
    <p:extLst>
      <p:ext uri="{BB962C8B-B14F-4D97-AF65-F5344CB8AC3E}">
        <p14:creationId xmlns:p14="http://schemas.microsoft.com/office/powerpoint/2010/main" val="42568672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Başlık ve Dikey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E8C6A332-8E4E-1559-80EC-1234BA159D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  <a:endParaRPr lang="en-US"/>
          </a:p>
        </p:txBody>
      </p:sp>
      <p:sp>
        <p:nvSpPr>
          <p:cNvPr id="3" name="Dikey Metin Yer Tutucusu 2">
            <a:extLst>
              <a:ext uri="{FF2B5EF4-FFF2-40B4-BE49-F238E27FC236}">
                <a16:creationId xmlns:a16="http://schemas.microsoft.com/office/drawing/2014/main" id="{6DD1572C-D97E-1464-4F8B-49D92F07421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48021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Dikey Başlık ve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key Başlık 1">
            <a:extLst>
              <a:ext uri="{FF2B5EF4-FFF2-40B4-BE49-F238E27FC236}">
                <a16:creationId xmlns:a16="http://schemas.microsoft.com/office/drawing/2014/main" id="{44BB36CD-B51A-9E5A-EF55-E4A9FB36A8D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15100" y="228600"/>
            <a:ext cx="1943100" cy="6019800"/>
          </a:xfrm>
        </p:spPr>
        <p:txBody>
          <a:bodyPr vert="eaVert"/>
          <a:lstStyle/>
          <a:p>
            <a:r>
              <a:rPr lang="tr-TR"/>
              <a:t>Asıl başlık stilini düzenlemek için tıklayın</a:t>
            </a:r>
            <a:endParaRPr lang="en-US"/>
          </a:p>
        </p:txBody>
      </p:sp>
      <p:sp>
        <p:nvSpPr>
          <p:cNvPr id="3" name="Dikey Metin Yer Tutucusu 2">
            <a:extLst>
              <a:ext uri="{FF2B5EF4-FFF2-40B4-BE49-F238E27FC236}">
                <a16:creationId xmlns:a16="http://schemas.microsoft.com/office/drawing/2014/main" id="{FCD8AE4B-7B39-20B0-B219-4A825716A9C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85800" y="228600"/>
            <a:ext cx="5676900" cy="6019800"/>
          </a:xfrm>
        </p:spPr>
        <p:txBody>
          <a:bodyPr vert="eaVert"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181666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Başlık, Metin ve 2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02BD336A-50B5-98A8-1BC4-CC6FA64754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228600"/>
            <a:ext cx="6248400" cy="1066800"/>
          </a:xfrm>
        </p:spPr>
        <p:txBody>
          <a:bodyPr/>
          <a:lstStyle/>
          <a:p>
            <a:r>
              <a:rPr lang="tr-TR"/>
              <a:t>Asıl başlık stilini düzenlemek için tıklayın</a:t>
            </a:r>
            <a:endParaRPr lang="en-US"/>
          </a:p>
        </p:txBody>
      </p:sp>
      <p:sp>
        <p:nvSpPr>
          <p:cNvPr id="3" name="Metin Yer Tutucusu 2">
            <a:extLst>
              <a:ext uri="{FF2B5EF4-FFF2-40B4-BE49-F238E27FC236}">
                <a16:creationId xmlns:a16="http://schemas.microsoft.com/office/drawing/2014/main" id="{EDE8065E-F29A-7213-25E1-06BB555F87A3}"/>
              </a:ext>
            </a:extLst>
          </p:cNvPr>
          <p:cNvSpPr>
            <a:spLocks noGrp="1"/>
          </p:cNvSpPr>
          <p:nvPr>
            <p:ph type="body" sz="half" idx="1"/>
          </p:nvPr>
        </p:nvSpPr>
        <p:spPr>
          <a:xfrm>
            <a:off x="685800" y="1524000"/>
            <a:ext cx="3810000" cy="4724400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/>
          </a:p>
        </p:txBody>
      </p:sp>
      <p:sp>
        <p:nvSpPr>
          <p:cNvPr id="4" name="İçerik Yer Tutucusu 3">
            <a:extLst>
              <a:ext uri="{FF2B5EF4-FFF2-40B4-BE49-F238E27FC236}">
                <a16:creationId xmlns:a16="http://schemas.microsoft.com/office/drawing/2014/main" id="{ED6553B1-0C8B-C75D-184C-52481F97284B}"/>
              </a:ext>
            </a:extLst>
          </p:cNvPr>
          <p:cNvSpPr>
            <a:spLocks noGrp="1"/>
          </p:cNvSpPr>
          <p:nvPr>
            <p:ph sz="quarter" idx="2"/>
          </p:nvPr>
        </p:nvSpPr>
        <p:spPr>
          <a:xfrm>
            <a:off x="4648200" y="1524000"/>
            <a:ext cx="3810000" cy="2286000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/>
          </a:p>
        </p:txBody>
      </p:sp>
      <p:sp>
        <p:nvSpPr>
          <p:cNvPr id="5" name="İçerik Yer Tutucusu 4">
            <a:extLst>
              <a:ext uri="{FF2B5EF4-FFF2-40B4-BE49-F238E27FC236}">
                <a16:creationId xmlns:a16="http://schemas.microsoft.com/office/drawing/2014/main" id="{00CD0F2D-6226-EDEF-85E4-4AFF0EC7962A}"/>
              </a:ext>
            </a:extLst>
          </p:cNvPr>
          <p:cNvSpPr>
            <a:spLocks noGrp="1"/>
          </p:cNvSpPr>
          <p:nvPr>
            <p:ph sz="quarter" idx="3"/>
          </p:nvPr>
        </p:nvSpPr>
        <p:spPr>
          <a:xfrm>
            <a:off x="4648200" y="3962400"/>
            <a:ext cx="3810000" cy="2286000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76780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Başlık, Metin ve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A20C10FB-9224-30CC-0010-068C7CEDA6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228600"/>
            <a:ext cx="6248400" cy="1066800"/>
          </a:xfrm>
        </p:spPr>
        <p:txBody>
          <a:bodyPr/>
          <a:lstStyle/>
          <a:p>
            <a:r>
              <a:rPr lang="tr-TR"/>
              <a:t>Asıl başlık stilini düzenlemek için tıklayın</a:t>
            </a:r>
            <a:endParaRPr lang="en-US"/>
          </a:p>
        </p:txBody>
      </p:sp>
      <p:sp>
        <p:nvSpPr>
          <p:cNvPr id="3" name="Metin Yer Tutucusu 2">
            <a:extLst>
              <a:ext uri="{FF2B5EF4-FFF2-40B4-BE49-F238E27FC236}">
                <a16:creationId xmlns:a16="http://schemas.microsoft.com/office/drawing/2014/main" id="{A97B892A-956A-EAF6-1254-796842F7633F}"/>
              </a:ext>
            </a:extLst>
          </p:cNvPr>
          <p:cNvSpPr>
            <a:spLocks noGrp="1"/>
          </p:cNvSpPr>
          <p:nvPr>
            <p:ph type="body" sz="half" idx="1"/>
          </p:nvPr>
        </p:nvSpPr>
        <p:spPr>
          <a:xfrm>
            <a:off x="685800" y="1524000"/>
            <a:ext cx="3810000" cy="4724400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/>
          </a:p>
        </p:txBody>
      </p:sp>
      <p:sp>
        <p:nvSpPr>
          <p:cNvPr id="4" name="İçerik Yer Tutucusu 3">
            <a:extLst>
              <a:ext uri="{FF2B5EF4-FFF2-40B4-BE49-F238E27FC236}">
                <a16:creationId xmlns:a16="http://schemas.microsoft.com/office/drawing/2014/main" id="{E597ECA8-18D7-7BF6-9BED-BD99265656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524000"/>
            <a:ext cx="3810000" cy="4724400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79042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C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>
            <a:extLst>
              <a:ext uri="{FF2B5EF4-FFF2-40B4-BE49-F238E27FC236}">
                <a16:creationId xmlns:a16="http://schemas.microsoft.com/office/drawing/2014/main" id="{A8F15830-9A7F-20CD-A3A6-6D43EBDE890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1371600" y="228600"/>
            <a:ext cx="6248400" cy="1066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075" tIns="46038" rIns="92075" bIns="46038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s-ES" altLang="tr-TR"/>
              <a:t>D</a:t>
            </a:r>
          </a:p>
        </p:txBody>
      </p:sp>
      <p:sp>
        <p:nvSpPr>
          <p:cNvPr id="31747" name="Rectangle 3">
            <a:extLst>
              <a:ext uri="{FF2B5EF4-FFF2-40B4-BE49-F238E27FC236}">
                <a16:creationId xmlns:a16="http://schemas.microsoft.com/office/drawing/2014/main" id="{31798887-050D-ABC7-3C90-E7D5B6890CA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524000"/>
            <a:ext cx="7772400" cy="4724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s-ES" altLang="tr-TR"/>
              <a:t>Click to Edit Master Text Styles</a:t>
            </a:r>
          </a:p>
          <a:p>
            <a:pPr lvl="1"/>
            <a:r>
              <a:rPr lang="es-ES" altLang="tr-TR"/>
              <a:t>SECOND LEVEL</a:t>
            </a:r>
          </a:p>
          <a:p>
            <a:pPr lvl="2"/>
            <a:r>
              <a:rPr lang="es-ES" altLang="tr-TR"/>
              <a:t>THIRD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  <p:sldLayoutId id="2147483662" r:id="rId12"/>
    <p:sldLayoutId id="2147483663" r:id="rId13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3700" b="1" kern="1200">
          <a:solidFill>
            <a:schemeClr val="accent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700" b="1">
          <a:solidFill>
            <a:schemeClr val="accent2"/>
          </a:solidFill>
          <a:latin typeface="Arial" panose="020B0604020202020204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700" b="1">
          <a:solidFill>
            <a:schemeClr val="accent2"/>
          </a:solidFill>
          <a:latin typeface="Arial" panose="020B0604020202020204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700" b="1">
          <a:solidFill>
            <a:schemeClr val="accent2"/>
          </a:solidFill>
          <a:latin typeface="Arial" panose="020B0604020202020204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700" b="1">
          <a:solidFill>
            <a:schemeClr val="accent2"/>
          </a:solidFill>
          <a:latin typeface="Arial" panose="020B0604020202020204" pitchFamily="34" charset="0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sz="3700" b="1">
          <a:solidFill>
            <a:schemeClr val="accent2"/>
          </a:solidFill>
          <a:latin typeface="Arial" panose="020B0604020202020204" pitchFamily="34" charset="0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sz="3700" b="1">
          <a:solidFill>
            <a:schemeClr val="accent2"/>
          </a:solidFill>
          <a:latin typeface="Arial" panose="020B0604020202020204" pitchFamily="34" charset="0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sz="3700" b="1">
          <a:solidFill>
            <a:schemeClr val="accent2"/>
          </a:solidFill>
          <a:latin typeface="Arial" panose="020B0604020202020204" pitchFamily="34" charset="0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sz="3700" b="1">
          <a:solidFill>
            <a:schemeClr val="accent2"/>
          </a:solidFill>
          <a:latin typeface="Arial" panose="020B0604020202020204" pitchFamily="34" charset="0"/>
        </a:defRPr>
      </a:lvl9pPr>
    </p:titleStyle>
    <p:bodyStyle>
      <a:lvl1pPr marL="190500" indent="-190500" algn="l" rtl="0" eaLnBrk="0" fontAlgn="base" hangingPunct="0">
        <a:spcBef>
          <a:spcPct val="20000"/>
        </a:spcBef>
        <a:spcAft>
          <a:spcPct val="0"/>
        </a:spcAft>
        <a:buChar char="•"/>
        <a:defRPr sz="3100" kern="1200">
          <a:solidFill>
            <a:schemeClr val="tx1"/>
          </a:solidFill>
          <a:latin typeface="+mn-lt"/>
          <a:ea typeface="+mn-ea"/>
          <a:cs typeface="+mn-cs"/>
        </a:defRPr>
      </a:lvl1pPr>
      <a:lvl2pPr marL="571500" indent="-190500" algn="l" rtl="0" eaLnBrk="0" fontAlgn="base" hangingPunct="0">
        <a:spcBef>
          <a:spcPct val="20000"/>
        </a:spcBef>
        <a:spcAft>
          <a:spcPct val="0"/>
        </a:spcAft>
        <a:buChar char="­"/>
        <a:defRPr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952500" indent="-1905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 b="1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 b="1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tr-T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emf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6.emf"/><Relationship Id="rId5" Type="http://schemas.openxmlformats.org/officeDocument/2006/relationships/oleObject" Target="../embeddings/oleObject3.bin"/><Relationship Id="rId4" Type="http://schemas.openxmlformats.org/officeDocument/2006/relationships/image" Target="../media/image5.emf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emf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emf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emf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jpeg"/><Relationship Id="rId4" Type="http://schemas.openxmlformats.org/officeDocument/2006/relationships/image" Target="../media/image13.jpe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3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.bin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9.png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jpeg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.bin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emf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.bin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e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eg"/><Relationship Id="rId2" Type="http://schemas.openxmlformats.org/officeDocument/2006/relationships/image" Target="../media/image29.jpe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jpeg"/><Relationship Id="rId2" Type="http://schemas.openxmlformats.org/officeDocument/2006/relationships/image" Target="../media/image31.jpe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1.bin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33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2.bin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4.png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3.bin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35.png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4.bin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36.png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jpe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5.bin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8.png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6.bin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9.png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Rectangle 2">
            <a:extLst>
              <a:ext uri="{FF2B5EF4-FFF2-40B4-BE49-F238E27FC236}">
                <a16:creationId xmlns:a16="http://schemas.microsoft.com/office/drawing/2014/main" id="{C5FC01F8-4767-4E41-830C-A3F4CFCA50A4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838200" y="1752600"/>
            <a:ext cx="7772400" cy="1143000"/>
          </a:xfrm>
        </p:spPr>
        <p:txBody>
          <a:bodyPr anchor="ctr"/>
          <a:lstStyle/>
          <a:p>
            <a:r>
              <a:rPr lang="en-US" altLang="tr-TR" sz="3700">
                <a:effectLst>
                  <a:outerShdw blurRad="38100" dist="38100" dir="2700000" algn="tl">
                    <a:srgbClr val="000000"/>
                  </a:outerShdw>
                </a:effectLst>
              </a:rPr>
              <a:t>Advanced Lighting and Shading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338" name="Rectangle 2">
            <a:extLst>
              <a:ext uri="{FF2B5EF4-FFF2-40B4-BE49-F238E27FC236}">
                <a16:creationId xmlns:a16="http://schemas.microsoft.com/office/drawing/2014/main" id="{3E33DF97-5BB2-C448-3F9D-6EC5834A8E0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tr-TR"/>
              <a:t>Overview</a:t>
            </a:r>
          </a:p>
        </p:txBody>
      </p:sp>
      <p:sp>
        <p:nvSpPr>
          <p:cNvPr id="398339" name="Rectangle 3">
            <a:extLst>
              <a:ext uri="{FF2B5EF4-FFF2-40B4-BE49-F238E27FC236}">
                <a16:creationId xmlns:a16="http://schemas.microsoft.com/office/drawing/2014/main" id="{6DD4139E-FD9C-185A-669B-47B30A44651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GB" altLang="tr-TR" sz="2200"/>
              <a:t>Radiometry and Photometry</a:t>
            </a:r>
          </a:p>
          <a:p>
            <a:pPr>
              <a:lnSpc>
                <a:spcPct val="90000"/>
              </a:lnSpc>
            </a:pPr>
            <a:r>
              <a:rPr lang="en-GB" altLang="tr-TR" sz="2200"/>
              <a:t>Colorimetry</a:t>
            </a:r>
          </a:p>
          <a:p>
            <a:pPr>
              <a:lnSpc>
                <a:spcPct val="90000"/>
              </a:lnSpc>
            </a:pPr>
            <a:r>
              <a:rPr lang="en-GB" altLang="tr-TR" sz="2200"/>
              <a:t>BRDF Theory and Implementation</a:t>
            </a:r>
          </a:p>
          <a:p>
            <a:pPr>
              <a:lnSpc>
                <a:spcPct val="90000"/>
              </a:lnSpc>
            </a:pPr>
            <a:r>
              <a:rPr lang="en-GB" altLang="tr-TR" sz="2200"/>
              <a:t>Vertex Shaders</a:t>
            </a:r>
          </a:p>
          <a:p>
            <a:pPr>
              <a:lnSpc>
                <a:spcPct val="90000"/>
              </a:lnSpc>
            </a:pPr>
            <a:r>
              <a:rPr lang="en-GB" altLang="tr-TR" sz="2200"/>
              <a:t>Pixel Shaders</a:t>
            </a:r>
          </a:p>
          <a:p>
            <a:pPr>
              <a:lnSpc>
                <a:spcPct val="90000"/>
              </a:lnSpc>
            </a:pPr>
            <a:r>
              <a:rPr lang="en-GB" altLang="tr-TR" sz="2200"/>
              <a:t>Shading Languages</a:t>
            </a:r>
          </a:p>
          <a:p>
            <a:pPr>
              <a:lnSpc>
                <a:spcPct val="90000"/>
              </a:lnSpc>
            </a:pPr>
            <a:r>
              <a:rPr lang="en-GB" altLang="tr-TR" sz="2200"/>
              <a:t>Motion Blur</a:t>
            </a:r>
          </a:p>
          <a:p>
            <a:pPr>
              <a:lnSpc>
                <a:spcPct val="90000"/>
              </a:lnSpc>
            </a:pPr>
            <a:r>
              <a:rPr lang="en-GB" altLang="tr-TR" sz="2200"/>
              <a:t>Depth of Field</a:t>
            </a:r>
          </a:p>
          <a:p>
            <a:pPr>
              <a:lnSpc>
                <a:spcPct val="90000"/>
              </a:lnSpc>
            </a:pPr>
            <a:r>
              <a:rPr lang="en-GB" altLang="tr-TR" sz="2200"/>
              <a:t>Reflections</a:t>
            </a:r>
          </a:p>
          <a:p>
            <a:pPr>
              <a:lnSpc>
                <a:spcPct val="90000"/>
              </a:lnSpc>
            </a:pPr>
            <a:r>
              <a:rPr lang="en-GB" altLang="tr-TR" sz="2200"/>
              <a:t>Refractions</a:t>
            </a:r>
          </a:p>
          <a:p>
            <a:pPr>
              <a:lnSpc>
                <a:spcPct val="90000"/>
              </a:lnSpc>
            </a:pPr>
            <a:r>
              <a:rPr lang="en-GB" altLang="tr-TR" sz="2200"/>
              <a:t>Shadows</a:t>
            </a:r>
          </a:p>
          <a:p>
            <a:pPr>
              <a:lnSpc>
                <a:spcPct val="90000"/>
              </a:lnSpc>
            </a:pPr>
            <a:r>
              <a:rPr lang="en-GB" altLang="tr-TR" sz="2200"/>
              <a:t>Global Illuminations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62" name="Rectangle 2">
            <a:extLst>
              <a:ext uri="{FF2B5EF4-FFF2-40B4-BE49-F238E27FC236}">
                <a16:creationId xmlns:a16="http://schemas.microsoft.com/office/drawing/2014/main" id="{47BADEDB-4488-BAFB-F8E3-A764B92D13A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tr-TR"/>
              <a:t>Overview</a:t>
            </a:r>
          </a:p>
        </p:txBody>
      </p:sp>
      <p:sp>
        <p:nvSpPr>
          <p:cNvPr id="399363" name="Rectangle 3">
            <a:extLst>
              <a:ext uri="{FF2B5EF4-FFF2-40B4-BE49-F238E27FC236}">
                <a16:creationId xmlns:a16="http://schemas.microsoft.com/office/drawing/2014/main" id="{6CCCFE40-F5B1-5D4B-B208-5CADE734DB6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altLang="tr-TR"/>
              <a:t>Using more elaborate multitexturing methods, vertex and pixel shaders</a:t>
            </a:r>
          </a:p>
          <a:p>
            <a:r>
              <a:rPr lang="en-GB" altLang="tr-TR"/>
              <a:t>How light interact with matter</a:t>
            </a:r>
          </a:p>
          <a:p>
            <a:r>
              <a:rPr lang="en-GB" altLang="tr-TR"/>
              <a:t>Special effects</a:t>
            </a:r>
          </a:p>
          <a:p>
            <a:r>
              <a:rPr lang="en-GB" altLang="tr-TR"/>
              <a:t>How global illumination is used for real-time rendering</a:t>
            </a:r>
          </a:p>
          <a:p>
            <a:r>
              <a:rPr lang="en-GB" altLang="tr-TR"/>
              <a:t>Fixed function pipeline vs Programmable function pipeline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386" name="Rectangle 2">
            <a:extLst>
              <a:ext uri="{FF2B5EF4-FFF2-40B4-BE49-F238E27FC236}">
                <a16:creationId xmlns:a16="http://schemas.microsoft.com/office/drawing/2014/main" id="{905B0518-A6B7-E4CC-8008-B5CDB758540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tr-TR"/>
              <a:t>Radiometry</a:t>
            </a:r>
          </a:p>
        </p:txBody>
      </p:sp>
      <p:sp>
        <p:nvSpPr>
          <p:cNvPr id="400387" name="Rectangle 3">
            <a:extLst>
              <a:ext uri="{FF2B5EF4-FFF2-40B4-BE49-F238E27FC236}">
                <a16:creationId xmlns:a16="http://schemas.microsoft.com/office/drawing/2014/main" id="{C09CCF33-E6DA-D513-FE42-33C3CF59A3B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altLang="tr-TR"/>
              <a:t>CG light model is very simple</a:t>
            </a:r>
          </a:p>
          <a:p>
            <a:pPr lvl="1"/>
            <a:r>
              <a:rPr lang="en-GB" altLang="tr-TR"/>
              <a:t>Same brightness over distance</a:t>
            </a:r>
          </a:p>
          <a:p>
            <a:pPr lvl="1"/>
            <a:r>
              <a:rPr lang="en-GB" altLang="tr-TR"/>
              <a:t>Diffuse and Specular comp. are just numbers</a:t>
            </a:r>
          </a:p>
          <a:p>
            <a:r>
              <a:rPr lang="en-GB" altLang="tr-TR"/>
              <a:t>Objects appear to be</a:t>
            </a:r>
          </a:p>
          <a:p>
            <a:pPr lvl="1"/>
            <a:r>
              <a:rPr lang="en-GB" altLang="tr-TR"/>
              <a:t>Flat painted: pure diffuse</a:t>
            </a:r>
          </a:p>
          <a:p>
            <a:pPr lvl="1"/>
            <a:r>
              <a:rPr lang="en-GB" altLang="tr-TR"/>
              <a:t>Shiny plastic: specular color is light color</a:t>
            </a:r>
          </a:p>
          <a:p>
            <a:pPr lvl="1"/>
            <a:r>
              <a:rPr lang="en-GB" altLang="tr-TR"/>
              <a:t>Metallic: specular color includes object color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410" name="Rectangle 2">
            <a:extLst>
              <a:ext uri="{FF2B5EF4-FFF2-40B4-BE49-F238E27FC236}">
                <a16:creationId xmlns:a16="http://schemas.microsoft.com/office/drawing/2014/main" id="{13E3ED7D-4FA5-345E-85CF-9297446517F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tr-TR"/>
              <a:t>Radiometry</a:t>
            </a:r>
          </a:p>
        </p:txBody>
      </p:sp>
      <p:sp>
        <p:nvSpPr>
          <p:cNvPr id="401411" name="Rectangle 3">
            <a:extLst>
              <a:ext uri="{FF2B5EF4-FFF2-40B4-BE49-F238E27FC236}">
                <a16:creationId xmlns:a16="http://schemas.microsoft.com/office/drawing/2014/main" id="{B98658F1-2A94-901D-5C0B-2055654273C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altLang="tr-TR"/>
              <a:t> A better model</a:t>
            </a:r>
          </a:p>
          <a:p>
            <a:pPr lvl="1"/>
            <a:r>
              <a:rPr lang="en-GB" altLang="tr-TR"/>
              <a:t>Photons as particles</a:t>
            </a:r>
          </a:p>
          <a:p>
            <a:pPr lvl="1"/>
            <a:r>
              <a:rPr lang="en-GB" altLang="tr-TR"/>
              <a:t>Absorption and reflectance of photons depending on wavelength</a:t>
            </a:r>
          </a:p>
          <a:p>
            <a:pPr lvl="1"/>
            <a:endParaRPr lang="en-GB" altLang="tr-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434" name="Rectangle 2">
            <a:extLst>
              <a:ext uri="{FF2B5EF4-FFF2-40B4-BE49-F238E27FC236}">
                <a16:creationId xmlns:a16="http://schemas.microsoft.com/office/drawing/2014/main" id="{F1F2C3EA-CA2F-A704-AD06-6933BC16171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tr-TR"/>
              <a:t>Radiometry</a:t>
            </a:r>
          </a:p>
        </p:txBody>
      </p:sp>
      <p:sp>
        <p:nvSpPr>
          <p:cNvPr id="402435" name="Rectangle 3">
            <a:extLst>
              <a:ext uri="{FF2B5EF4-FFF2-40B4-BE49-F238E27FC236}">
                <a16:creationId xmlns:a16="http://schemas.microsoft.com/office/drawing/2014/main" id="{0B5823E0-D0A5-D9AE-59C6-040A7841123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80000"/>
              </a:lnSpc>
            </a:pPr>
            <a:r>
              <a:rPr lang="en-GB" altLang="tr-TR" sz="2700"/>
              <a:t>Radiometry</a:t>
            </a:r>
          </a:p>
          <a:p>
            <a:pPr lvl="1">
              <a:lnSpc>
                <a:spcPct val="80000"/>
              </a:lnSpc>
            </a:pPr>
            <a:r>
              <a:rPr lang="en-GB" altLang="tr-TR" sz="2200"/>
              <a:t>Deals with the measurement of radiation throught the electromagnetic spectrum</a:t>
            </a:r>
          </a:p>
          <a:p>
            <a:pPr lvl="1">
              <a:lnSpc>
                <a:spcPct val="80000"/>
              </a:lnSpc>
            </a:pPr>
            <a:r>
              <a:rPr lang="en-GB" altLang="tr-TR" sz="2200"/>
              <a:t>Frequency range between 3x10^11 and 3x10^16 Hertz</a:t>
            </a:r>
          </a:p>
          <a:p>
            <a:pPr lvl="1">
              <a:lnSpc>
                <a:spcPct val="80000"/>
              </a:lnSpc>
            </a:pPr>
            <a:r>
              <a:rPr lang="en-GB" altLang="tr-TR" sz="2200"/>
              <a:t>1000 to 0.01 micrometer wavelength</a:t>
            </a:r>
          </a:p>
          <a:p>
            <a:pPr lvl="1">
              <a:lnSpc>
                <a:spcPct val="80000"/>
              </a:lnSpc>
            </a:pPr>
            <a:r>
              <a:rPr lang="en-GB" altLang="tr-TR" sz="2200"/>
              <a:t>Includes: infrared, visible and ultraviolet</a:t>
            </a:r>
          </a:p>
          <a:p>
            <a:pPr>
              <a:lnSpc>
                <a:spcPct val="80000"/>
              </a:lnSpc>
            </a:pPr>
            <a:r>
              <a:rPr lang="en-GB" altLang="tr-TR" sz="2700"/>
              <a:t>Photometry</a:t>
            </a:r>
          </a:p>
          <a:p>
            <a:pPr lvl="1">
              <a:lnSpc>
                <a:spcPct val="80000"/>
              </a:lnSpc>
            </a:pPr>
            <a:r>
              <a:rPr lang="en-GB" altLang="tr-TR" sz="2200"/>
              <a:t>Similar to radiometry but weights everything by the sensibility of human vision system</a:t>
            </a:r>
          </a:p>
          <a:p>
            <a:pPr lvl="1">
              <a:lnSpc>
                <a:spcPct val="80000"/>
              </a:lnSpc>
            </a:pPr>
            <a:r>
              <a:rPr lang="en-GB" altLang="tr-TR" sz="2200"/>
              <a:t>Visible Band: 380 to 780 nanometers</a:t>
            </a:r>
          </a:p>
          <a:p>
            <a:pPr lvl="1">
              <a:lnSpc>
                <a:spcPct val="80000"/>
              </a:lnSpc>
            </a:pPr>
            <a:r>
              <a:rPr lang="en-GB" altLang="tr-TR" sz="2200"/>
              <a:t>450 blue, 540 green, 650 red</a:t>
            </a:r>
          </a:p>
          <a:p>
            <a:pPr lvl="1">
              <a:lnSpc>
                <a:spcPct val="80000"/>
              </a:lnSpc>
            </a:pPr>
            <a:r>
              <a:rPr lang="en-GB" altLang="tr-TR" sz="2200"/>
              <a:t>But not perception of the color itself but rather the perceived strength of the various wavelengths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9845" name="Picture 5" descr="Fig. 1.1  Optical portion of the electromagnetic spectrum.">
            <a:extLst>
              <a:ext uri="{FF2B5EF4-FFF2-40B4-BE49-F238E27FC236}">
                <a16:creationId xmlns:a16="http://schemas.microsoft.com/office/drawing/2014/main" id="{B2AF2655-EC89-B8D0-7F11-EEE9C4F016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775152"/>
            <a:ext cx="9144000" cy="36413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458" name="Rectangle 2">
            <a:extLst>
              <a:ext uri="{FF2B5EF4-FFF2-40B4-BE49-F238E27FC236}">
                <a16:creationId xmlns:a16="http://schemas.microsoft.com/office/drawing/2014/main" id="{30D61041-5FAD-6E99-C686-FB9889585FF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tr-TR"/>
              <a:t>Radiometry</a:t>
            </a:r>
          </a:p>
        </p:txBody>
      </p:sp>
      <p:sp>
        <p:nvSpPr>
          <p:cNvPr id="403461" name="Rectangle 5">
            <a:extLst>
              <a:ext uri="{FF2B5EF4-FFF2-40B4-BE49-F238E27FC236}">
                <a16:creationId xmlns:a16="http://schemas.microsoft.com/office/drawing/2014/main" id="{D29F3B41-C8DD-4D71-5A01-8924D990AD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56222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0000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403460" name="Object 4">
            <a:extLst>
              <a:ext uri="{FF2B5EF4-FFF2-40B4-BE49-F238E27FC236}">
                <a16:creationId xmlns:a16="http://schemas.microsoft.com/office/drawing/2014/main" id="{B78BFDD9-E461-70A7-C511-DC1543B21DE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042988" y="1989138"/>
          <a:ext cx="6264275" cy="25225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icture" r:id="rId3" imgW="12928600" imgH="5194300" progId="Word.Picture.8">
                  <p:embed/>
                </p:oleObj>
              </mc:Choice>
              <mc:Fallback>
                <p:oleObj name="Picture" r:id="rId3" imgW="12928600" imgH="5194300" progId="Word.Picture.8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42988" y="1989138"/>
                        <a:ext cx="6264275" cy="25225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03462" name="Text Box 6">
            <a:extLst>
              <a:ext uri="{FF2B5EF4-FFF2-40B4-BE49-F238E27FC236}">
                <a16:creationId xmlns:a16="http://schemas.microsoft.com/office/drawing/2014/main" id="{94C32CA2-18E5-62E5-47A4-7A95811185F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03575" y="4652963"/>
            <a:ext cx="22796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0000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GB" altLang="tr-TR" sz="1800"/>
              <a:t>CIE photometric curve</a:t>
            </a:r>
          </a:p>
        </p:txBody>
      </p:sp>
      <p:sp>
        <p:nvSpPr>
          <p:cNvPr id="403464" name="Line 8">
            <a:extLst>
              <a:ext uri="{FF2B5EF4-FFF2-40B4-BE49-F238E27FC236}">
                <a16:creationId xmlns:a16="http://schemas.microsoft.com/office/drawing/2014/main" id="{13127719-6361-33EA-C0F2-55173B375F5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356100" y="1052513"/>
            <a:ext cx="3384550" cy="1008062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03465" name="Text Box 9">
            <a:extLst>
              <a:ext uri="{FF2B5EF4-FFF2-40B4-BE49-F238E27FC236}">
                <a16:creationId xmlns:a16="http://schemas.microsoft.com/office/drawing/2014/main" id="{9AD3E4F9-C010-4276-237F-D0BC54EF4E6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45363" y="500063"/>
            <a:ext cx="646112" cy="274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0000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GB" altLang="tr-TR"/>
              <a:t>555 nm</a:t>
            </a:r>
          </a:p>
        </p:txBody>
      </p:sp>
      <p:sp>
        <p:nvSpPr>
          <p:cNvPr id="403466" name="Text Box 10">
            <a:extLst>
              <a:ext uri="{FF2B5EF4-FFF2-40B4-BE49-F238E27FC236}">
                <a16:creationId xmlns:a16="http://schemas.microsoft.com/office/drawing/2014/main" id="{01349565-FB54-E4BD-B4FD-B93F92D25B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4213" y="5229225"/>
            <a:ext cx="57277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0000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GB" altLang="tr-TR" sz="2000"/>
              <a:t>Human Eye’s response to various wavelengths of light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482" name="Rectangle 2">
            <a:extLst>
              <a:ext uri="{FF2B5EF4-FFF2-40B4-BE49-F238E27FC236}">
                <a16:creationId xmlns:a16="http://schemas.microsoft.com/office/drawing/2014/main" id="{25706AA7-9CC2-12E8-723C-E4DAFEF56D8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tr-TR"/>
              <a:t>Radiometry</a:t>
            </a:r>
          </a:p>
        </p:txBody>
      </p:sp>
      <p:sp>
        <p:nvSpPr>
          <p:cNvPr id="404483" name="Rectangle 3">
            <a:extLst>
              <a:ext uri="{FF2B5EF4-FFF2-40B4-BE49-F238E27FC236}">
                <a16:creationId xmlns:a16="http://schemas.microsoft.com/office/drawing/2014/main" id="{A27BA277-9EBA-DDC8-A6A5-B73D1F589AD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altLang="tr-TR"/>
              <a:t>Radiant Energy Q measured in J, joules</a:t>
            </a:r>
          </a:p>
          <a:p>
            <a:r>
              <a:rPr lang="en-GB" altLang="tr-TR"/>
              <a:t>Radiant Flux </a:t>
            </a:r>
            <a:r>
              <a:rPr lang="el-GR" altLang="tr-TR">
                <a:cs typeface="Arial" panose="020B0604020202020204" pitchFamily="34" charset="0"/>
              </a:rPr>
              <a:t>Φ</a:t>
            </a:r>
            <a:r>
              <a:rPr lang="en-GB" altLang="tr-TR"/>
              <a:t> , Power P: number of J per second emitted dQ/dt. Watt=J/sec</a:t>
            </a:r>
          </a:p>
          <a:p>
            <a:r>
              <a:rPr lang="en-GB" altLang="tr-TR"/>
              <a:t>After photons leave a light source</a:t>
            </a:r>
          </a:p>
          <a:p>
            <a:pPr lvl="1"/>
            <a:r>
              <a:rPr lang="en-GB" altLang="tr-TR"/>
              <a:t>Measure how they arrive at a surface</a:t>
            </a:r>
          </a:p>
          <a:p>
            <a:r>
              <a:rPr lang="en-GB" altLang="tr-TR"/>
              <a:t>Radiant flux density: Watt/sqmeter</a:t>
            </a:r>
          </a:p>
          <a:p>
            <a:r>
              <a:rPr lang="en-GB" altLang="tr-TR"/>
              <a:t>Any point on the surface u=d </a:t>
            </a:r>
            <a:r>
              <a:rPr lang="el-GR" altLang="tr-TR">
                <a:cs typeface="Arial" panose="020B0604020202020204" pitchFamily="34" charset="0"/>
              </a:rPr>
              <a:t>Φ</a:t>
            </a:r>
            <a:r>
              <a:rPr lang="en-GB" altLang="tr-TR">
                <a:cs typeface="Arial" panose="020B0604020202020204" pitchFamily="34" charset="0"/>
              </a:rPr>
              <a:t>/dA</a:t>
            </a:r>
          </a:p>
          <a:p>
            <a:r>
              <a:rPr lang="en-GB" altLang="tr-TR">
                <a:cs typeface="Arial" panose="020B0604020202020204" pitchFamily="34" charset="0"/>
              </a:rPr>
              <a:t>If the flux is uniform u= </a:t>
            </a:r>
            <a:r>
              <a:rPr lang="el-GR" altLang="tr-TR">
                <a:cs typeface="Arial" panose="020B0604020202020204" pitchFamily="34" charset="0"/>
              </a:rPr>
              <a:t>Φ</a:t>
            </a:r>
            <a:r>
              <a:rPr lang="en-GB" altLang="tr-TR">
                <a:cs typeface="Arial" panose="020B0604020202020204" pitchFamily="34" charset="0"/>
              </a:rPr>
              <a:t>/A</a:t>
            </a:r>
          </a:p>
          <a:p>
            <a:endParaRPr lang="en-GB" altLang="tr-TR"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506" name="Rectangle 2">
            <a:extLst>
              <a:ext uri="{FF2B5EF4-FFF2-40B4-BE49-F238E27FC236}">
                <a16:creationId xmlns:a16="http://schemas.microsoft.com/office/drawing/2014/main" id="{A41E82D3-7F61-3EF2-E58A-75F3FCE2317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tr-TR"/>
              <a:t>Radiometry</a:t>
            </a:r>
          </a:p>
        </p:txBody>
      </p:sp>
      <p:sp>
        <p:nvSpPr>
          <p:cNvPr id="405507" name="Rectangle 3">
            <a:extLst>
              <a:ext uri="{FF2B5EF4-FFF2-40B4-BE49-F238E27FC236}">
                <a16:creationId xmlns:a16="http://schemas.microsoft.com/office/drawing/2014/main" id="{5762414D-BBEB-753C-1776-211524057E2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altLang="tr-TR"/>
              <a:t>Radiant flux density</a:t>
            </a:r>
          </a:p>
          <a:p>
            <a:r>
              <a:rPr lang="en-GB" altLang="tr-TR"/>
              <a:t> For the flux arriving the surface</a:t>
            </a:r>
          </a:p>
          <a:p>
            <a:pPr lvl="1"/>
            <a:r>
              <a:rPr lang="en-GB" altLang="tr-TR"/>
              <a:t>Irradiance E</a:t>
            </a:r>
          </a:p>
          <a:p>
            <a:r>
              <a:rPr lang="en-GB" altLang="tr-TR"/>
              <a:t>For the flux leaving a surface</a:t>
            </a:r>
          </a:p>
          <a:p>
            <a:pPr lvl="1"/>
            <a:r>
              <a:rPr lang="en-GB" altLang="tr-TR"/>
              <a:t>Radiosity B</a:t>
            </a:r>
          </a:p>
          <a:p>
            <a:endParaRPr lang="en-GB" altLang="tr-TR"/>
          </a:p>
          <a:p>
            <a:pPr lvl="1"/>
            <a:endParaRPr lang="en-GB" altLang="tr-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530" name="Rectangle 2">
            <a:extLst>
              <a:ext uri="{FF2B5EF4-FFF2-40B4-BE49-F238E27FC236}">
                <a16:creationId xmlns:a16="http://schemas.microsoft.com/office/drawing/2014/main" id="{96E9670A-13FB-08BB-3C21-30D2C20A2F1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tr-TR"/>
              <a:t>Radiometry</a:t>
            </a:r>
          </a:p>
        </p:txBody>
      </p:sp>
      <p:sp>
        <p:nvSpPr>
          <p:cNvPr id="406531" name="Rectangle 3">
            <a:extLst>
              <a:ext uri="{FF2B5EF4-FFF2-40B4-BE49-F238E27FC236}">
                <a16:creationId xmlns:a16="http://schemas.microsoft.com/office/drawing/2014/main" id="{1B419671-941E-2729-4C0C-CCACFFD1073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51520" y="1524000"/>
            <a:ext cx="8784976" cy="4724400"/>
          </a:xfrm>
        </p:spPr>
        <p:txBody>
          <a:bodyPr/>
          <a:lstStyle/>
          <a:p>
            <a:r>
              <a:rPr lang="en-GB" altLang="tr-TR" dirty="0"/>
              <a:t>In CG lights and viewer are points not surfaces</a:t>
            </a:r>
          </a:p>
          <a:p>
            <a:r>
              <a:rPr lang="en-GB" altLang="tr-TR" dirty="0"/>
              <a:t>For measurements solid angels in steradians (</a:t>
            </a:r>
            <a:r>
              <a:rPr lang="en-GB" altLang="tr-TR" dirty="0" err="1"/>
              <a:t>sr</a:t>
            </a:r>
            <a:r>
              <a:rPr lang="en-GB" altLang="tr-TR" dirty="0"/>
              <a:t>) used</a:t>
            </a:r>
          </a:p>
          <a:p>
            <a:r>
              <a:rPr lang="en-GB" altLang="tr-TR" dirty="0"/>
              <a:t>Solid angle is a concept of a 2D angle extended to 3D</a:t>
            </a:r>
          </a:p>
        </p:txBody>
      </p:sp>
      <p:pic>
        <p:nvPicPr>
          <p:cNvPr id="406532" name="Picture 4">
            <a:extLst>
              <a:ext uri="{FF2B5EF4-FFF2-40B4-BE49-F238E27FC236}">
                <a16:creationId xmlns:a16="http://schemas.microsoft.com/office/drawing/2014/main" id="{5481626B-1378-D31C-8E4B-A7BF4CEB46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0113" y="4652963"/>
            <a:ext cx="1619250" cy="1676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0000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06533" name="Picture 5">
            <a:extLst>
              <a:ext uri="{FF2B5EF4-FFF2-40B4-BE49-F238E27FC236}">
                <a16:creationId xmlns:a16="http://schemas.microsoft.com/office/drawing/2014/main" id="{9B4B39AC-7A73-CDC9-A7BE-8B88B9C3E1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71775" y="4652963"/>
            <a:ext cx="1322388" cy="1762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0000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06534" name="Text Box 6">
            <a:extLst>
              <a:ext uri="{FF2B5EF4-FFF2-40B4-BE49-F238E27FC236}">
                <a16:creationId xmlns:a16="http://schemas.microsoft.com/office/drawing/2014/main" id="{4DDA128A-CCCA-8934-EEF7-EB788EB6272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27538" y="4868863"/>
            <a:ext cx="352901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0000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tr-TR"/>
              <a:t>A solid angle of 4PI steradians covers the whole unit sphere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554" name="Rectangle 2">
            <a:extLst>
              <a:ext uri="{FF2B5EF4-FFF2-40B4-BE49-F238E27FC236}">
                <a16:creationId xmlns:a16="http://schemas.microsoft.com/office/drawing/2014/main" id="{B0DC553F-16F1-4BE8-CB0C-D70090A8749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tr-TR"/>
              <a:t>Radiometry</a:t>
            </a:r>
          </a:p>
        </p:txBody>
      </p:sp>
      <p:sp>
        <p:nvSpPr>
          <p:cNvPr id="407555" name="Rectangle 3">
            <a:extLst>
              <a:ext uri="{FF2B5EF4-FFF2-40B4-BE49-F238E27FC236}">
                <a16:creationId xmlns:a16="http://schemas.microsoft.com/office/drawing/2014/main" id="{BD5C9C71-3DC1-D119-7EAE-4085E1144CD8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GB" altLang="tr-TR" sz="2300"/>
              <a:t>Radiance L, what we store in a pixel</a:t>
            </a:r>
          </a:p>
          <a:p>
            <a:pPr>
              <a:lnSpc>
                <a:spcPct val="90000"/>
              </a:lnSpc>
            </a:pPr>
            <a:r>
              <a:rPr lang="en-GB" altLang="tr-TR" sz="2300"/>
              <a:t>Incoming laser beam hitting a surface</a:t>
            </a:r>
          </a:p>
          <a:p>
            <a:pPr>
              <a:lnSpc>
                <a:spcPct val="90000"/>
              </a:lnSpc>
            </a:pPr>
            <a:r>
              <a:rPr lang="en-GB" altLang="tr-TR" sz="2300"/>
              <a:t>Either arriving or leaving a surface</a:t>
            </a:r>
          </a:p>
          <a:p>
            <a:pPr>
              <a:lnSpc>
                <a:spcPct val="90000"/>
              </a:lnSpc>
            </a:pPr>
            <a:r>
              <a:rPr lang="en-GB" altLang="tr-TR" sz="2300"/>
              <a:t>Watts per square meter per steradian</a:t>
            </a:r>
          </a:p>
          <a:p>
            <a:pPr>
              <a:lnSpc>
                <a:spcPct val="90000"/>
              </a:lnSpc>
            </a:pPr>
            <a:r>
              <a:rPr lang="en-GB" altLang="tr-TR" sz="2300"/>
              <a:t>dw is the differential solid angle (a ray)</a:t>
            </a:r>
          </a:p>
          <a:p>
            <a:pPr>
              <a:lnSpc>
                <a:spcPct val="90000"/>
              </a:lnSpc>
            </a:pPr>
            <a:r>
              <a:rPr lang="el-GR" altLang="tr-TR" sz="2300">
                <a:cs typeface="Arial" panose="020B0604020202020204" pitchFamily="34" charset="0"/>
              </a:rPr>
              <a:t>Θ</a:t>
            </a:r>
            <a:r>
              <a:rPr lang="en-GB" altLang="tr-TR" sz="2300">
                <a:cs typeface="Arial" panose="020B0604020202020204" pitchFamily="34" charset="0"/>
              </a:rPr>
              <a:t>: the angle of the incoming light compared with the surface’s normal</a:t>
            </a:r>
            <a:endParaRPr lang="el-GR" altLang="tr-TR" sz="2300">
              <a:cs typeface="Arial" panose="020B0604020202020204" pitchFamily="34" charset="0"/>
            </a:endParaRPr>
          </a:p>
          <a:p>
            <a:pPr>
              <a:lnSpc>
                <a:spcPct val="90000"/>
              </a:lnSpc>
            </a:pPr>
            <a:endParaRPr lang="en-GB" altLang="tr-TR" sz="2300"/>
          </a:p>
        </p:txBody>
      </p:sp>
      <p:graphicFrame>
        <p:nvGraphicFramePr>
          <p:cNvPr id="407556" name="Object 4">
            <a:extLst>
              <a:ext uri="{FF2B5EF4-FFF2-40B4-BE49-F238E27FC236}">
                <a16:creationId xmlns:a16="http://schemas.microsoft.com/office/drawing/2014/main" id="{8D206BB2-C54F-C99A-5A0C-21E791611E91}"/>
              </a:ext>
            </a:extLst>
          </p:cNvPr>
          <p:cNvGraphicFramePr>
            <a:graphicFrameLocks noGrp="1" noChangeAspect="1"/>
          </p:cNvGraphicFramePr>
          <p:nvPr>
            <p:ph sz="quarter" idx="2"/>
          </p:nvPr>
        </p:nvGraphicFramePr>
        <p:xfrm>
          <a:off x="4716463" y="1773238"/>
          <a:ext cx="3232150" cy="1120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29552900" imgH="10236200" progId="Equation.3">
                  <p:embed/>
                </p:oleObj>
              </mc:Choice>
              <mc:Fallback>
                <p:oleObj name="Equation" r:id="rId3" imgW="29552900" imgH="102362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16463" y="1773238"/>
                        <a:ext cx="3232150" cy="1120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7560" name="Object 8">
            <a:extLst>
              <a:ext uri="{FF2B5EF4-FFF2-40B4-BE49-F238E27FC236}">
                <a16:creationId xmlns:a16="http://schemas.microsoft.com/office/drawing/2014/main" id="{8DA785D5-188E-EFDF-01A1-2560A0ED1F78}"/>
              </a:ext>
            </a:extLst>
          </p:cNvPr>
          <p:cNvGraphicFramePr>
            <a:graphicFrameLocks noGrp="1" noChangeAspect="1"/>
          </p:cNvGraphicFramePr>
          <p:nvPr>
            <p:ph sz="quarter" idx="3"/>
          </p:nvPr>
        </p:nvGraphicFramePr>
        <p:xfrm>
          <a:off x="5364163" y="4149725"/>
          <a:ext cx="1938337" cy="1122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6675100" imgH="9652000" progId="Equation.3">
                  <p:embed/>
                </p:oleObj>
              </mc:Choice>
              <mc:Fallback>
                <p:oleObj name="Equation" r:id="rId5" imgW="16675100" imgH="9652000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64163" y="4149725"/>
                        <a:ext cx="1938337" cy="11223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626" name="Rectangle 2">
            <a:extLst>
              <a:ext uri="{FF2B5EF4-FFF2-40B4-BE49-F238E27FC236}">
                <a16:creationId xmlns:a16="http://schemas.microsoft.com/office/drawing/2014/main" id="{117B1182-9D92-8437-7267-FB0F675289C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tr-TR"/>
              <a:t>Radiometry</a:t>
            </a:r>
          </a:p>
        </p:txBody>
      </p:sp>
      <p:sp>
        <p:nvSpPr>
          <p:cNvPr id="410627" name="Rectangle 3">
            <a:extLst>
              <a:ext uri="{FF2B5EF4-FFF2-40B4-BE49-F238E27FC236}">
                <a16:creationId xmlns:a16="http://schemas.microsoft.com/office/drawing/2014/main" id="{637E3DA9-7EC1-B209-55BF-EA57D06EC50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GB" altLang="tr-TR"/>
          </a:p>
        </p:txBody>
      </p:sp>
      <p:sp>
        <p:nvSpPr>
          <p:cNvPr id="410629" name="Rectangle 5">
            <a:extLst>
              <a:ext uri="{FF2B5EF4-FFF2-40B4-BE49-F238E27FC236}">
                <a16:creationId xmlns:a16="http://schemas.microsoft.com/office/drawing/2014/main" id="{FAF0E5FB-1F37-7BAD-DBDC-F7E97A5910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0000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410628" name="Object 4">
            <a:extLst>
              <a:ext uri="{FF2B5EF4-FFF2-40B4-BE49-F238E27FC236}">
                <a16:creationId xmlns:a16="http://schemas.microsoft.com/office/drawing/2014/main" id="{3A661C41-AAF0-5B7B-DBC8-2286DFA91D1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043363" y="2060575"/>
          <a:ext cx="2822575" cy="3240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icture" r:id="rId3" imgW="5029200" imgH="5765800" progId="Word.Picture.8">
                  <p:embed/>
                </p:oleObj>
              </mc:Choice>
              <mc:Fallback>
                <p:oleObj name="Picture" r:id="rId3" imgW="5029200" imgH="5765800" progId="Word.Picture.8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43363" y="2060575"/>
                        <a:ext cx="2822575" cy="32400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0630" name="Text Box 6">
            <a:extLst>
              <a:ext uri="{FF2B5EF4-FFF2-40B4-BE49-F238E27FC236}">
                <a16:creationId xmlns:a16="http://schemas.microsoft.com/office/drawing/2014/main" id="{D9F213B1-3876-83B5-1F5D-93DFD5490AF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24300" y="1916113"/>
            <a:ext cx="86360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0000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GB" altLang="tr-TR" sz="1800"/>
              <a:t>d</a:t>
            </a:r>
            <a:r>
              <a:rPr lang="el-GR" altLang="tr-TR" sz="1800">
                <a:cs typeface="Times New Roman" panose="02020603050405020304" pitchFamily="18" charset="0"/>
              </a:rPr>
              <a:t>ω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650" name="Rectangle 2">
            <a:extLst>
              <a:ext uri="{FF2B5EF4-FFF2-40B4-BE49-F238E27FC236}">
                <a16:creationId xmlns:a16="http://schemas.microsoft.com/office/drawing/2014/main" id="{755C2267-DF75-37AA-AD09-9128C49A218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tr-TR"/>
              <a:t>Radiometry</a:t>
            </a:r>
          </a:p>
        </p:txBody>
      </p:sp>
      <p:sp>
        <p:nvSpPr>
          <p:cNvPr id="411651" name="Rectangle 3">
            <a:extLst>
              <a:ext uri="{FF2B5EF4-FFF2-40B4-BE49-F238E27FC236}">
                <a16:creationId xmlns:a16="http://schemas.microsoft.com/office/drawing/2014/main" id="{3BF446E1-EC29-289A-FD33-4FCA68B3372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altLang="tr-TR" sz="2700"/>
              <a:t>Surface independent radiance is a fixed amount for a given direction and location </a:t>
            </a:r>
          </a:p>
          <a:p>
            <a:r>
              <a:rPr lang="en-GB" altLang="tr-TR" sz="2700"/>
              <a:t>The radiance is a function of six variables (radiance distribution)</a:t>
            </a:r>
          </a:p>
          <a:p>
            <a:pPr lvl="1"/>
            <a:r>
              <a:rPr lang="en-GB" altLang="tr-TR" sz="2200"/>
              <a:t>3 for location</a:t>
            </a:r>
          </a:p>
          <a:p>
            <a:pPr lvl="1"/>
            <a:r>
              <a:rPr lang="en-GB" altLang="tr-TR" sz="2200"/>
              <a:t>2 for direction</a:t>
            </a:r>
          </a:p>
          <a:p>
            <a:pPr lvl="1"/>
            <a:r>
              <a:rPr lang="en-GB" altLang="tr-TR" sz="2200" b="1"/>
              <a:t>Wavelength</a:t>
            </a:r>
          </a:p>
          <a:p>
            <a:r>
              <a:rPr lang="en-GB" altLang="tr-TR" sz="2700"/>
              <a:t>Describe all light travelling anywhere in space</a:t>
            </a:r>
          </a:p>
          <a:p>
            <a:r>
              <a:rPr lang="en-GB" altLang="tr-TR" sz="2700"/>
              <a:t>Radiance distribution is the set of all possible environment maps for a scene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698" name="Rectangle 2">
            <a:extLst>
              <a:ext uri="{FF2B5EF4-FFF2-40B4-BE49-F238E27FC236}">
                <a16:creationId xmlns:a16="http://schemas.microsoft.com/office/drawing/2014/main" id="{5F457C62-73CE-02B0-E1B7-E23510C72BF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tr-TR"/>
              <a:t>Radiometry</a:t>
            </a:r>
          </a:p>
        </p:txBody>
      </p:sp>
      <p:sp>
        <p:nvSpPr>
          <p:cNvPr id="413699" name="Rectangle 3">
            <a:extLst>
              <a:ext uri="{FF2B5EF4-FFF2-40B4-BE49-F238E27FC236}">
                <a16:creationId xmlns:a16="http://schemas.microsoft.com/office/drawing/2014/main" id="{ADE0627D-8583-1ED0-7F23-86EC3F2DBCC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altLang="tr-TR" sz="2700"/>
              <a:t>An objects radiance values is not affected by distance</a:t>
            </a:r>
          </a:p>
          <a:p>
            <a:r>
              <a:rPr lang="en-GB" altLang="tr-TR" sz="2700"/>
              <a:t>Surface will have same luminance regardless of its distance from the viewer</a:t>
            </a:r>
          </a:p>
          <a:p>
            <a:r>
              <a:rPr lang="en-GB" altLang="tr-TR" sz="2700"/>
              <a:t>Contradiction: The light’s intensity drops off with the square of the distance !</a:t>
            </a:r>
          </a:p>
          <a:p>
            <a:r>
              <a:rPr lang="en-GB" altLang="tr-TR" sz="2700"/>
              <a:t>As you go far away from the light source fewer rays (solid angle!) will reach your eye</a:t>
            </a:r>
          </a:p>
          <a:p>
            <a:r>
              <a:rPr lang="en-GB" altLang="tr-TR" sz="2700"/>
              <a:t>Digital photography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722" name="Rectangle 2">
            <a:extLst>
              <a:ext uri="{FF2B5EF4-FFF2-40B4-BE49-F238E27FC236}">
                <a16:creationId xmlns:a16="http://schemas.microsoft.com/office/drawing/2014/main" id="{1A41514B-4913-50CC-4712-D63FF13AA72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tr-TR"/>
              <a:t>Radiometry</a:t>
            </a:r>
          </a:p>
        </p:txBody>
      </p:sp>
      <p:sp>
        <p:nvSpPr>
          <p:cNvPr id="414723" name="Rectangle 3">
            <a:extLst>
              <a:ext uri="{FF2B5EF4-FFF2-40B4-BE49-F238E27FC236}">
                <a16:creationId xmlns:a16="http://schemas.microsoft.com/office/drawing/2014/main" id="{ED22627F-369C-7D41-1B44-F50F8BF9D08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altLang="tr-TR"/>
              <a:t>At 10 meters light covers 4000 pixels</a:t>
            </a:r>
          </a:p>
          <a:p>
            <a:r>
              <a:rPr lang="en-GB" altLang="tr-TR"/>
              <a:t>At 20 meters light covers 1000 pixels</a:t>
            </a:r>
          </a:p>
          <a:p>
            <a:r>
              <a:rPr lang="en-GB" altLang="tr-TR"/>
              <a:t>The radiance at each light pixel is constant</a:t>
            </a:r>
          </a:p>
          <a:p>
            <a:r>
              <a:rPr lang="en-GB" altLang="tr-TR"/>
              <a:t>Only the number of the pixels that changes 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746" name="Rectangle 2">
            <a:extLst>
              <a:ext uri="{FF2B5EF4-FFF2-40B4-BE49-F238E27FC236}">
                <a16:creationId xmlns:a16="http://schemas.microsoft.com/office/drawing/2014/main" id="{EA6EB5C1-2915-1461-9F08-D0D075E2EC3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tr-TR"/>
              <a:t>Radiometry</a:t>
            </a:r>
          </a:p>
        </p:txBody>
      </p:sp>
      <p:sp>
        <p:nvSpPr>
          <p:cNvPr id="415747" name="Rectangle 3">
            <a:extLst>
              <a:ext uri="{FF2B5EF4-FFF2-40B4-BE49-F238E27FC236}">
                <a16:creationId xmlns:a16="http://schemas.microsoft.com/office/drawing/2014/main" id="{3548D1F0-57B6-F02C-B766-9AB1DAA63E9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altLang="tr-TR"/>
              <a:t>Lambert’s five times rule</a:t>
            </a:r>
          </a:p>
          <a:p>
            <a:pPr lvl="1"/>
            <a:r>
              <a:rPr lang="en-GB" altLang="tr-TR"/>
              <a:t>If the distance from the light source is five times or more that of the light’s width, then the inverse square law is a reasonable approx.</a:t>
            </a:r>
          </a:p>
          <a:p>
            <a:pPr lvl="1"/>
            <a:r>
              <a:rPr lang="en-GB" altLang="tr-TR"/>
              <a:t>Closer than this: the solid angle the light covers will vary noticeably different than the inv. Law</a:t>
            </a:r>
          </a:p>
          <a:p>
            <a:pPr lvl="1"/>
            <a:r>
              <a:rPr lang="en-GB" altLang="tr-TR"/>
              <a:t>Use Radiosity techniques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770" name="Rectangle 2">
            <a:extLst>
              <a:ext uri="{FF2B5EF4-FFF2-40B4-BE49-F238E27FC236}">
                <a16:creationId xmlns:a16="http://schemas.microsoft.com/office/drawing/2014/main" id="{05671919-9CFD-B358-94B8-AFEBFF4121C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tr-TR"/>
              <a:t>Radiometry</a:t>
            </a:r>
          </a:p>
        </p:txBody>
      </p:sp>
      <p:sp>
        <p:nvSpPr>
          <p:cNvPr id="416771" name="Rectangle 3">
            <a:extLst>
              <a:ext uri="{FF2B5EF4-FFF2-40B4-BE49-F238E27FC236}">
                <a16:creationId xmlns:a16="http://schemas.microsoft.com/office/drawing/2014/main" id="{3A0C3A7E-D690-C693-973E-D0C9C938EFA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altLang="tr-TR"/>
              <a:t>Photometry</a:t>
            </a:r>
          </a:p>
          <a:p>
            <a:pPr lvl="1"/>
            <a:r>
              <a:rPr lang="en-GB" altLang="tr-TR"/>
              <a:t>Luminance = Radiance</a:t>
            </a:r>
          </a:p>
          <a:p>
            <a:pPr lvl="1"/>
            <a:r>
              <a:rPr lang="en-GB" altLang="tr-TR"/>
              <a:t>Candelas per squaremeter (nit)</a:t>
            </a:r>
          </a:p>
          <a:p>
            <a:pPr lvl="1"/>
            <a:r>
              <a:rPr lang="en-GB" altLang="tr-TR"/>
              <a:t>Laptop LCD: 100-250 nits</a:t>
            </a:r>
          </a:p>
          <a:p>
            <a:pPr lvl="1"/>
            <a:r>
              <a:rPr lang="en-GB" altLang="tr-TR"/>
              <a:t>CRT 50-125 nits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794" name="Rectangle 2">
            <a:extLst>
              <a:ext uri="{FF2B5EF4-FFF2-40B4-BE49-F238E27FC236}">
                <a16:creationId xmlns:a16="http://schemas.microsoft.com/office/drawing/2014/main" id="{208454D9-2754-AB12-A543-FF2AAEABA8C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tr-TR"/>
              <a:t>Colorimetry</a:t>
            </a:r>
          </a:p>
        </p:txBody>
      </p:sp>
      <p:sp>
        <p:nvSpPr>
          <p:cNvPr id="417795" name="Rectangle 3">
            <a:extLst>
              <a:ext uri="{FF2B5EF4-FFF2-40B4-BE49-F238E27FC236}">
                <a16:creationId xmlns:a16="http://schemas.microsoft.com/office/drawing/2014/main" id="{A5B2B22B-55BB-8F91-0FF1-CC2F596B3F3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altLang="tr-TR" sz="2700"/>
              <a:t>Humans can distinguish 10 million different colors</a:t>
            </a:r>
          </a:p>
          <a:p>
            <a:r>
              <a:rPr lang="en-GB" altLang="tr-TR" sz="2700"/>
              <a:t>The eye had three different types of cone receptors in the retina.</a:t>
            </a:r>
          </a:p>
          <a:p>
            <a:r>
              <a:rPr lang="en-GB" altLang="tr-TR" sz="2700"/>
              <a:t>Each responding differently to various wavelengths</a:t>
            </a:r>
          </a:p>
          <a:p>
            <a:r>
              <a:rPr lang="en-GB" altLang="tr-TR" sz="2700"/>
              <a:t>The brain receives only three different signals from these receptors</a:t>
            </a:r>
          </a:p>
          <a:p>
            <a:r>
              <a:rPr lang="en-GB" altLang="tr-TR" sz="2700"/>
              <a:t>Three numbers can be used to represent any visible spectrum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866" name="Rectangle 2">
            <a:extLst>
              <a:ext uri="{FF2B5EF4-FFF2-40B4-BE49-F238E27FC236}">
                <a16:creationId xmlns:a16="http://schemas.microsoft.com/office/drawing/2014/main" id="{5E1E5522-E08C-7B1F-9C69-A67972632D5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tr-TR"/>
              <a:t>Colorimetry</a:t>
            </a:r>
          </a:p>
        </p:txBody>
      </p:sp>
      <p:sp>
        <p:nvSpPr>
          <p:cNvPr id="420867" name="Rectangle 3">
            <a:extLst>
              <a:ext uri="{FF2B5EF4-FFF2-40B4-BE49-F238E27FC236}">
                <a16:creationId xmlns:a16="http://schemas.microsoft.com/office/drawing/2014/main" id="{BC42DCF5-83A3-1E6B-5D15-98F883A7D18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tr-TR"/>
              <a:t>Hypothesis of 3 types of receptors: Red/Green, Blue/Yellow, Black/White</a:t>
            </a:r>
          </a:p>
          <a:p>
            <a:r>
              <a:rPr lang="en-US" altLang="tr-TR"/>
              <a:t>Explains well several visual phenomena</a:t>
            </a:r>
            <a:endParaRPr lang="en-GB" altLang="tr-TR"/>
          </a:p>
        </p:txBody>
      </p:sp>
      <p:sp>
        <p:nvSpPr>
          <p:cNvPr id="420868" name="Rectangle 4">
            <a:extLst>
              <a:ext uri="{FF2B5EF4-FFF2-40B4-BE49-F238E27FC236}">
                <a16:creationId xmlns:a16="http://schemas.microsoft.com/office/drawing/2014/main" id="{247D8E70-92E9-BB10-3583-ED8438422E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05400" y="3200400"/>
            <a:ext cx="914400" cy="1981200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pic>
        <p:nvPicPr>
          <p:cNvPr id="420869" name="Picture 5">
            <a:extLst>
              <a:ext uri="{FF2B5EF4-FFF2-40B4-BE49-F238E27FC236}">
                <a16:creationId xmlns:a16="http://schemas.microsoft.com/office/drawing/2014/main" id="{B705E29F-E6FC-72F3-E00F-66256F1398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82725" y="3255963"/>
            <a:ext cx="4638675" cy="18462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420870" name="Group 6">
            <a:extLst>
              <a:ext uri="{FF2B5EF4-FFF2-40B4-BE49-F238E27FC236}">
                <a16:creationId xmlns:a16="http://schemas.microsoft.com/office/drawing/2014/main" id="{7C602002-4CDF-F8AB-C58A-B7CC0DDC8909}"/>
              </a:ext>
            </a:extLst>
          </p:cNvPr>
          <p:cNvGrpSpPr>
            <a:grpSpLocks/>
          </p:cNvGrpSpPr>
          <p:nvPr/>
        </p:nvGrpSpPr>
        <p:grpSpPr bwMode="auto">
          <a:xfrm>
            <a:off x="2809875" y="3384550"/>
            <a:ext cx="406400" cy="1552575"/>
            <a:chOff x="2282" y="1590"/>
            <a:chExt cx="256" cy="978"/>
          </a:xfrm>
        </p:grpSpPr>
        <p:sp>
          <p:nvSpPr>
            <p:cNvPr id="420871" name="Line 7">
              <a:extLst>
                <a:ext uri="{FF2B5EF4-FFF2-40B4-BE49-F238E27FC236}">
                  <a16:creationId xmlns:a16="http://schemas.microsoft.com/office/drawing/2014/main" id="{C439C266-39EA-B7D6-EA46-8971A3FAA8C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38" y="1776"/>
              <a:ext cx="0" cy="612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en-US"/>
            </a:p>
          </p:txBody>
        </p:sp>
        <p:sp>
          <p:nvSpPr>
            <p:cNvPr id="420872" name="Text Box 8">
              <a:extLst>
                <a:ext uri="{FF2B5EF4-FFF2-40B4-BE49-F238E27FC236}">
                  <a16:creationId xmlns:a16="http://schemas.microsoft.com/office/drawing/2014/main" id="{201C35F3-A272-8414-7B27-DE75EC5A827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82" y="1590"/>
              <a:ext cx="228" cy="97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>
                <a:spcBef>
                  <a:spcPct val="50000"/>
                </a:spcBef>
              </a:pPr>
              <a:r>
                <a:rPr lang="en-US" altLang="tr-TR" sz="2400" b="1">
                  <a:latin typeface="Helvetica" pitchFamily="2" charset="0"/>
                </a:rPr>
                <a:t>+</a:t>
              </a:r>
            </a:p>
            <a:p>
              <a:pPr algn="l">
                <a:spcBef>
                  <a:spcPct val="50000"/>
                </a:spcBef>
              </a:pPr>
              <a:r>
                <a:rPr lang="en-US" altLang="tr-TR" sz="2400" b="1">
                  <a:latin typeface="Helvetica" pitchFamily="2" charset="0"/>
                </a:rPr>
                <a:t>0</a:t>
              </a:r>
            </a:p>
            <a:p>
              <a:pPr algn="l">
                <a:spcBef>
                  <a:spcPct val="50000"/>
                </a:spcBef>
              </a:pPr>
              <a:r>
                <a:rPr lang="en-US" altLang="tr-TR" sz="2400" b="1">
                  <a:latin typeface="Helvetica" pitchFamily="2" charset="0"/>
                </a:rPr>
                <a:t>-</a:t>
              </a:r>
            </a:p>
          </p:txBody>
        </p:sp>
      </p:grpSp>
      <p:grpSp>
        <p:nvGrpSpPr>
          <p:cNvPr id="420873" name="Group 9">
            <a:extLst>
              <a:ext uri="{FF2B5EF4-FFF2-40B4-BE49-F238E27FC236}">
                <a16:creationId xmlns:a16="http://schemas.microsoft.com/office/drawing/2014/main" id="{324489AF-45C0-FDEB-C015-1D611F3A41D7}"/>
              </a:ext>
            </a:extLst>
          </p:cNvPr>
          <p:cNvGrpSpPr>
            <a:grpSpLocks/>
          </p:cNvGrpSpPr>
          <p:nvPr/>
        </p:nvGrpSpPr>
        <p:grpSpPr bwMode="auto">
          <a:xfrm>
            <a:off x="1019175" y="3384550"/>
            <a:ext cx="406400" cy="1552575"/>
            <a:chOff x="2282" y="1590"/>
            <a:chExt cx="256" cy="978"/>
          </a:xfrm>
        </p:grpSpPr>
        <p:sp>
          <p:nvSpPr>
            <p:cNvPr id="420874" name="Line 10">
              <a:extLst>
                <a:ext uri="{FF2B5EF4-FFF2-40B4-BE49-F238E27FC236}">
                  <a16:creationId xmlns:a16="http://schemas.microsoft.com/office/drawing/2014/main" id="{5C198B33-0421-D19F-1859-F7D99454C59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38" y="1776"/>
              <a:ext cx="0" cy="612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en-US"/>
            </a:p>
          </p:txBody>
        </p:sp>
        <p:sp>
          <p:nvSpPr>
            <p:cNvPr id="420875" name="Text Box 11">
              <a:extLst>
                <a:ext uri="{FF2B5EF4-FFF2-40B4-BE49-F238E27FC236}">
                  <a16:creationId xmlns:a16="http://schemas.microsoft.com/office/drawing/2014/main" id="{1BEC0CB9-30C0-E5D0-97A4-AF45AE6DB30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82" y="1590"/>
              <a:ext cx="228" cy="97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>
                <a:spcBef>
                  <a:spcPct val="50000"/>
                </a:spcBef>
              </a:pPr>
              <a:r>
                <a:rPr lang="en-US" altLang="tr-TR" sz="2400" b="1">
                  <a:latin typeface="Helvetica" pitchFamily="2" charset="0"/>
                </a:rPr>
                <a:t>+</a:t>
              </a:r>
            </a:p>
            <a:p>
              <a:pPr algn="l">
                <a:spcBef>
                  <a:spcPct val="50000"/>
                </a:spcBef>
              </a:pPr>
              <a:r>
                <a:rPr lang="en-US" altLang="tr-TR" sz="2400" b="1">
                  <a:latin typeface="Helvetica" pitchFamily="2" charset="0"/>
                </a:rPr>
                <a:t>0</a:t>
              </a:r>
            </a:p>
            <a:p>
              <a:pPr algn="l">
                <a:spcBef>
                  <a:spcPct val="50000"/>
                </a:spcBef>
              </a:pPr>
              <a:r>
                <a:rPr lang="en-US" altLang="tr-TR" sz="2400" b="1">
                  <a:latin typeface="Helvetica" pitchFamily="2" charset="0"/>
                </a:rPr>
                <a:t>-</a:t>
              </a:r>
            </a:p>
          </p:txBody>
        </p:sp>
      </p:grpSp>
      <p:grpSp>
        <p:nvGrpSpPr>
          <p:cNvPr id="420876" name="Group 12">
            <a:extLst>
              <a:ext uri="{FF2B5EF4-FFF2-40B4-BE49-F238E27FC236}">
                <a16:creationId xmlns:a16="http://schemas.microsoft.com/office/drawing/2014/main" id="{12C224B7-CEC8-5BF7-E1B0-C7AADE3701B8}"/>
              </a:ext>
            </a:extLst>
          </p:cNvPr>
          <p:cNvGrpSpPr>
            <a:grpSpLocks/>
          </p:cNvGrpSpPr>
          <p:nvPr/>
        </p:nvGrpSpPr>
        <p:grpSpPr bwMode="auto">
          <a:xfrm>
            <a:off x="4543425" y="3384550"/>
            <a:ext cx="406400" cy="1552575"/>
            <a:chOff x="2282" y="1590"/>
            <a:chExt cx="256" cy="978"/>
          </a:xfrm>
        </p:grpSpPr>
        <p:sp>
          <p:nvSpPr>
            <p:cNvPr id="420877" name="Line 13">
              <a:extLst>
                <a:ext uri="{FF2B5EF4-FFF2-40B4-BE49-F238E27FC236}">
                  <a16:creationId xmlns:a16="http://schemas.microsoft.com/office/drawing/2014/main" id="{973507FE-BD55-D05A-ADDF-037053ED508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38" y="1776"/>
              <a:ext cx="0" cy="612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en-US"/>
            </a:p>
          </p:txBody>
        </p:sp>
        <p:sp>
          <p:nvSpPr>
            <p:cNvPr id="420878" name="Text Box 14">
              <a:extLst>
                <a:ext uri="{FF2B5EF4-FFF2-40B4-BE49-F238E27FC236}">
                  <a16:creationId xmlns:a16="http://schemas.microsoft.com/office/drawing/2014/main" id="{A1112295-9F6B-1571-FD70-6D84475AE15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82" y="1590"/>
              <a:ext cx="228" cy="97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>
                <a:spcBef>
                  <a:spcPct val="50000"/>
                </a:spcBef>
              </a:pPr>
              <a:r>
                <a:rPr lang="en-US" altLang="tr-TR" sz="2400" b="1">
                  <a:latin typeface="Helvetica" pitchFamily="2" charset="0"/>
                </a:rPr>
                <a:t>+</a:t>
              </a:r>
            </a:p>
            <a:p>
              <a:pPr algn="l">
                <a:spcBef>
                  <a:spcPct val="50000"/>
                </a:spcBef>
              </a:pPr>
              <a:r>
                <a:rPr lang="en-US" altLang="tr-TR" sz="2400" b="1">
                  <a:latin typeface="Helvetica" pitchFamily="2" charset="0"/>
                </a:rPr>
                <a:t>0</a:t>
              </a:r>
            </a:p>
            <a:p>
              <a:pPr algn="l">
                <a:spcBef>
                  <a:spcPct val="50000"/>
                </a:spcBef>
              </a:pPr>
              <a:r>
                <a:rPr lang="en-US" altLang="tr-TR" sz="2400" b="1">
                  <a:latin typeface="Helvetica" pitchFamily="2" charset="0"/>
                </a:rPr>
                <a:t>-</a:t>
              </a:r>
            </a:p>
          </p:txBody>
        </p:sp>
      </p:grpSp>
      <p:sp>
        <p:nvSpPr>
          <p:cNvPr id="420879" name="Rectangle 15">
            <a:extLst>
              <a:ext uri="{FF2B5EF4-FFF2-40B4-BE49-F238E27FC236}">
                <a16:creationId xmlns:a16="http://schemas.microsoft.com/office/drawing/2014/main" id="{F907D08B-BE06-8C1E-650F-E05962AD2F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58913" y="5272088"/>
            <a:ext cx="1081087" cy="623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>
              <a:spcBef>
                <a:spcPct val="50000"/>
              </a:spcBef>
            </a:pPr>
            <a:r>
              <a:rPr lang="en-US" altLang="tr-TR" sz="1400" b="1">
                <a:latin typeface="Helvetica" pitchFamily="2" charset="0"/>
              </a:rPr>
              <a:t>Red/Green</a:t>
            </a:r>
          </a:p>
          <a:p>
            <a:pPr algn="l">
              <a:spcBef>
                <a:spcPct val="50000"/>
              </a:spcBef>
            </a:pPr>
            <a:r>
              <a:rPr lang="en-US" altLang="tr-TR" sz="1400" b="1">
                <a:latin typeface="Helvetica" pitchFamily="2" charset="0"/>
              </a:rPr>
              <a:t>Receptors</a:t>
            </a:r>
          </a:p>
        </p:txBody>
      </p:sp>
      <p:sp>
        <p:nvSpPr>
          <p:cNvPr id="420880" name="Rectangle 16">
            <a:extLst>
              <a:ext uri="{FF2B5EF4-FFF2-40B4-BE49-F238E27FC236}">
                <a16:creationId xmlns:a16="http://schemas.microsoft.com/office/drawing/2014/main" id="{6F40C149-BE1F-9149-E9F0-64713E9C16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06763" y="5272088"/>
            <a:ext cx="1184275" cy="623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>
              <a:spcBef>
                <a:spcPct val="50000"/>
              </a:spcBef>
            </a:pPr>
            <a:r>
              <a:rPr lang="en-US" altLang="tr-TR" sz="1400" b="1">
                <a:latin typeface="Helvetica" pitchFamily="2" charset="0"/>
              </a:rPr>
              <a:t>Blue/Yellow</a:t>
            </a:r>
          </a:p>
          <a:p>
            <a:pPr algn="l">
              <a:spcBef>
                <a:spcPct val="50000"/>
              </a:spcBef>
            </a:pPr>
            <a:r>
              <a:rPr lang="en-US" altLang="tr-TR" sz="1400" b="1">
                <a:latin typeface="Helvetica" pitchFamily="2" charset="0"/>
              </a:rPr>
              <a:t>Receptors</a:t>
            </a:r>
          </a:p>
        </p:txBody>
      </p:sp>
      <p:sp>
        <p:nvSpPr>
          <p:cNvPr id="420881" name="Rectangle 17">
            <a:extLst>
              <a:ext uri="{FF2B5EF4-FFF2-40B4-BE49-F238E27FC236}">
                <a16:creationId xmlns:a16="http://schemas.microsoft.com/office/drawing/2014/main" id="{C4D120B1-33AC-8B9A-2B7D-C02D2F7812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59363" y="5272088"/>
            <a:ext cx="1189037" cy="623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>
              <a:spcBef>
                <a:spcPct val="50000"/>
              </a:spcBef>
            </a:pPr>
            <a:r>
              <a:rPr lang="en-US" altLang="tr-TR" sz="1400" b="1">
                <a:latin typeface="Helvetica" pitchFamily="2" charset="0"/>
              </a:rPr>
              <a:t>Black/White</a:t>
            </a:r>
          </a:p>
          <a:p>
            <a:pPr algn="l">
              <a:spcBef>
                <a:spcPct val="50000"/>
              </a:spcBef>
            </a:pPr>
            <a:r>
              <a:rPr lang="en-US" altLang="tr-TR" sz="1400" b="1">
                <a:latin typeface="Helvetica" pitchFamily="2" charset="0"/>
              </a:rPr>
              <a:t>Receptors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890" name="Rectangle 2">
            <a:extLst>
              <a:ext uri="{FF2B5EF4-FFF2-40B4-BE49-F238E27FC236}">
                <a16:creationId xmlns:a16="http://schemas.microsoft.com/office/drawing/2014/main" id="{6390BEAB-1E80-7FA9-3D30-418313B2DC3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tr-TR"/>
              <a:t>Colorimetry</a:t>
            </a:r>
          </a:p>
        </p:txBody>
      </p:sp>
      <p:pic>
        <p:nvPicPr>
          <p:cNvPr id="421892" name="Picture 4">
            <a:extLst>
              <a:ext uri="{FF2B5EF4-FFF2-40B4-BE49-F238E27FC236}">
                <a16:creationId xmlns:a16="http://schemas.microsoft.com/office/drawing/2014/main" id="{E182BDB0-BE05-C8AD-E9BD-74B9F2C2909B}"/>
              </a:ext>
            </a:extLst>
          </p:cNvPr>
          <p:cNvPicPr>
            <a:picLocks noGrp="1" noChangeAspect="1" noChangeArrowheads="1"/>
          </p:cNvPicPr>
          <p:nvPr>
            <p:ph type="body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419475" y="1268413"/>
            <a:ext cx="4568825" cy="4724400"/>
          </a:xfrm>
          <a:noFill/>
          <a:ln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21893" name="Text Box 5">
            <a:extLst>
              <a:ext uri="{FF2B5EF4-FFF2-40B4-BE49-F238E27FC236}">
                <a16:creationId xmlns:a16="http://schemas.microsoft.com/office/drawing/2014/main" id="{50A8D056-539B-69D7-BAA6-714C739EDC3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9388" y="1341438"/>
            <a:ext cx="3529012" cy="42910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0000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/>
            <a:r>
              <a:rPr lang="en-GB" altLang="tr-TR" sz="2400"/>
              <a:t>X, Y and Z tristimulus values are weights</a:t>
            </a:r>
          </a:p>
          <a:p>
            <a:pPr algn="l"/>
            <a:r>
              <a:rPr lang="en-GB" altLang="tr-TR" sz="2400"/>
              <a:t> that define a color in CIE XYZ space</a:t>
            </a:r>
          </a:p>
          <a:p>
            <a:pPr algn="l"/>
            <a:r>
              <a:rPr lang="en-GB" altLang="tr-TR" sz="2400"/>
              <a:t>X+Y+Z=1</a:t>
            </a:r>
          </a:p>
          <a:p>
            <a:pPr algn="l"/>
            <a:endParaRPr lang="en-GB" altLang="tr-TR" sz="2400"/>
          </a:p>
          <a:p>
            <a:pPr algn="l"/>
            <a:r>
              <a:rPr lang="en-GB" altLang="tr-TR" sz="2400"/>
              <a:t>There are conversion functions from RGB to XYZ functions for each device !</a:t>
            </a:r>
          </a:p>
          <a:p>
            <a:pPr algn="l"/>
            <a:endParaRPr lang="en-GB" altLang="tr-TR" sz="2400"/>
          </a:p>
          <a:p>
            <a:pPr algn="l"/>
            <a:endParaRPr lang="en-GB" altLang="tr-TR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914" name="Rectangle 2">
            <a:extLst>
              <a:ext uri="{FF2B5EF4-FFF2-40B4-BE49-F238E27FC236}">
                <a16:creationId xmlns:a16="http://schemas.microsoft.com/office/drawing/2014/main" id="{2CDEE596-F644-8BFF-9790-3EAD997E646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tr-TR"/>
              <a:t>BRDF</a:t>
            </a:r>
          </a:p>
        </p:txBody>
      </p:sp>
      <p:sp>
        <p:nvSpPr>
          <p:cNvPr id="422915" name="Rectangle 3">
            <a:extLst>
              <a:ext uri="{FF2B5EF4-FFF2-40B4-BE49-F238E27FC236}">
                <a16:creationId xmlns:a16="http://schemas.microsoft.com/office/drawing/2014/main" id="{C77BFBAE-7704-964A-313A-FAF4B12921B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altLang="tr-TR" sz="2700"/>
              <a:t>Bidirectional Reflectance Distribution Function</a:t>
            </a:r>
          </a:p>
          <a:p>
            <a:r>
              <a:rPr lang="en-GB" altLang="tr-TR" sz="2700"/>
              <a:t>It is a function that describes how light is reflected from a surface</a:t>
            </a:r>
          </a:p>
          <a:p>
            <a:r>
              <a:rPr lang="en-GB" altLang="tr-TR" sz="2700"/>
              <a:t>Used to describe the material</a:t>
            </a:r>
          </a:p>
          <a:p>
            <a:r>
              <a:rPr lang="en-GB" altLang="tr-TR" sz="2700"/>
              <a:t>Input</a:t>
            </a:r>
          </a:p>
          <a:p>
            <a:pPr lvl="1"/>
            <a:r>
              <a:rPr lang="en-GB" altLang="tr-TR" sz="2200"/>
              <a:t>Incoming and outgoing azimuth and elevation angles </a:t>
            </a:r>
          </a:p>
          <a:p>
            <a:pPr lvl="1"/>
            <a:r>
              <a:rPr lang="en-GB" altLang="tr-TR" sz="2200"/>
              <a:t>Wavelength of the incoming light</a:t>
            </a:r>
          </a:p>
          <a:p>
            <a:r>
              <a:rPr lang="en-GB" altLang="tr-TR" sz="2700"/>
              <a:t>Output</a:t>
            </a:r>
          </a:p>
          <a:p>
            <a:pPr lvl="1"/>
            <a:r>
              <a:rPr lang="en-GB" altLang="tr-TR" sz="2200"/>
              <a:t>Relative amount of energy reflected in the outgoing direction given the incoming direction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962" name="Rectangle 2">
            <a:extLst>
              <a:ext uri="{FF2B5EF4-FFF2-40B4-BE49-F238E27FC236}">
                <a16:creationId xmlns:a16="http://schemas.microsoft.com/office/drawing/2014/main" id="{69574F95-010A-86E7-3348-E6D12B640B5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tr-TR"/>
              <a:t>The BRDF</a:t>
            </a:r>
          </a:p>
        </p:txBody>
      </p:sp>
      <p:sp>
        <p:nvSpPr>
          <p:cNvPr id="424963" name="Rectangle 3">
            <a:extLst>
              <a:ext uri="{FF2B5EF4-FFF2-40B4-BE49-F238E27FC236}">
                <a16:creationId xmlns:a16="http://schemas.microsoft.com/office/drawing/2014/main" id="{5AFAD2AE-7FD9-1EEA-988F-6D9C68CB9CA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1524000"/>
            <a:ext cx="5038725" cy="472440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tr-TR" sz="2200"/>
              <a:t>Bidirectional Reflectance Distribution Function </a:t>
            </a:r>
            <a:r>
              <a:rPr lang="en-US" altLang="tr-TR" sz="2200" i="1"/>
              <a:t>f</a:t>
            </a:r>
            <a:r>
              <a:rPr lang="en-US" altLang="tr-TR" sz="2200" i="1" baseline="-25000"/>
              <a:t>r</a:t>
            </a:r>
            <a:r>
              <a:rPr lang="en-US" altLang="tr-TR" sz="2200">
                <a:latin typeface="Symbol" pitchFamily="2" charset="2"/>
              </a:rPr>
              <a:t>(</a:t>
            </a:r>
            <a:r>
              <a:rPr lang="en-US" altLang="tr-TR" sz="2200"/>
              <a:t>d</a:t>
            </a:r>
            <a:r>
              <a:rPr lang="en-US" altLang="tr-TR" sz="2200" i="1">
                <a:latin typeface="Symbol" pitchFamily="2" charset="2"/>
              </a:rPr>
              <a:t>w</a:t>
            </a:r>
            <a:r>
              <a:rPr lang="en-US" altLang="tr-TR" sz="2200" i="1" baseline="-25000"/>
              <a:t>i</a:t>
            </a:r>
            <a:r>
              <a:rPr lang="en-US" altLang="tr-TR" sz="2200"/>
              <a:t>, d</a:t>
            </a:r>
            <a:r>
              <a:rPr lang="en-US" altLang="tr-TR" sz="2200" i="1">
                <a:latin typeface="Symbol" pitchFamily="2" charset="2"/>
              </a:rPr>
              <a:t>w</a:t>
            </a:r>
            <a:r>
              <a:rPr lang="en-US" altLang="tr-TR" sz="2200" i="1" baseline="-25000"/>
              <a:t>r</a:t>
            </a:r>
            <a:r>
              <a:rPr lang="en-US" altLang="tr-TR" sz="2200">
                <a:latin typeface="Symbol" pitchFamily="2" charset="2"/>
              </a:rPr>
              <a:t>)</a:t>
            </a:r>
            <a:endParaRPr lang="en-US" altLang="tr-TR" sz="2200" i="1" baseline="-25000"/>
          </a:p>
          <a:p>
            <a:pPr>
              <a:lnSpc>
                <a:spcPct val="90000"/>
              </a:lnSpc>
            </a:pPr>
            <a:r>
              <a:rPr lang="en-US" altLang="tr-TR" sz="2200"/>
              <a:t>Measures the portion of incident irradiance (</a:t>
            </a:r>
            <a:r>
              <a:rPr lang="en-US" altLang="tr-TR" sz="2200" i="1"/>
              <a:t>E</a:t>
            </a:r>
            <a:r>
              <a:rPr lang="en-US" altLang="tr-TR" sz="2200" i="1" baseline="-25000"/>
              <a:t>i</a:t>
            </a:r>
            <a:r>
              <a:rPr lang="en-US" altLang="tr-TR" sz="2200"/>
              <a:t>) that is reflected as radiance (</a:t>
            </a:r>
            <a:r>
              <a:rPr lang="en-US" altLang="tr-TR" sz="2200" i="1"/>
              <a:t>L</a:t>
            </a:r>
            <a:r>
              <a:rPr lang="en-US" altLang="tr-TR" sz="2200" i="1" baseline="-25000"/>
              <a:t>r</a:t>
            </a:r>
            <a:r>
              <a:rPr lang="en-US" altLang="tr-TR" sz="2200"/>
              <a:t>)</a:t>
            </a:r>
          </a:p>
          <a:p>
            <a:pPr algn="ctr">
              <a:lnSpc>
                <a:spcPct val="90000"/>
              </a:lnSpc>
              <a:buFontTx/>
              <a:buNone/>
            </a:pPr>
            <a:r>
              <a:rPr lang="en-US" altLang="tr-TR" sz="2200" i="1"/>
              <a:t>f</a:t>
            </a:r>
            <a:r>
              <a:rPr lang="en-US" altLang="tr-TR" sz="2200" i="1" baseline="-25000"/>
              <a:t>r</a:t>
            </a:r>
            <a:r>
              <a:rPr lang="en-US" altLang="tr-TR" sz="2200">
                <a:latin typeface="Symbol" pitchFamily="2" charset="2"/>
              </a:rPr>
              <a:t>(</a:t>
            </a:r>
            <a:r>
              <a:rPr lang="en-US" altLang="tr-TR" sz="2200" i="1">
                <a:latin typeface="Symbol" pitchFamily="2" charset="2"/>
              </a:rPr>
              <a:t>w</a:t>
            </a:r>
            <a:r>
              <a:rPr lang="en-US" altLang="tr-TR" sz="2200" i="1" baseline="-25000"/>
              <a:t>i</a:t>
            </a:r>
            <a:r>
              <a:rPr lang="en-US" altLang="tr-TR" sz="2200"/>
              <a:t>, </a:t>
            </a:r>
            <a:r>
              <a:rPr lang="en-US" altLang="tr-TR" sz="2200" i="1">
                <a:latin typeface="Symbol" pitchFamily="2" charset="2"/>
              </a:rPr>
              <a:t>w</a:t>
            </a:r>
            <a:r>
              <a:rPr lang="en-US" altLang="tr-TR" sz="2200" i="1" baseline="-25000"/>
              <a:t>r</a:t>
            </a:r>
            <a:r>
              <a:rPr lang="en-US" altLang="tr-TR" sz="2200">
                <a:latin typeface="Symbol" pitchFamily="2" charset="2"/>
              </a:rPr>
              <a:t>)</a:t>
            </a:r>
            <a:r>
              <a:rPr lang="en-US" altLang="tr-TR" sz="2200"/>
              <a:t> = d</a:t>
            </a:r>
            <a:r>
              <a:rPr lang="en-US" altLang="tr-TR" sz="2200" i="1"/>
              <a:t>L</a:t>
            </a:r>
            <a:r>
              <a:rPr lang="en-US" altLang="tr-TR" sz="2200" i="1" baseline="-25000"/>
              <a:t>r</a:t>
            </a:r>
            <a:r>
              <a:rPr lang="en-US" altLang="tr-TR" sz="2200">
                <a:latin typeface="Symbol" pitchFamily="2" charset="2"/>
              </a:rPr>
              <a:t>(</a:t>
            </a:r>
            <a:r>
              <a:rPr lang="en-US" altLang="tr-TR" sz="2200" i="1">
                <a:latin typeface="Symbol" pitchFamily="2" charset="2"/>
              </a:rPr>
              <a:t>w</a:t>
            </a:r>
            <a:r>
              <a:rPr lang="en-US" altLang="tr-TR" sz="2200" i="1" baseline="-25000"/>
              <a:t>r</a:t>
            </a:r>
            <a:r>
              <a:rPr lang="en-US" altLang="tr-TR" sz="2200">
                <a:latin typeface="Symbol" pitchFamily="2" charset="2"/>
              </a:rPr>
              <a:t>)</a:t>
            </a:r>
            <a:r>
              <a:rPr lang="en-US" altLang="tr-TR" sz="2200"/>
              <a:t>/d</a:t>
            </a:r>
            <a:r>
              <a:rPr lang="en-US" altLang="tr-TR" sz="2200" i="1"/>
              <a:t>E</a:t>
            </a:r>
            <a:r>
              <a:rPr lang="en-US" altLang="tr-TR" sz="2200" i="1" baseline="-25000"/>
              <a:t>i</a:t>
            </a:r>
            <a:r>
              <a:rPr lang="en-US" altLang="tr-TR" sz="2200">
                <a:latin typeface="Symbol" pitchFamily="2" charset="2"/>
              </a:rPr>
              <a:t>(</a:t>
            </a:r>
            <a:r>
              <a:rPr lang="en-US" altLang="tr-TR" sz="2200" i="1">
                <a:latin typeface="Symbol" pitchFamily="2" charset="2"/>
              </a:rPr>
              <a:t>w</a:t>
            </a:r>
            <a:r>
              <a:rPr lang="en-US" altLang="tr-TR" sz="2200" i="1" baseline="-25000"/>
              <a:t>i</a:t>
            </a:r>
            <a:r>
              <a:rPr lang="en-US" altLang="tr-TR" sz="2200">
                <a:latin typeface="Symbol" pitchFamily="2" charset="2"/>
              </a:rPr>
              <a:t>)</a:t>
            </a:r>
            <a:endParaRPr lang="en-US" altLang="tr-TR" sz="2200"/>
          </a:p>
          <a:p>
            <a:pPr>
              <a:lnSpc>
                <a:spcPct val="90000"/>
              </a:lnSpc>
            </a:pPr>
            <a:r>
              <a:rPr lang="en-US" altLang="tr-TR" sz="2200"/>
              <a:t>Or the ratio between incident radiance and reflected radiance</a:t>
            </a:r>
          </a:p>
          <a:p>
            <a:pPr algn="ctr">
              <a:lnSpc>
                <a:spcPct val="90000"/>
              </a:lnSpc>
              <a:buFontTx/>
              <a:buNone/>
            </a:pPr>
            <a:r>
              <a:rPr lang="en-US" altLang="tr-TR" sz="2200" i="1"/>
              <a:t>f</a:t>
            </a:r>
            <a:r>
              <a:rPr lang="en-US" altLang="tr-TR" sz="2200" i="1" baseline="-25000"/>
              <a:t>r</a:t>
            </a:r>
            <a:r>
              <a:rPr lang="en-US" altLang="tr-TR" sz="2200">
                <a:latin typeface="Symbol" pitchFamily="2" charset="2"/>
              </a:rPr>
              <a:t>(</a:t>
            </a:r>
            <a:r>
              <a:rPr lang="en-US" altLang="tr-TR" sz="2200" i="1">
                <a:latin typeface="Symbol" pitchFamily="2" charset="2"/>
              </a:rPr>
              <a:t>w</a:t>
            </a:r>
            <a:r>
              <a:rPr lang="en-US" altLang="tr-TR" sz="2200" i="1" baseline="-25000"/>
              <a:t>i</a:t>
            </a:r>
            <a:r>
              <a:rPr lang="en-US" altLang="tr-TR" sz="2200"/>
              <a:t>, </a:t>
            </a:r>
            <a:r>
              <a:rPr lang="en-US" altLang="tr-TR" sz="2200" i="1">
                <a:latin typeface="Symbol" pitchFamily="2" charset="2"/>
              </a:rPr>
              <a:t>w</a:t>
            </a:r>
            <a:r>
              <a:rPr lang="en-US" altLang="tr-TR" sz="2200" i="1" baseline="-25000"/>
              <a:t>r</a:t>
            </a:r>
            <a:r>
              <a:rPr lang="en-US" altLang="tr-TR" sz="2200">
                <a:latin typeface="Symbol" pitchFamily="2" charset="2"/>
              </a:rPr>
              <a:t>) = </a:t>
            </a:r>
            <a:r>
              <a:rPr lang="en-US" altLang="tr-TR" sz="2200"/>
              <a:t>d</a:t>
            </a:r>
            <a:r>
              <a:rPr lang="en-US" altLang="tr-TR" sz="2200" i="1"/>
              <a:t>L</a:t>
            </a:r>
            <a:r>
              <a:rPr lang="en-US" altLang="tr-TR" sz="2200" i="1" baseline="-25000"/>
              <a:t>r</a:t>
            </a:r>
            <a:r>
              <a:rPr lang="en-US" altLang="tr-TR" sz="2200">
                <a:latin typeface="Symbol" pitchFamily="2" charset="2"/>
              </a:rPr>
              <a:t>(</a:t>
            </a:r>
            <a:r>
              <a:rPr lang="en-US" altLang="tr-TR" sz="2200" i="1">
                <a:latin typeface="Symbol" pitchFamily="2" charset="2"/>
              </a:rPr>
              <a:t>w</a:t>
            </a:r>
            <a:r>
              <a:rPr lang="en-US" altLang="tr-TR" sz="2200" i="1" baseline="-25000"/>
              <a:t>r</a:t>
            </a:r>
            <a:r>
              <a:rPr lang="en-US" altLang="tr-TR" sz="2200"/>
              <a:t>)/(</a:t>
            </a:r>
            <a:r>
              <a:rPr lang="en-US" altLang="tr-TR" sz="2200" i="1"/>
              <a:t>L</a:t>
            </a:r>
            <a:r>
              <a:rPr lang="en-US" altLang="tr-TR" sz="2200" i="1" baseline="-25000"/>
              <a:t>i</a:t>
            </a:r>
            <a:r>
              <a:rPr lang="en-US" altLang="tr-TR" sz="2200"/>
              <a:t>(</a:t>
            </a:r>
            <a:r>
              <a:rPr lang="en-US" altLang="tr-TR" sz="2200" i="1">
                <a:latin typeface="Symbol" pitchFamily="2" charset="2"/>
              </a:rPr>
              <a:t>w</a:t>
            </a:r>
            <a:r>
              <a:rPr lang="en-US" altLang="tr-TR" sz="2200" i="1" baseline="-25000"/>
              <a:t>i</a:t>
            </a:r>
            <a:r>
              <a:rPr lang="en-US" altLang="tr-TR" sz="2200"/>
              <a:t>) cos</a:t>
            </a:r>
            <a:r>
              <a:rPr lang="en-US" altLang="tr-TR" sz="2200" i="1">
                <a:latin typeface="Symbol" pitchFamily="2" charset="2"/>
              </a:rPr>
              <a:t>q</a:t>
            </a:r>
            <a:r>
              <a:rPr lang="en-US" altLang="tr-TR" sz="2200"/>
              <a:t> d</a:t>
            </a:r>
            <a:r>
              <a:rPr lang="en-US" altLang="tr-TR" sz="2200" i="1">
                <a:latin typeface="Symbol" pitchFamily="2" charset="2"/>
              </a:rPr>
              <a:t>w</a:t>
            </a:r>
            <a:r>
              <a:rPr lang="en-US" altLang="tr-TR" sz="2200"/>
              <a:t>)</a:t>
            </a:r>
          </a:p>
          <a:p>
            <a:pPr>
              <a:lnSpc>
                <a:spcPct val="90000"/>
              </a:lnSpc>
            </a:pPr>
            <a:r>
              <a:rPr lang="en-US" altLang="tr-TR" sz="2200"/>
              <a:t>Ranges from 0 to </a:t>
            </a:r>
            <a:r>
              <a:rPr lang="en-US" altLang="tr-TR" sz="2200">
                <a:sym typeface="Symbol" pitchFamily="2" charset="2"/>
              </a:rPr>
              <a:t> – infinite when radiance distribution  from single incident ray</a:t>
            </a:r>
          </a:p>
        </p:txBody>
      </p:sp>
      <p:sp>
        <p:nvSpPr>
          <p:cNvPr id="424964" name="Oval 4">
            <a:extLst>
              <a:ext uri="{FF2B5EF4-FFF2-40B4-BE49-F238E27FC236}">
                <a16:creationId xmlns:a16="http://schemas.microsoft.com/office/drawing/2014/main" id="{0D0339CB-80B3-364E-8C54-157E5166D8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81800" y="2286000"/>
            <a:ext cx="762000" cy="152400"/>
          </a:xfrm>
          <a:prstGeom prst="ellipse">
            <a:avLst/>
          </a:prstGeom>
          <a:solidFill>
            <a:schemeClr val="hlink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24965" name="Line 5">
            <a:extLst>
              <a:ext uri="{FF2B5EF4-FFF2-40B4-BE49-F238E27FC236}">
                <a16:creationId xmlns:a16="http://schemas.microsoft.com/office/drawing/2014/main" id="{A665F8DA-F48F-0142-1D17-3A049FFE389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162800" y="1681163"/>
            <a:ext cx="636588" cy="68103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24966" name="Line 6">
            <a:extLst>
              <a:ext uri="{FF2B5EF4-FFF2-40B4-BE49-F238E27FC236}">
                <a16:creationId xmlns:a16="http://schemas.microsoft.com/office/drawing/2014/main" id="{E8813C5F-45CF-11CC-7630-B3F8221C287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162800" y="1968500"/>
            <a:ext cx="758825" cy="3937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24967" name="Arc 7">
            <a:extLst>
              <a:ext uri="{FF2B5EF4-FFF2-40B4-BE49-F238E27FC236}">
                <a16:creationId xmlns:a16="http://schemas.microsoft.com/office/drawing/2014/main" id="{24B65893-DA60-ED6F-DFE1-748C29930E03}"/>
              </a:ext>
            </a:extLst>
          </p:cNvPr>
          <p:cNvSpPr>
            <a:spLocks/>
          </p:cNvSpPr>
          <p:nvPr/>
        </p:nvSpPr>
        <p:spPr bwMode="auto">
          <a:xfrm>
            <a:off x="6018213" y="1143000"/>
            <a:ext cx="2287587" cy="1220788"/>
          </a:xfrm>
          <a:custGeom>
            <a:avLst/>
            <a:gdLst>
              <a:gd name="G0" fmla="+- 21599 0 0"/>
              <a:gd name="G1" fmla="+- 21600 0 0"/>
              <a:gd name="G2" fmla="+- 21600 0 0"/>
              <a:gd name="T0" fmla="*/ 0 w 43199"/>
              <a:gd name="T1" fmla="*/ 21413 h 21600"/>
              <a:gd name="T2" fmla="*/ 43199 w 43199"/>
              <a:gd name="T3" fmla="*/ 21600 h 21600"/>
              <a:gd name="T4" fmla="*/ 21599 w 43199"/>
              <a:gd name="T5" fmla="*/ 216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43199" h="21600" fill="none" extrusionOk="0">
                <a:moveTo>
                  <a:pt x="-1" y="21412"/>
                </a:moveTo>
                <a:cubicBezTo>
                  <a:pt x="102" y="9557"/>
                  <a:pt x="9742" y="0"/>
                  <a:pt x="21599" y="0"/>
                </a:cubicBezTo>
                <a:cubicBezTo>
                  <a:pt x="33528" y="0"/>
                  <a:pt x="43199" y="9670"/>
                  <a:pt x="43199" y="21600"/>
                </a:cubicBezTo>
              </a:path>
              <a:path w="43199" h="21600" stroke="0" extrusionOk="0">
                <a:moveTo>
                  <a:pt x="-1" y="21412"/>
                </a:moveTo>
                <a:cubicBezTo>
                  <a:pt x="102" y="9557"/>
                  <a:pt x="9742" y="0"/>
                  <a:pt x="21599" y="0"/>
                </a:cubicBezTo>
                <a:cubicBezTo>
                  <a:pt x="33528" y="0"/>
                  <a:pt x="43199" y="9670"/>
                  <a:pt x="43199" y="21600"/>
                </a:cubicBezTo>
                <a:lnTo>
                  <a:pt x="21599" y="21600"/>
                </a:lnTo>
                <a:close/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24968" name="Oval 8">
            <a:extLst>
              <a:ext uri="{FF2B5EF4-FFF2-40B4-BE49-F238E27FC236}">
                <a16:creationId xmlns:a16="http://schemas.microsoft.com/office/drawing/2014/main" id="{4E26D1EE-81FF-6064-4D73-07A925D062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19800" y="2182813"/>
            <a:ext cx="2286000" cy="3810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 altLang="tr-TR" sz="2400"/>
          </a:p>
        </p:txBody>
      </p:sp>
      <p:sp>
        <p:nvSpPr>
          <p:cNvPr id="424969" name="Oval 9">
            <a:extLst>
              <a:ext uri="{FF2B5EF4-FFF2-40B4-BE49-F238E27FC236}">
                <a16:creationId xmlns:a16="http://schemas.microsoft.com/office/drawing/2014/main" id="{73ED91B9-081C-F23C-BB54-AA16840EA8A7}"/>
              </a:ext>
            </a:extLst>
          </p:cNvPr>
          <p:cNvSpPr>
            <a:spLocks noChangeArrowheads="1"/>
          </p:cNvSpPr>
          <p:nvPr/>
        </p:nvSpPr>
        <p:spPr bwMode="auto">
          <a:xfrm rot="14923746">
            <a:off x="7712075" y="1784350"/>
            <a:ext cx="293688" cy="84138"/>
          </a:xfrm>
          <a:prstGeom prst="ellipse">
            <a:avLst/>
          </a:prstGeom>
          <a:solidFill>
            <a:schemeClr val="hlink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24970" name="Line 10">
            <a:extLst>
              <a:ext uri="{FF2B5EF4-FFF2-40B4-BE49-F238E27FC236}">
                <a16:creationId xmlns:a16="http://schemas.microsoft.com/office/drawing/2014/main" id="{2C7CA67D-B7C1-7F26-C3E9-B802B27C994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162800" y="1905000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24971" name="Line 11">
            <a:extLst>
              <a:ext uri="{FF2B5EF4-FFF2-40B4-BE49-F238E27FC236}">
                <a16:creationId xmlns:a16="http://schemas.microsoft.com/office/drawing/2014/main" id="{A948D588-1BB3-DE04-327A-6A43A07E530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162800" y="2057400"/>
            <a:ext cx="42545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24972" name="Line 12">
            <a:extLst>
              <a:ext uri="{FF2B5EF4-FFF2-40B4-BE49-F238E27FC236}">
                <a16:creationId xmlns:a16="http://schemas.microsoft.com/office/drawing/2014/main" id="{6BAFF227-E1D5-067A-9D57-10B3CEB3E339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6858000" y="1295400"/>
            <a:ext cx="304800" cy="1066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24973" name="Line 13">
            <a:extLst>
              <a:ext uri="{FF2B5EF4-FFF2-40B4-BE49-F238E27FC236}">
                <a16:creationId xmlns:a16="http://schemas.microsoft.com/office/drawing/2014/main" id="{E3C34E8C-44DE-9B64-5B9E-9CD918DF5D3A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6546850" y="1503363"/>
            <a:ext cx="615950" cy="85883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24974" name="Oval 14">
            <a:extLst>
              <a:ext uri="{FF2B5EF4-FFF2-40B4-BE49-F238E27FC236}">
                <a16:creationId xmlns:a16="http://schemas.microsoft.com/office/drawing/2014/main" id="{639461E3-E1A9-DD87-A6D1-E01C82575333}"/>
              </a:ext>
            </a:extLst>
          </p:cNvPr>
          <p:cNvSpPr>
            <a:spLocks noChangeArrowheads="1"/>
          </p:cNvSpPr>
          <p:nvPr/>
        </p:nvSpPr>
        <p:spPr bwMode="auto">
          <a:xfrm rot="19591465">
            <a:off x="6513513" y="1320800"/>
            <a:ext cx="373062" cy="160338"/>
          </a:xfrm>
          <a:prstGeom prst="ellipse">
            <a:avLst/>
          </a:prstGeom>
          <a:solidFill>
            <a:schemeClr val="hlink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24975" name="Line 15">
            <a:extLst>
              <a:ext uri="{FF2B5EF4-FFF2-40B4-BE49-F238E27FC236}">
                <a16:creationId xmlns:a16="http://schemas.microsoft.com/office/drawing/2014/main" id="{8D2854EA-4EA4-F5C4-1565-ADB65542F2A4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6964363" y="1954213"/>
            <a:ext cx="198437" cy="4079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24976" name="Rectangle 16">
            <a:extLst>
              <a:ext uri="{FF2B5EF4-FFF2-40B4-BE49-F238E27FC236}">
                <a16:creationId xmlns:a16="http://schemas.microsoft.com/office/drawing/2014/main" id="{8CC1C9B7-96DB-5B40-8E63-B159F7882F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43800" y="1333500"/>
            <a:ext cx="498475" cy="393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lnSpc>
                <a:spcPct val="110000"/>
              </a:lnSpc>
              <a:spcBef>
                <a:spcPct val="20000"/>
              </a:spcBef>
            </a:pPr>
            <a:r>
              <a:rPr lang="en-US" altLang="tr-TR" sz="1800" i="1"/>
              <a:t>d</a:t>
            </a:r>
            <a:r>
              <a:rPr lang="en-US" altLang="tr-TR" sz="1800" i="1">
                <a:latin typeface="Symbol" pitchFamily="2" charset="2"/>
              </a:rPr>
              <a:t>w</a:t>
            </a:r>
            <a:r>
              <a:rPr lang="en-US" altLang="tr-TR" sz="1800" i="1" baseline="-25000"/>
              <a:t>i</a:t>
            </a:r>
          </a:p>
        </p:txBody>
      </p:sp>
      <p:sp>
        <p:nvSpPr>
          <p:cNvPr id="424977" name="Rectangle 17">
            <a:extLst>
              <a:ext uri="{FF2B5EF4-FFF2-40B4-BE49-F238E27FC236}">
                <a16:creationId xmlns:a16="http://schemas.microsoft.com/office/drawing/2014/main" id="{62A33736-FC30-4187-1729-CB6F971F8C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05538" y="1371600"/>
            <a:ext cx="514350" cy="393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lnSpc>
                <a:spcPct val="110000"/>
              </a:lnSpc>
              <a:spcBef>
                <a:spcPct val="20000"/>
              </a:spcBef>
            </a:pPr>
            <a:r>
              <a:rPr lang="en-US" altLang="tr-TR" sz="1800" i="1"/>
              <a:t>d</a:t>
            </a:r>
            <a:r>
              <a:rPr lang="en-US" altLang="tr-TR" sz="1800" i="1">
                <a:latin typeface="Symbol" pitchFamily="2" charset="2"/>
              </a:rPr>
              <a:t>w</a:t>
            </a:r>
            <a:r>
              <a:rPr lang="en-US" altLang="tr-TR" sz="1800" i="1" baseline="-25000"/>
              <a:t>r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986" name="Rectangle 2">
            <a:extLst>
              <a:ext uri="{FF2B5EF4-FFF2-40B4-BE49-F238E27FC236}">
                <a16:creationId xmlns:a16="http://schemas.microsoft.com/office/drawing/2014/main" id="{C112DC28-FA4E-17A5-F0D2-E3B2350EB58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52400" y="152400"/>
            <a:ext cx="6629400" cy="990600"/>
          </a:xfrm>
        </p:spPr>
        <p:txBody>
          <a:bodyPr/>
          <a:lstStyle/>
          <a:p>
            <a:r>
              <a:rPr lang="en-US" altLang="tr-TR"/>
              <a:t>Illumination via the BRDF</a:t>
            </a:r>
          </a:p>
        </p:txBody>
      </p:sp>
      <p:sp>
        <p:nvSpPr>
          <p:cNvPr id="425987" name="Rectangle 3">
            <a:extLst>
              <a:ext uri="{FF2B5EF4-FFF2-40B4-BE49-F238E27FC236}">
                <a16:creationId xmlns:a16="http://schemas.microsoft.com/office/drawing/2014/main" id="{8ADB9E85-DC63-70E3-97C4-62A98DD43B5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altLang="tr-TR"/>
              <a:t>The Reflectance Equation</a:t>
            </a:r>
          </a:p>
          <a:p>
            <a:pPr>
              <a:lnSpc>
                <a:spcPct val="90000"/>
              </a:lnSpc>
            </a:pPr>
            <a:endParaRPr lang="en-US" altLang="tr-TR"/>
          </a:p>
          <a:p>
            <a:pPr>
              <a:lnSpc>
                <a:spcPct val="90000"/>
              </a:lnSpc>
            </a:pPr>
            <a:endParaRPr lang="en-US" altLang="tr-TR"/>
          </a:p>
          <a:p>
            <a:pPr>
              <a:lnSpc>
                <a:spcPct val="90000"/>
              </a:lnSpc>
            </a:pPr>
            <a:endParaRPr lang="en-US" altLang="tr-TR"/>
          </a:p>
          <a:p>
            <a:pPr>
              <a:lnSpc>
                <a:spcPct val="90000"/>
              </a:lnSpc>
            </a:pPr>
            <a:r>
              <a:rPr lang="en-US" altLang="tr-TR"/>
              <a:t>The reflected radiance is</a:t>
            </a:r>
          </a:p>
          <a:p>
            <a:pPr lvl="1">
              <a:lnSpc>
                <a:spcPct val="90000"/>
              </a:lnSpc>
            </a:pPr>
            <a:r>
              <a:rPr lang="en-US" altLang="tr-TR"/>
              <a:t>the sum of the incident radiance over the entire hemisphere</a:t>
            </a:r>
          </a:p>
          <a:p>
            <a:pPr lvl="1">
              <a:lnSpc>
                <a:spcPct val="90000"/>
              </a:lnSpc>
            </a:pPr>
            <a:r>
              <a:rPr lang="en-US" altLang="tr-TR"/>
              <a:t>foreshortened</a:t>
            </a:r>
          </a:p>
          <a:p>
            <a:pPr lvl="1">
              <a:lnSpc>
                <a:spcPct val="90000"/>
              </a:lnSpc>
            </a:pPr>
            <a:r>
              <a:rPr lang="en-US" altLang="tr-TR"/>
              <a:t>scaled by the BRDF</a:t>
            </a:r>
          </a:p>
        </p:txBody>
      </p:sp>
      <p:graphicFrame>
        <p:nvGraphicFramePr>
          <p:cNvPr id="425988" name="Object 4">
            <a:extLst>
              <a:ext uri="{FF2B5EF4-FFF2-40B4-BE49-F238E27FC236}">
                <a16:creationId xmlns:a16="http://schemas.microsoft.com/office/drawing/2014/main" id="{459C5715-C446-FD3E-1EB3-5B4EC6405CF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619250" y="2276475"/>
          <a:ext cx="5729288" cy="938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51790600" imgH="8483600" progId="Equation.3">
                  <p:embed/>
                </p:oleObj>
              </mc:Choice>
              <mc:Fallback>
                <p:oleObj name="Equation" r:id="rId3" imgW="51790600" imgH="84836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19250" y="2276475"/>
                        <a:ext cx="5729288" cy="9382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010" name="Rectangle 2">
            <a:extLst>
              <a:ext uri="{FF2B5EF4-FFF2-40B4-BE49-F238E27FC236}">
                <a16:creationId xmlns:a16="http://schemas.microsoft.com/office/drawing/2014/main" id="{E2559D09-ED64-F126-287D-7C290E70454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tr-TR"/>
              <a:t>Parameterizations</a:t>
            </a:r>
          </a:p>
        </p:txBody>
      </p:sp>
      <p:sp>
        <p:nvSpPr>
          <p:cNvPr id="427011" name="Rectangle 3">
            <a:extLst>
              <a:ext uri="{FF2B5EF4-FFF2-40B4-BE49-F238E27FC236}">
                <a16:creationId xmlns:a16="http://schemas.microsoft.com/office/drawing/2014/main" id="{25CE4008-54D5-0134-6C10-C70CF9F18D7D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250825" y="1125538"/>
            <a:ext cx="4465638" cy="4751387"/>
          </a:xfrm>
        </p:spPr>
        <p:txBody>
          <a:bodyPr/>
          <a:lstStyle/>
          <a:p>
            <a:r>
              <a:rPr lang="en-US" altLang="tr-TR" sz="3200"/>
              <a:t>6-D BRDF </a:t>
            </a:r>
            <a:r>
              <a:rPr lang="en-US" altLang="tr-TR" sz="3200" i="1"/>
              <a:t>f</a:t>
            </a:r>
            <a:r>
              <a:rPr lang="en-US" altLang="tr-TR" sz="3200" i="1" baseline="-25000"/>
              <a:t>r</a:t>
            </a:r>
            <a:r>
              <a:rPr lang="en-US" altLang="tr-TR" sz="3200"/>
              <a:t>(</a:t>
            </a:r>
            <a:r>
              <a:rPr lang="en-US" altLang="tr-TR" sz="2700" i="1">
                <a:latin typeface="Symbol" pitchFamily="2" charset="2"/>
              </a:rPr>
              <a:t>w</a:t>
            </a:r>
            <a:r>
              <a:rPr lang="en-US" altLang="tr-TR" sz="2700" i="1" baseline="-25000"/>
              <a:t>i</a:t>
            </a:r>
            <a:r>
              <a:rPr lang="en-US" altLang="tr-TR" sz="3200"/>
              <a:t>, </a:t>
            </a:r>
            <a:r>
              <a:rPr lang="en-US" altLang="tr-TR" sz="2700" i="1">
                <a:latin typeface="Symbol" pitchFamily="2" charset="2"/>
              </a:rPr>
              <a:t>w</a:t>
            </a:r>
            <a:r>
              <a:rPr lang="en-US" altLang="tr-TR" sz="2700" i="1" baseline="-25000"/>
              <a:t>r</a:t>
            </a:r>
            <a:r>
              <a:rPr lang="en-US" altLang="tr-TR" sz="3200"/>
              <a:t>, </a:t>
            </a:r>
            <a:r>
              <a:rPr lang="en-US" altLang="tr-TR" sz="3200" b="1"/>
              <a:t>x</a:t>
            </a:r>
            <a:r>
              <a:rPr lang="en-US" altLang="tr-TR" sz="3200"/>
              <a:t>)</a:t>
            </a:r>
          </a:p>
          <a:p>
            <a:pPr lvl="1"/>
            <a:r>
              <a:rPr lang="en-US" altLang="tr-TR"/>
              <a:t>Incident direction </a:t>
            </a:r>
            <a:r>
              <a:rPr lang="en-US" altLang="tr-TR" i="1"/>
              <a:t>L</a:t>
            </a:r>
          </a:p>
          <a:p>
            <a:pPr lvl="1"/>
            <a:r>
              <a:rPr lang="en-US" altLang="tr-TR"/>
              <a:t>Reflected direction </a:t>
            </a:r>
            <a:r>
              <a:rPr lang="en-US" altLang="tr-TR" i="1"/>
              <a:t>V</a:t>
            </a:r>
            <a:endParaRPr lang="en-US" altLang="tr-TR"/>
          </a:p>
          <a:p>
            <a:pPr lvl="1"/>
            <a:r>
              <a:rPr lang="en-US" altLang="tr-TR"/>
              <a:t>Surface position </a:t>
            </a:r>
            <a:r>
              <a:rPr lang="en-US" altLang="tr-TR" b="1"/>
              <a:t>x</a:t>
            </a:r>
          </a:p>
          <a:p>
            <a:pPr lvl="1"/>
            <a:r>
              <a:rPr lang="en-US" altLang="tr-TR"/>
              <a:t>Textured reflection (BTDF)</a:t>
            </a:r>
          </a:p>
          <a:p>
            <a:r>
              <a:rPr lang="en-US" altLang="tr-TR" sz="3200"/>
              <a:t>4-D BRDF </a:t>
            </a:r>
            <a:r>
              <a:rPr lang="en-US" altLang="tr-TR" sz="3200" i="1"/>
              <a:t>f</a:t>
            </a:r>
            <a:r>
              <a:rPr lang="en-US" altLang="tr-TR" sz="3200" i="1" baseline="-25000"/>
              <a:t>r</a:t>
            </a:r>
            <a:r>
              <a:rPr lang="en-US" altLang="tr-TR" sz="3200"/>
              <a:t>(</a:t>
            </a:r>
            <a:r>
              <a:rPr lang="en-US" altLang="tr-TR" sz="2700" i="1">
                <a:latin typeface="Symbol" pitchFamily="2" charset="2"/>
              </a:rPr>
              <a:t>w</a:t>
            </a:r>
            <a:r>
              <a:rPr lang="en-US" altLang="tr-TR" sz="2700" i="1" baseline="-25000"/>
              <a:t>i</a:t>
            </a:r>
            <a:r>
              <a:rPr lang="en-US" altLang="tr-TR" sz="3200"/>
              <a:t>, </a:t>
            </a:r>
            <a:r>
              <a:rPr lang="en-US" altLang="tr-TR" sz="2700" i="1">
                <a:latin typeface="Symbol" pitchFamily="2" charset="2"/>
              </a:rPr>
              <a:t>w</a:t>
            </a:r>
            <a:r>
              <a:rPr lang="en-US" altLang="tr-TR" sz="2700" i="1" baseline="-25000"/>
              <a:t>r</a:t>
            </a:r>
            <a:r>
              <a:rPr lang="en-US" altLang="tr-TR" sz="3200"/>
              <a:t>)</a:t>
            </a:r>
          </a:p>
          <a:p>
            <a:pPr lvl="1"/>
            <a:r>
              <a:rPr lang="en-US" altLang="tr-TR"/>
              <a:t>Homogeneous material</a:t>
            </a:r>
          </a:p>
          <a:p>
            <a:pPr lvl="1"/>
            <a:r>
              <a:rPr lang="en-US" altLang="tr-TR"/>
              <a:t>Anisotropic, depends on incoming azimuth</a:t>
            </a:r>
          </a:p>
          <a:p>
            <a:pPr lvl="1"/>
            <a:r>
              <a:rPr lang="en-US" altLang="tr-TR"/>
              <a:t>e.g. hair, brushed metal, ornaments</a:t>
            </a:r>
          </a:p>
        </p:txBody>
      </p:sp>
      <p:sp>
        <p:nvSpPr>
          <p:cNvPr id="427012" name="Rectangle 4">
            <a:extLst>
              <a:ext uri="{FF2B5EF4-FFF2-40B4-BE49-F238E27FC236}">
                <a16:creationId xmlns:a16="http://schemas.microsoft.com/office/drawing/2014/main" id="{7AFC9252-7E2D-6569-901A-875C8FB83972}"/>
              </a:ext>
            </a:extLst>
          </p:cNvPr>
          <p:cNvSpPr>
            <a:spLocks noGrp="1" noChangeArrowheads="1"/>
          </p:cNvSpPr>
          <p:nvPr>
            <p:ph type="body" sz="half" idx="2"/>
          </p:nvPr>
        </p:nvSpPr>
        <p:spPr>
          <a:xfrm>
            <a:off x="4427538" y="1447800"/>
            <a:ext cx="4537075" cy="4114800"/>
          </a:xfrm>
        </p:spPr>
        <p:txBody>
          <a:bodyPr/>
          <a:lstStyle/>
          <a:p>
            <a:r>
              <a:rPr lang="en-US" altLang="tr-TR" sz="2800"/>
              <a:t>3-D BRDF </a:t>
            </a:r>
            <a:r>
              <a:rPr lang="en-US" altLang="tr-TR" sz="2800" i="1"/>
              <a:t>f</a:t>
            </a:r>
            <a:r>
              <a:rPr lang="en-US" altLang="tr-TR" sz="2800" i="1" baseline="-25000"/>
              <a:t>r</a:t>
            </a:r>
            <a:r>
              <a:rPr lang="en-US" altLang="tr-TR" sz="2800"/>
              <a:t>(</a:t>
            </a:r>
            <a:r>
              <a:rPr lang="en-US" altLang="tr-TR" sz="2800" i="1">
                <a:latin typeface="Symbol" pitchFamily="2" charset="2"/>
              </a:rPr>
              <a:t>q</a:t>
            </a:r>
            <a:r>
              <a:rPr lang="en-US" altLang="tr-TR" sz="2800" i="1" baseline="-25000"/>
              <a:t>i</a:t>
            </a:r>
            <a:r>
              <a:rPr lang="en-US" altLang="tr-TR" sz="2800"/>
              <a:t>, </a:t>
            </a:r>
            <a:r>
              <a:rPr lang="en-US" altLang="tr-TR" sz="2800" i="1">
                <a:latin typeface="Symbol" pitchFamily="2" charset="2"/>
              </a:rPr>
              <a:t>q</a:t>
            </a:r>
            <a:r>
              <a:rPr lang="en-US" altLang="tr-TR" sz="2800" i="1" baseline="-25000"/>
              <a:t>r</a:t>
            </a:r>
            <a:r>
              <a:rPr lang="en-US" altLang="tr-TR" sz="2800"/>
              <a:t>, </a:t>
            </a:r>
            <a:r>
              <a:rPr lang="en-US" altLang="tr-TR" sz="2800" i="1">
                <a:latin typeface="Symbol" pitchFamily="2" charset="2"/>
              </a:rPr>
              <a:t>f</a:t>
            </a:r>
            <a:r>
              <a:rPr lang="en-US" altLang="tr-TR" sz="2800" i="1" baseline="-25000"/>
              <a:t>i</a:t>
            </a:r>
            <a:r>
              <a:rPr lang="en-US" altLang="tr-TR" sz="2800"/>
              <a:t> – </a:t>
            </a:r>
            <a:r>
              <a:rPr lang="en-US" altLang="tr-TR" sz="2800" i="1">
                <a:latin typeface="Symbol" pitchFamily="2" charset="2"/>
              </a:rPr>
              <a:t>f</a:t>
            </a:r>
            <a:r>
              <a:rPr lang="en-US" altLang="tr-TR" sz="2800" i="1" baseline="-25000"/>
              <a:t>r</a:t>
            </a:r>
            <a:r>
              <a:rPr lang="en-US" altLang="tr-TR" sz="2800"/>
              <a:t>)</a:t>
            </a:r>
          </a:p>
          <a:p>
            <a:pPr lvl="1"/>
            <a:r>
              <a:rPr lang="en-US" altLang="tr-TR"/>
              <a:t>Isotropic, independent of incoming azimuth</a:t>
            </a:r>
          </a:p>
          <a:p>
            <a:pPr lvl="1"/>
            <a:r>
              <a:rPr lang="en-US" altLang="tr-TR"/>
              <a:t>e.g. Phong highlight</a:t>
            </a:r>
          </a:p>
          <a:p>
            <a:r>
              <a:rPr lang="en-US" altLang="tr-TR" sz="3200"/>
              <a:t>1-D BRDF </a:t>
            </a:r>
            <a:r>
              <a:rPr lang="en-US" altLang="tr-TR" sz="3200" i="1"/>
              <a:t>f</a:t>
            </a:r>
            <a:r>
              <a:rPr lang="en-US" altLang="tr-TR" sz="3200" i="1" baseline="-25000"/>
              <a:t>r</a:t>
            </a:r>
            <a:r>
              <a:rPr lang="en-US" altLang="tr-TR" sz="3200"/>
              <a:t>(</a:t>
            </a:r>
            <a:r>
              <a:rPr lang="en-US" altLang="tr-TR" sz="3200" i="1">
                <a:latin typeface="Symbol" pitchFamily="2" charset="2"/>
              </a:rPr>
              <a:t>q</a:t>
            </a:r>
            <a:r>
              <a:rPr lang="en-US" altLang="tr-TR" sz="3200" i="1" baseline="-25000"/>
              <a:t>i</a:t>
            </a:r>
            <a:r>
              <a:rPr lang="en-US" altLang="tr-TR" sz="3200"/>
              <a:t>)</a:t>
            </a:r>
          </a:p>
          <a:p>
            <a:pPr lvl="1"/>
            <a:r>
              <a:rPr lang="en-US" altLang="tr-TR"/>
              <a:t>Perfectly diffuse</a:t>
            </a:r>
          </a:p>
          <a:p>
            <a:pPr lvl="1"/>
            <a:r>
              <a:rPr lang="en-US" altLang="tr-TR"/>
              <a:t>e.g. Lambertian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034" name="Rectangle 2">
            <a:extLst>
              <a:ext uri="{FF2B5EF4-FFF2-40B4-BE49-F238E27FC236}">
                <a16:creationId xmlns:a16="http://schemas.microsoft.com/office/drawing/2014/main" id="{CDD2696E-648F-BF9A-6D8C-F3DF01D30CD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tr-TR"/>
              <a:t>BRDF Attributes</a:t>
            </a:r>
          </a:p>
        </p:txBody>
      </p:sp>
      <p:sp>
        <p:nvSpPr>
          <p:cNvPr id="428035" name="Rectangle 3">
            <a:extLst>
              <a:ext uri="{FF2B5EF4-FFF2-40B4-BE49-F238E27FC236}">
                <a16:creationId xmlns:a16="http://schemas.microsoft.com/office/drawing/2014/main" id="{EA6DA00C-4C14-2F26-0B30-0600EFDD51B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23850" y="1557338"/>
            <a:ext cx="7772400" cy="472440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tr-TR"/>
              <a:t>Helmholtz Reciprocity</a:t>
            </a:r>
          </a:p>
          <a:p>
            <a:pPr algn="ctr">
              <a:lnSpc>
                <a:spcPct val="90000"/>
              </a:lnSpc>
              <a:buFontTx/>
              <a:buNone/>
            </a:pPr>
            <a:r>
              <a:rPr lang="en-US" altLang="tr-TR" i="1"/>
              <a:t> f</a:t>
            </a:r>
            <a:r>
              <a:rPr lang="en-US" altLang="tr-TR" i="1" baseline="-25000"/>
              <a:t>r</a:t>
            </a:r>
            <a:r>
              <a:rPr lang="en-US" altLang="tr-TR"/>
              <a:t>(</a:t>
            </a:r>
            <a:r>
              <a:rPr lang="en-US" altLang="tr-TR" i="1">
                <a:latin typeface="Symbol" pitchFamily="2" charset="2"/>
              </a:rPr>
              <a:t>w</a:t>
            </a:r>
            <a:r>
              <a:rPr lang="en-US" altLang="tr-TR" i="1" baseline="-25000"/>
              <a:t>i</a:t>
            </a:r>
            <a:r>
              <a:rPr lang="en-US" altLang="tr-TR"/>
              <a:t>, </a:t>
            </a:r>
            <a:r>
              <a:rPr lang="en-US" altLang="tr-TR" i="1">
                <a:latin typeface="Symbol" pitchFamily="2" charset="2"/>
              </a:rPr>
              <a:t>w</a:t>
            </a:r>
            <a:r>
              <a:rPr lang="en-US" altLang="tr-TR" i="1" baseline="-25000"/>
              <a:t>r</a:t>
            </a:r>
            <a:r>
              <a:rPr lang="en-US" altLang="tr-TR"/>
              <a:t>) = </a:t>
            </a:r>
            <a:r>
              <a:rPr lang="en-US" altLang="tr-TR" i="1"/>
              <a:t>f</a:t>
            </a:r>
            <a:r>
              <a:rPr lang="en-US" altLang="tr-TR" i="1" baseline="-25000"/>
              <a:t>r</a:t>
            </a:r>
            <a:r>
              <a:rPr lang="en-US" altLang="tr-TR"/>
              <a:t>(</a:t>
            </a:r>
            <a:r>
              <a:rPr lang="en-US" altLang="tr-TR" i="1">
                <a:latin typeface="Symbol" pitchFamily="2" charset="2"/>
              </a:rPr>
              <a:t>w</a:t>
            </a:r>
            <a:r>
              <a:rPr lang="en-US" altLang="tr-TR" i="1" baseline="-25000"/>
              <a:t>r</a:t>
            </a:r>
            <a:r>
              <a:rPr lang="en-US" altLang="tr-TR"/>
              <a:t>, </a:t>
            </a:r>
            <a:r>
              <a:rPr lang="en-US" altLang="tr-TR" i="1">
                <a:latin typeface="Symbol" pitchFamily="2" charset="2"/>
              </a:rPr>
              <a:t>w</a:t>
            </a:r>
            <a:r>
              <a:rPr lang="en-US" altLang="tr-TR" i="1" baseline="-25000"/>
              <a:t>i</a:t>
            </a:r>
            <a:r>
              <a:rPr lang="en-US" altLang="tr-TR"/>
              <a:t>)</a:t>
            </a:r>
          </a:p>
          <a:p>
            <a:pPr lvl="1">
              <a:lnSpc>
                <a:spcPct val="90000"/>
              </a:lnSpc>
            </a:pPr>
            <a:r>
              <a:rPr lang="en-US" altLang="tr-TR"/>
              <a:t>Materials are not a one-way street</a:t>
            </a:r>
          </a:p>
          <a:p>
            <a:pPr lvl="1">
              <a:lnSpc>
                <a:spcPct val="90000"/>
              </a:lnSpc>
            </a:pPr>
            <a:r>
              <a:rPr lang="en-US" altLang="tr-TR"/>
              <a:t>Incoming to outgoing pathway same as outgoing to incoming pathway</a:t>
            </a:r>
          </a:p>
          <a:p>
            <a:pPr>
              <a:lnSpc>
                <a:spcPct val="90000"/>
              </a:lnSpc>
            </a:pPr>
            <a:r>
              <a:rPr lang="en-US" altLang="tr-TR"/>
              <a:t>Conservation of Energy</a:t>
            </a:r>
          </a:p>
          <a:p>
            <a:pPr lvl="1">
              <a:lnSpc>
                <a:spcPct val="90000"/>
              </a:lnSpc>
            </a:pPr>
            <a:r>
              <a:rPr lang="en-US" altLang="tr-TR"/>
              <a:t>When integrated, must add to less than one</a:t>
            </a:r>
          </a:p>
          <a:p>
            <a:pPr lvl="1">
              <a:lnSpc>
                <a:spcPct val="90000"/>
              </a:lnSpc>
            </a:pPr>
            <a:r>
              <a:rPr lang="en-US" altLang="tr-TR"/>
              <a:t>Materials must not add energy (except for lights)</a:t>
            </a:r>
          </a:p>
          <a:p>
            <a:pPr lvl="1">
              <a:lnSpc>
                <a:spcPct val="90000"/>
              </a:lnSpc>
            </a:pPr>
            <a:r>
              <a:rPr lang="en-US" altLang="tr-TR"/>
              <a:t>Materials must absorb some amount of energy</a:t>
            </a:r>
          </a:p>
        </p:txBody>
      </p:sp>
      <p:sp>
        <p:nvSpPr>
          <p:cNvPr id="428036" name="Line 4">
            <a:extLst>
              <a:ext uri="{FF2B5EF4-FFF2-40B4-BE49-F238E27FC236}">
                <a16:creationId xmlns:a16="http://schemas.microsoft.com/office/drawing/2014/main" id="{88A8EFC5-2C91-5A21-118C-0454179ADB0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172200" y="1905000"/>
            <a:ext cx="3810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28037" name="Line 5">
            <a:extLst>
              <a:ext uri="{FF2B5EF4-FFF2-40B4-BE49-F238E27FC236}">
                <a16:creationId xmlns:a16="http://schemas.microsoft.com/office/drawing/2014/main" id="{ECDB3D68-0CDF-0301-7967-DA10B70E5715}"/>
              </a:ext>
            </a:extLst>
          </p:cNvPr>
          <p:cNvSpPr>
            <a:spLocks noChangeShapeType="1"/>
          </p:cNvSpPr>
          <p:nvPr/>
        </p:nvSpPr>
        <p:spPr bwMode="auto">
          <a:xfrm>
            <a:off x="6553200" y="1905000"/>
            <a:ext cx="3048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28038" name="Line 6">
            <a:extLst>
              <a:ext uri="{FF2B5EF4-FFF2-40B4-BE49-F238E27FC236}">
                <a16:creationId xmlns:a16="http://schemas.microsoft.com/office/drawing/2014/main" id="{57BF9D01-B2CD-DE4A-9E5C-656F7202BAF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858000" y="1905000"/>
            <a:ext cx="3810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28039" name="Line 7">
            <a:extLst>
              <a:ext uri="{FF2B5EF4-FFF2-40B4-BE49-F238E27FC236}">
                <a16:creationId xmlns:a16="http://schemas.microsoft.com/office/drawing/2014/main" id="{225D27E6-70C8-2D1A-EA37-9A20579E9D4E}"/>
              </a:ext>
            </a:extLst>
          </p:cNvPr>
          <p:cNvSpPr>
            <a:spLocks noChangeShapeType="1"/>
          </p:cNvSpPr>
          <p:nvPr/>
        </p:nvSpPr>
        <p:spPr bwMode="auto">
          <a:xfrm>
            <a:off x="7239000" y="1905000"/>
            <a:ext cx="3048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28040" name="Line 8">
            <a:extLst>
              <a:ext uri="{FF2B5EF4-FFF2-40B4-BE49-F238E27FC236}">
                <a16:creationId xmlns:a16="http://schemas.microsoft.com/office/drawing/2014/main" id="{7AD982B0-DBBE-8168-3711-C1B939E79D7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629400" y="381000"/>
            <a:ext cx="1371600" cy="160020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28041" name="Line 9">
            <a:extLst>
              <a:ext uri="{FF2B5EF4-FFF2-40B4-BE49-F238E27FC236}">
                <a16:creationId xmlns:a16="http://schemas.microsoft.com/office/drawing/2014/main" id="{F4A1CE68-39C4-82A6-B94B-CEA5ED73A14E}"/>
              </a:ext>
            </a:extLst>
          </p:cNvPr>
          <p:cNvSpPr>
            <a:spLocks noChangeShapeType="1"/>
          </p:cNvSpPr>
          <p:nvPr/>
        </p:nvSpPr>
        <p:spPr bwMode="auto">
          <a:xfrm>
            <a:off x="6629400" y="1981200"/>
            <a:ext cx="533400" cy="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28042" name="Line 10">
            <a:extLst>
              <a:ext uri="{FF2B5EF4-FFF2-40B4-BE49-F238E27FC236}">
                <a16:creationId xmlns:a16="http://schemas.microsoft.com/office/drawing/2014/main" id="{BD58F235-8E32-723B-7526-5B833DC39F29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6248400" y="228600"/>
            <a:ext cx="914400" cy="175260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28043" name="Line 11">
            <a:extLst>
              <a:ext uri="{FF2B5EF4-FFF2-40B4-BE49-F238E27FC236}">
                <a16:creationId xmlns:a16="http://schemas.microsoft.com/office/drawing/2014/main" id="{202E660B-88A7-78CD-CBF9-0D3A95BA15FD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6172200" y="304800"/>
            <a:ext cx="914400" cy="175260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28044" name="Line 12">
            <a:extLst>
              <a:ext uri="{FF2B5EF4-FFF2-40B4-BE49-F238E27FC236}">
                <a16:creationId xmlns:a16="http://schemas.microsoft.com/office/drawing/2014/main" id="{B8B093F2-EA19-06F3-F700-F967EC44CF63}"/>
              </a:ext>
            </a:extLst>
          </p:cNvPr>
          <p:cNvSpPr>
            <a:spLocks noChangeShapeType="1"/>
          </p:cNvSpPr>
          <p:nvPr/>
        </p:nvSpPr>
        <p:spPr bwMode="auto">
          <a:xfrm>
            <a:off x="6629400" y="2057400"/>
            <a:ext cx="457200" cy="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28045" name="Line 13">
            <a:extLst>
              <a:ext uri="{FF2B5EF4-FFF2-40B4-BE49-F238E27FC236}">
                <a16:creationId xmlns:a16="http://schemas.microsoft.com/office/drawing/2014/main" id="{A4415642-AF45-0599-989F-B15D45CED01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629400" y="457200"/>
            <a:ext cx="1371600" cy="160020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058" name="Rectangle 2">
            <a:extLst>
              <a:ext uri="{FF2B5EF4-FFF2-40B4-BE49-F238E27FC236}">
                <a16:creationId xmlns:a16="http://schemas.microsoft.com/office/drawing/2014/main" id="{253C87F8-1229-5CA7-675F-79E6547D426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95288" y="260350"/>
            <a:ext cx="6248400" cy="1066800"/>
          </a:xfrm>
        </p:spPr>
        <p:txBody>
          <a:bodyPr/>
          <a:lstStyle/>
          <a:p>
            <a:r>
              <a:rPr lang="en-US" altLang="tr-TR"/>
              <a:t>Diffuse Reflection</a:t>
            </a:r>
          </a:p>
        </p:txBody>
      </p:sp>
      <p:sp>
        <p:nvSpPr>
          <p:cNvPr id="429059" name="Rectangle 3">
            <a:extLst>
              <a:ext uri="{FF2B5EF4-FFF2-40B4-BE49-F238E27FC236}">
                <a16:creationId xmlns:a16="http://schemas.microsoft.com/office/drawing/2014/main" id="{24B0AB28-FA54-B7A7-93E2-FF74DFBDFBF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1524000"/>
            <a:ext cx="3886200" cy="472440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tr-TR" i="1"/>
              <a:t> </a:t>
            </a:r>
            <a:r>
              <a:rPr lang="en-US" altLang="tr-TR" i="1">
                <a:latin typeface="Symbol" pitchFamily="2" charset="2"/>
              </a:rPr>
              <a:t>r</a:t>
            </a:r>
            <a:r>
              <a:rPr lang="en-US" altLang="tr-TR" i="1" baseline="-25000"/>
              <a:t>d</a:t>
            </a:r>
            <a:r>
              <a:rPr lang="en-US" altLang="tr-TR"/>
              <a:t> = 1</a:t>
            </a:r>
          </a:p>
          <a:p>
            <a:pPr>
              <a:lnSpc>
                <a:spcPct val="90000"/>
              </a:lnSpc>
            </a:pPr>
            <a:r>
              <a:rPr lang="en-US" altLang="tr-TR"/>
              <a:t>Uniform</a:t>
            </a:r>
          </a:p>
          <a:p>
            <a:pPr lvl="1">
              <a:lnSpc>
                <a:spcPct val="90000"/>
              </a:lnSpc>
            </a:pPr>
            <a:r>
              <a:rPr lang="en-US" altLang="tr-TR"/>
              <a:t>Sends equal amounts of light in all directions</a:t>
            </a:r>
          </a:p>
          <a:p>
            <a:pPr lvl="1">
              <a:lnSpc>
                <a:spcPct val="90000"/>
              </a:lnSpc>
            </a:pPr>
            <a:r>
              <a:rPr lang="en-US" altLang="tr-TR"/>
              <a:t>Amount depends on angle of incidence</a:t>
            </a:r>
          </a:p>
          <a:p>
            <a:pPr>
              <a:lnSpc>
                <a:spcPct val="90000"/>
              </a:lnSpc>
            </a:pPr>
            <a:r>
              <a:rPr lang="en-US" altLang="tr-TR"/>
              <a:t>Perfect</a:t>
            </a:r>
          </a:p>
          <a:p>
            <a:pPr lvl="1">
              <a:lnSpc>
                <a:spcPct val="90000"/>
              </a:lnSpc>
            </a:pPr>
            <a:r>
              <a:rPr lang="en-US" altLang="tr-TR"/>
              <a:t>all incoming light is reflected</a:t>
            </a:r>
          </a:p>
          <a:p>
            <a:pPr lvl="1">
              <a:lnSpc>
                <a:spcPct val="90000"/>
              </a:lnSpc>
            </a:pPr>
            <a:r>
              <a:rPr lang="en-US" altLang="tr-TR"/>
              <a:t>no absorption</a:t>
            </a:r>
          </a:p>
        </p:txBody>
      </p:sp>
      <p:sp>
        <p:nvSpPr>
          <p:cNvPr id="429060" name="Line 4">
            <a:extLst>
              <a:ext uri="{FF2B5EF4-FFF2-40B4-BE49-F238E27FC236}">
                <a16:creationId xmlns:a16="http://schemas.microsoft.com/office/drawing/2014/main" id="{213B3262-4DB8-9ECC-AD38-463B491DA4D6}"/>
              </a:ext>
            </a:extLst>
          </p:cNvPr>
          <p:cNvSpPr>
            <a:spLocks noChangeShapeType="1"/>
          </p:cNvSpPr>
          <p:nvPr/>
        </p:nvSpPr>
        <p:spPr bwMode="auto">
          <a:xfrm>
            <a:off x="5486400" y="1674813"/>
            <a:ext cx="2590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29061" name="Arc 5">
            <a:extLst>
              <a:ext uri="{FF2B5EF4-FFF2-40B4-BE49-F238E27FC236}">
                <a16:creationId xmlns:a16="http://schemas.microsoft.com/office/drawing/2014/main" id="{F1A71040-7021-8F2E-A90A-501AAE7BDAB0}"/>
              </a:ext>
            </a:extLst>
          </p:cNvPr>
          <p:cNvSpPr>
            <a:spLocks/>
          </p:cNvSpPr>
          <p:nvPr/>
        </p:nvSpPr>
        <p:spPr bwMode="auto">
          <a:xfrm>
            <a:off x="5637213" y="455613"/>
            <a:ext cx="2287587" cy="1220787"/>
          </a:xfrm>
          <a:custGeom>
            <a:avLst/>
            <a:gdLst>
              <a:gd name="G0" fmla="+- 21599 0 0"/>
              <a:gd name="G1" fmla="+- 21600 0 0"/>
              <a:gd name="G2" fmla="+- 21600 0 0"/>
              <a:gd name="T0" fmla="*/ 0 w 43199"/>
              <a:gd name="T1" fmla="*/ 21413 h 21600"/>
              <a:gd name="T2" fmla="*/ 43199 w 43199"/>
              <a:gd name="T3" fmla="*/ 21600 h 21600"/>
              <a:gd name="T4" fmla="*/ 21599 w 43199"/>
              <a:gd name="T5" fmla="*/ 216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43199" h="21600" fill="none" extrusionOk="0">
                <a:moveTo>
                  <a:pt x="-1" y="21412"/>
                </a:moveTo>
                <a:cubicBezTo>
                  <a:pt x="102" y="9557"/>
                  <a:pt x="9742" y="0"/>
                  <a:pt x="21599" y="0"/>
                </a:cubicBezTo>
                <a:cubicBezTo>
                  <a:pt x="33528" y="0"/>
                  <a:pt x="43199" y="9670"/>
                  <a:pt x="43199" y="21600"/>
                </a:cubicBezTo>
              </a:path>
              <a:path w="43199" h="21600" stroke="0" extrusionOk="0">
                <a:moveTo>
                  <a:pt x="-1" y="21412"/>
                </a:moveTo>
                <a:cubicBezTo>
                  <a:pt x="102" y="9557"/>
                  <a:pt x="9742" y="0"/>
                  <a:pt x="21599" y="0"/>
                </a:cubicBezTo>
                <a:cubicBezTo>
                  <a:pt x="33528" y="0"/>
                  <a:pt x="43199" y="9670"/>
                  <a:pt x="43199" y="21600"/>
                </a:cubicBezTo>
                <a:lnTo>
                  <a:pt x="21599" y="21600"/>
                </a:lnTo>
                <a:close/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29062" name="Line 6">
            <a:extLst>
              <a:ext uri="{FF2B5EF4-FFF2-40B4-BE49-F238E27FC236}">
                <a16:creationId xmlns:a16="http://schemas.microsoft.com/office/drawing/2014/main" id="{0965C149-CA40-5601-7D55-7C397C636CC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781800" y="533400"/>
            <a:ext cx="1828800" cy="11430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29063" name="Text Box 7">
            <a:extLst>
              <a:ext uri="{FF2B5EF4-FFF2-40B4-BE49-F238E27FC236}">
                <a16:creationId xmlns:a16="http://schemas.microsoft.com/office/drawing/2014/main" id="{34888AF8-355B-52F3-C855-B8536011D61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77150" y="747713"/>
            <a:ext cx="290513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altLang="tr-TR" sz="1600" i="1">
                <a:latin typeface="Symbol" pitchFamily="2" charset="2"/>
              </a:rPr>
              <a:t>q</a:t>
            </a:r>
            <a:endParaRPr lang="en-US" altLang="tr-TR" sz="1600" baseline="-25000"/>
          </a:p>
        </p:txBody>
      </p:sp>
      <p:sp>
        <p:nvSpPr>
          <p:cNvPr id="429064" name="Line 8">
            <a:extLst>
              <a:ext uri="{FF2B5EF4-FFF2-40B4-BE49-F238E27FC236}">
                <a16:creationId xmlns:a16="http://schemas.microsoft.com/office/drawing/2014/main" id="{A8C36A84-1C53-31AC-F5FC-5936D5692EE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781800" y="457200"/>
            <a:ext cx="0" cy="1219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29065" name="Line 9">
            <a:extLst>
              <a:ext uri="{FF2B5EF4-FFF2-40B4-BE49-F238E27FC236}">
                <a16:creationId xmlns:a16="http://schemas.microsoft.com/office/drawing/2014/main" id="{1F61C2D8-0A40-9459-13A7-D54CF80986E3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6400800" y="533400"/>
            <a:ext cx="381000" cy="1143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29066" name="Line 10">
            <a:extLst>
              <a:ext uri="{FF2B5EF4-FFF2-40B4-BE49-F238E27FC236}">
                <a16:creationId xmlns:a16="http://schemas.microsoft.com/office/drawing/2014/main" id="{09EAEEF1-D14E-8004-BCF8-A72EC4CA211D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6019800" y="762000"/>
            <a:ext cx="762000" cy="914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29067" name="Line 11">
            <a:extLst>
              <a:ext uri="{FF2B5EF4-FFF2-40B4-BE49-F238E27FC236}">
                <a16:creationId xmlns:a16="http://schemas.microsoft.com/office/drawing/2014/main" id="{90F8E34A-8850-CB90-37F9-AD9ECE426F64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5715000" y="1219200"/>
            <a:ext cx="10668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29068" name="Line 12">
            <a:extLst>
              <a:ext uri="{FF2B5EF4-FFF2-40B4-BE49-F238E27FC236}">
                <a16:creationId xmlns:a16="http://schemas.microsoft.com/office/drawing/2014/main" id="{45A84ADE-68EC-4C18-D773-AB1B101CBE5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781800" y="561975"/>
            <a:ext cx="474663" cy="11144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29069" name="Line 13">
            <a:extLst>
              <a:ext uri="{FF2B5EF4-FFF2-40B4-BE49-F238E27FC236}">
                <a16:creationId xmlns:a16="http://schemas.microsoft.com/office/drawing/2014/main" id="{1D3F7E77-9B9C-275E-D80F-7B0A060068D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781800" y="804863"/>
            <a:ext cx="819150" cy="87153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29070" name="Line 14">
            <a:extLst>
              <a:ext uri="{FF2B5EF4-FFF2-40B4-BE49-F238E27FC236}">
                <a16:creationId xmlns:a16="http://schemas.microsoft.com/office/drawing/2014/main" id="{594D4252-8C5F-D721-C269-22AFFD54D28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781800" y="1166813"/>
            <a:ext cx="1028700" cy="5095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graphicFrame>
        <p:nvGraphicFramePr>
          <p:cNvPr id="429071" name="Object 15">
            <a:extLst>
              <a:ext uri="{FF2B5EF4-FFF2-40B4-BE49-F238E27FC236}">
                <a16:creationId xmlns:a16="http://schemas.microsoft.com/office/drawing/2014/main" id="{2642F258-B095-B28C-6DA6-849F3A93853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495800" y="2057400"/>
          <a:ext cx="4378325" cy="4354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52374800" imgH="52082700" progId="Equation.3">
                  <p:embed/>
                </p:oleObj>
              </mc:Choice>
              <mc:Fallback>
                <p:oleObj name="Equation" r:id="rId3" imgW="52374800" imgH="52082700" progId="Equation.3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95800" y="2057400"/>
                        <a:ext cx="4378325" cy="43545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082" name="Rectangle 2">
            <a:extLst>
              <a:ext uri="{FF2B5EF4-FFF2-40B4-BE49-F238E27FC236}">
                <a16:creationId xmlns:a16="http://schemas.microsoft.com/office/drawing/2014/main" id="{E816F942-AD16-0B8C-03E5-F0311684C32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-180975" y="260350"/>
            <a:ext cx="6248400" cy="1066800"/>
          </a:xfrm>
        </p:spPr>
        <p:txBody>
          <a:bodyPr/>
          <a:lstStyle/>
          <a:p>
            <a:r>
              <a:rPr lang="en-US" altLang="tr-TR"/>
              <a:t>Modeling BRDF’s  	</a:t>
            </a:r>
          </a:p>
        </p:txBody>
      </p:sp>
      <p:sp>
        <p:nvSpPr>
          <p:cNvPr id="430083" name="Rectangle 3">
            <a:extLst>
              <a:ext uri="{FF2B5EF4-FFF2-40B4-BE49-F238E27FC236}">
                <a16:creationId xmlns:a16="http://schemas.microsoft.com/office/drawing/2014/main" id="{F00C730C-3B46-9FB3-F1D4-833D5CD8BF4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68313" y="1125538"/>
            <a:ext cx="4248150" cy="472440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tr-TR" sz="2400"/>
              <a:t>Mathematical derivation</a:t>
            </a:r>
          </a:p>
          <a:p>
            <a:pPr lvl="1">
              <a:lnSpc>
                <a:spcPct val="90000"/>
              </a:lnSpc>
            </a:pPr>
            <a:r>
              <a:rPr lang="en-US" altLang="tr-TR" sz="2400"/>
              <a:t>Use laws of physics, geometry</a:t>
            </a:r>
          </a:p>
          <a:p>
            <a:pPr lvl="1">
              <a:lnSpc>
                <a:spcPct val="90000"/>
              </a:lnSpc>
            </a:pPr>
            <a:r>
              <a:rPr lang="en-US" altLang="tr-TR" sz="2400"/>
              <a:t>Statistical model of idealized material</a:t>
            </a:r>
          </a:p>
          <a:p>
            <a:pPr>
              <a:lnSpc>
                <a:spcPct val="90000"/>
              </a:lnSpc>
            </a:pPr>
            <a:r>
              <a:rPr lang="en-US" altLang="tr-TR" sz="2400"/>
              <a:t>Simulation</a:t>
            </a:r>
          </a:p>
          <a:p>
            <a:pPr lvl="1">
              <a:lnSpc>
                <a:spcPct val="90000"/>
              </a:lnSpc>
            </a:pPr>
            <a:r>
              <a:rPr lang="en-US" altLang="tr-TR" sz="2400"/>
              <a:t>Model material directly</a:t>
            </a:r>
          </a:p>
          <a:p>
            <a:pPr lvl="1">
              <a:lnSpc>
                <a:spcPct val="90000"/>
              </a:lnSpc>
            </a:pPr>
            <a:r>
              <a:rPr lang="en-US" altLang="tr-TR" sz="2400"/>
              <a:t>Render light reflected onto hemisphere</a:t>
            </a:r>
          </a:p>
          <a:p>
            <a:pPr>
              <a:lnSpc>
                <a:spcPct val="90000"/>
              </a:lnSpc>
            </a:pPr>
            <a:r>
              <a:rPr lang="en-US" altLang="tr-TR" sz="2400"/>
              <a:t>Measurement</a:t>
            </a:r>
          </a:p>
          <a:p>
            <a:pPr lvl="1">
              <a:lnSpc>
                <a:spcPct val="90000"/>
              </a:lnSpc>
            </a:pPr>
            <a:r>
              <a:rPr lang="en-US" altLang="tr-TR" sz="2400"/>
              <a:t>Reflect real light off of real material</a:t>
            </a:r>
          </a:p>
          <a:p>
            <a:pPr lvl="1">
              <a:lnSpc>
                <a:spcPct val="90000"/>
              </a:lnSpc>
            </a:pPr>
            <a:r>
              <a:rPr lang="en-US" altLang="tr-TR" sz="2400"/>
              <a:t>Gonioreflectometer</a:t>
            </a:r>
          </a:p>
        </p:txBody>
      </p:sp>
      <p:pic>
        <p:nvPicPr>
          <p:cNvPr id="430084" name="Picture 4">
            <a:extLst>
              <a:ext uri="{FF2B5EF4-FFF2-40B4-BE49-F238E27FC236}">
                <a16:creationId xmlns:a16="http://schemas.microsoft.com/office/drawing/2014/main" id="{CBAE498F-814D-CEE0-FA4A-C1F2DFE9D63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62600" y="152400"/>
            <a:ext cx="3417888" cy="254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30085" name="Picture 5">
            <a:extLst>
              <a:ext uri="{FF2B5EF4-FFF2-40B4-BE49-F238E27FC236}">
                <a16:creationId xmlns:a16="http://schemas.microsoft.com/office/drawing/2014/main" id="{6C85384E-0169-16EF-8F46-8076130014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97675" y="2895600"/>
            <a:ext cx="2193925" cy="33035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30086" name="Picture 6">
            <a:extLst>
              <a:ext uri="{FF2B5EF4-FFF2-40B4-BE49-F238E27FC236}">
                <a16:creationId xmlns:a16="http://schemas.microsoft.com/office/drawing/2014/main" id="{B304210C-E9E9-9B17-FDB6-A0E963B6C9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14800" y="3581400"/>
            <a:ext cx="2536825" cy="28463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106" name="Rectangle 2">
            <a:extLst>
              <a:ext uri="{FF2B5EF4-FFF2-40B4-BE49-F238E27FC236}">
                <a16:creationId xmlns:a16="http://schemas.microsoft.com/office/drawing/2014/main" id="{26CF886E-73D5-8915-FA74-B7F571F0AFD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tr-TR"/>
              <a:t>The Reflectivity</a:t>
            </a:r>
          </a:p>
        </p:txBody>
      </p:sp>
      <p:sp>
        <p:nvSpPr>
          <p:cNvPr id="431107" name="Rectangle 3">
            <a:extLst>
              <a:ext uri="{FF2B5EF4-FFF2-40B4-BE49-F238E27FC236}">
                <a16:creationId xmlns:a16="http://schemas.microsoft.com/office/drawing/2014/main" id="{4C6D1A09-D617-E66C-7CEC-76681D6542D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11188" y="1052513"/>
            <a:ext cx="4032250" cy="4724400"/>
          </a:xfrm>
        </p:spPr>
        <p:txBody>
          <a:bodyPr/>
          <a:lstStyle/>
          <a:p>
            <a:r>
              <a:rPr lang="en-US" altLang="tr-TR" sz="2400"/>
              <a:t>Measures the portion of incident irradiance (</a:t>
            </a:r>
            <a:r>
              <a:rPr lang="en-US" altLang="tr-TR" sz="2400" i="1"/>
              <a:t>E</a:t>
            </a:r>
            <a:r>
              <a:rPr lang="en-US" altLang="tr-TR" sz="2400" i="1" baseline="-25000"/>
              <a:t>i</a:t>
            </a:r>
            <a:r>
              <a:rPr lang="en-US" altLang="tr-TR" sz="2400"/>
              <a:t>) from direction </a:t>
            </a:r>
            <a:r>
              <a:rPr lang="en-US" altLang="tr-TR" sz="2400" i="1">
                <a:latin typeface="Symbol" pitchFamily="2" charset="2"/>
              </a:rPr>
              <a:t>w</a:t>
            </a:r>
            <a:r>
              <a:rPr lang="en-US" altLang="tr-TR" sz="2400" i="1" baseline="-25000"/>
              <a:t>i</a:t>
            </a:r>
            <a:r>
              <a:rPr lang="en-US" altLang="tr-TR" sz="2400" baseline="-25000"/>
              <a:t> </a:t>
            </a:r>
            <a:r>
              <a:rPr lang="en-US" altLang="tr-TR" sz="2400"/>
              <a:t>that is reflected as intensity (</a:t>
            </a:r>
            <a:r>
              <a:rPr lang="en-US" altLang="tr-TR" sz="2400" i="1"/>
              <a:t>I</a:t>
            </a:r>
            <a:r>
              <a:rPr lang="en-US" altLang="tr-TR" sz="2400" i="1" baseline="-25000"/>
              <a:t>r</a:t>
            </a:r>
            <a:r>
              <a:rPr lang="en-US" altLang="tr-TR" sz="2400"/>
              <a:t>) in direction </a:t>
            </a:r>
            <a:r>
              <a:rPr lang="en-US" altLang="tr-TR" sz="2400" i="1">
                <a:latin typeface="Symbol" pitchFamily="2" charset="2"/>
              </a:rPr>
              <a:t>w</a:t>
            </a:r>
            <a:r>
              <a:rPr lang="en-US" altLang="tr-TR" sz="2400" i="1" baseline="-25000"/>
              <a:t>r</a:t>
            </a:r>
            <a:endParaRPr lang="en-US" altLang="tr-TR" sz="2400" i="1"/>
          </a:p>
          <a:p>
            <a:pPr algn="ctr">
              <a:buFontTx/>
              <a:buNone/>
            </a:pPr>
            <a:r>
              <a:rPr lang="en-US" altLang="tr-TR" sz="2400" i="1">
                <a:latin typeface="Symbol" pitchFamily="2" charset="2"/>
              </a:rPr>
              <a:t>r</a:t>
            </a:r>
            <a:r>
              <a:rPr lang="en-US" altLang="tr-TR" sz="2400">
                <a:latin typeface="Symbol" pitchFamily="2" charset="2"/>
              </a:rPr>
              <a:t>(</a:t>
            </a:r>
            <a:r>
              <a:rPr lang="en-US" altLang="tr-TR" sz="2400" i="1">
                <a:latin typeface="Symbol" pitchFamily="2" charset="2"/>
              </a:rPr>
              <a:t>w</a:t>
            </a:r>
            <a:r>
              <a:rPr lang="en-US" altLang="tr-TR" sz="2400" i="1" baseline="-25000"/>
              <a:t>i</a:t>
            </a:r>
            <a:r>
              <a:rPr lang="en-US" altLang="tr-TR" sz="2400"/>
              <a:t>, </a:t>
            </a:r>
            <a:r>
              <a:rPr lang="en-US" altLang="tr-TR" sz="2400" i="1">
                <a:latin typeface="Symbol" pitchFamily="2" charset="2"/>
              </a:rPr>
              <a:t>w</a:t>
            </a:r>
            <a:r>
              <a:rPr lang="en-US" altLang="tr-TR" sz="2400" i="1" baseline="-25000"/>
              <a:t>r</a:t>
            </a:r>
            <a:r>
              <a:rPr lang="en-US" altLang="tr-TR" sz="2400">
                <a:latin typeface="Symbol" pitchFamily="2" charset="2"/>
              </a:rPr>
              <a:t>)</a:t>
            </a:r>
            <a:r>
              <a:rPr lang="en-US" altLang="tr-TR" sz="2400"/>
              <a:t> = </a:t>
            </a:r>
            <a:r>
              <a:rPr lang="en-US" altLang="tr-TR" sz="2400" i="1"/>
              <a:t>dI</a:t>
            </a:r>
            <a:r>
              <a:rPr lang="en-US" altLang="tr-TR" sz="2400" i="1" baseline="-25000"/>
              <a:t>r </a:t>
            </a:r>
            <a:r>
              <a:rPr lang="en-US" altLang="tr-TR" sz="2400"/>
              <a:t>/</a:t>
            </a:r>
            <a:r>
              <a:rPr lang="en-US" altLang="tr-TR" sz="2400" i="1"/>
              <a:t>dE</a:t>
            </a:r>
            <a:r>
              <a:rPr lang="en-US" altLang="tr-TR" sz="2400" i="1" baseline="-25000"/>
              <a:t>i</a:t>
            </a:r>
            <a:endParaRPr lang="en-US" altLang="tr-TR" sz="2400"/>
          </a:p>
          <a:p>
            <a:r>
              <a:rPr lang="en-US" altLang="tr-TR" sz="2400"/>
              <a:t>The reflected intensity is the forshortened incident intensity scaled by the reflectivity </a:t>
            </a:r>
          </a:p>
          <a:p>
            <a:pPr algn="ctr">
              <a:buFontTx/>
              <a:buNone/>
            </a:pPr>
            <a:r>
              <a:rPr lang="en-US" altLang="tr-TR" sz="2400" i="1"/>
              <a:t>I</a:t>
            </a:r>
            <a:r>
              <a:rPr lang="en-US" altLang="tr-TR" sz="2400" i="1" baseline="-25000"/>
              <a:t>r</a:t>
            </a:r>
            <a:r>
              <a:rPr lang="en-US" altLang="tr-TR" sz="2400"/>
              <a:t> = </a:t>
            </a:r>
            <a:r>
              <a:rPr lang="en-US" altLang="tr-TR" sz="2400" i="1">
                <a:latin typeface="Symbol" pitchFamily="2" charset="2"/>
              </a:rPr>
              <a:t>r</a:t>
            </a:r>
            <a:r>
              <a:rPr lang="en-US" altLang="tr-TR" sz="2400">
                <a:latin typeface="Symbol" pitchFamily="2" charset="2"/>
              </a:rPr>
              <a:t>(</a:t>
            </a:r>
            <a:r>
              <a:rPr lang="en-US" altLang="tr-TR" sz="2400" i="1">
                <a:latin typeface="Symbol" pitchFamily="2" charset="2"/>
              </a:rPr>
              <a:t>w</a:t>
            </a:r>
            <a:r>
              <a:rPr lang="en-US" altLang="tr-TR" sz="2400" i="1" baseline="-25000"/>
              <a:t>i</a:t>
            </a:r>
            <a:r>
              <a:rPr lang="en-US" altLang="tr-TR" sz="2400"/>
              <a:t>, </a:t>
            </a:r>
            <a:r>
              <a:rPr lang="en-US" altLang="tr-TR" sz="2400" i="1">
                <a:latin typeface="Symbol" pitchFamily="2" charset="2"/>
              </a:rPr>
              <a:t>w</a:t>
            </a:r>
            <a:r>
              <a:rPr lang="en-US" altLang="tr-TR" sz="2400" i="1" baseline="-25000"/>
              <a:t>r</a:t>
            </a:r>
            <a:r>
              <a:rPr lang="en-US" altLang="tr-TR" sz="2400">
                <a:latin typeface="Symbol" pitchFamily="2" charset="2"/>
              </a:rPr>
              <a:t>)</a:t>
            </a:r>
            <a:r>
              <a:rPr lang="en-US" altLang="tr-TR" sz="2400"/>
              <a:t> </a:t>
            </a:r>
            <a:r>
              <a:rPr lang="en-US" altLang="tr-TR" sz="2400" i="1"/>
              <a:t>I</a:t>
            </a:r>
            <a:r>
              <a:rPr lang="en-US" altLang="tr-TR" sz="2400" i="1" baseline="-25000"/>
              <a:t>i</a:t>
            </a:r>
            <a:r>
              <a:rPr lang="en-US" altLang="tr-TR" sz="2400"/>
              <a:t> cos</a:t>
            </a:r>
            <a:r>
              <a:rPr lang="en-US" altLang="tr-TR" sz="2400" i="1">
                <a:latin typeface="Symbol" pitchFamily="2" charset="2"/>
              </a:rPr>
              <a:t>q</a:t>
            </a:r>
            <a:r>
              <a:rPr lang="en-US" altLang="tr-TR" sz="2400" i="1" baseline="-25000"/>
              <a:t>i</a:t>
            </a:r>
            <a:r>
              <a:rPr lang="en-US" altLang="tr-TR" sz="2400"/>
              <a:t> </a:t>
            </a:r>
            <a:r>
              <a:rPr lang="en-US" altLang="tr-TR" sz="2400" i="1"/>
              <a:t>d</a:t>
            </a:r>
            <a:r>
              <a:rPr lang="en-US" altLang="tr-TR" sz="2400" i="1">
                <a:latin typeface="Symbol" pitchFamily="2" charset="2"/>
              </a:rPr>
              <a:t>w</a:t>
            </a:r>
            <a:r>
              <a:rPr lang="en-US" altLang="tr-TR" sz="2400" i="1" baseline="-25000"/>
              <a:t>i</a:t>
            </a:r>
            <a:endParaRPr lang="en-US" altLang="tr-TR" sz="2400"/>
          </a:p>
          <a:p>
            <a:r>
              <a:rPr lang="en-US" altLang="tr-TR" sz="2400"/>
              <a:t>Sum of reflectance ranges from zero (blackbody) to less than </a:t>
            </a:r>
            <a:r>
              <a:rPr lang="en-US" altLang="tr-TR" sz="2400">
                <a:sym typeface="Symbol" pitchFamily="2" charset="2"/>
              </a:rPr>
              <a:t>one (conservation of energy)</a:t>
            </a:r>
          </a:p>
        </p:txBody>
      </p:sp>
      <p:sp>
        <p:nvSpPr>
          <p:cNvPr id="431108" name="Line 4">
            <a:extLst>
              <a:ext uri="{FF2B5EF4-FFF2-40B4-BE49-F238E27FC236}">
                <a16:creationId xmlns:a16="http://schemas.microsoft.com/office/drawing/2014/main" id="{A1C6B96B-681D-DFEB-EF54-9138455F362E}"/>
              </a:ext>
            </a:extLst>
          </p:cNvPr>
          <p:cNvSpPr>
            <a:spLocks noChangeShapeType="1"/>
          </p:cNvSpPr>
          <p:nvPr/>
        </p:nvSpPr>
        <p:spPr bwMode="auto">
          <a:xfrm>
            <a:off x="5762625" y="4498975"/>
            <a:ext cx="2590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31109" name="Arc 5">
            <a:extLst>
              <a:ext uri="{FF2B5EF4-FFF2-40B4-BE49-F238E27FC236}">
                <a16:creationId xmlns:a16="http://schemas.microsoft.com/office/drawing/2014/main" id="{635CEB4A-630C-68E2-2828-EC732D97BFB8}"/>
              </a:ext>
            </a:extLst>
          </p:cNvPr>
          <p:cNvSpPr>
            <a:spLocks/>
          </p:cNvSpPr>
          <p:nvPr/>
        </p:nvSpPr>
        <p:spPr bwMode="auto">
          <a:xfrm>
            <a:off x="5913438" y="3279775"/>
            <a:ext cx="2287587" cy="1220788"/>
          </a:xfrm>
          <a:custGeom>
            <a:avLst/>
            <a:gdLst>
              <a:gd name="G0" fmla="+- 21599 0 0"/>
              <a:gd name="G1" fmla="+- 21600 0 0"/>
              <a:gd name="G2" fmla="+- 21600 0 0"/>
              <a:gd name="T0" fmla="*/ 0 w 43199"/>
              <a:gd name="T1" fmla="*/ 21413 h 21600"/>
              <a:gd name="T2" fmla="*/ 43199 w 43199"/>
              <a:gd name="T3" fmla="*/ 21600 h 21600"/>
              <a:gd name="T4" fmla="*/ 21599 w 43199"/>
              <a:gd name="T5" fmla="*/ 216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43199" h="21600" fill="none" extrusionOk="0">
                <a:moveTo>
                  <a:pt x="-1" y="21412"/>
                </a:moveTo>
                <a:cubicBezTo>
                  <a:pt x="102" y="9557"/>
                  <a:pt x="9742" y="0"/>
                  <a:pt x="21599" y="0"/>
                </a:cubicBezTo>
                <a:cubicBezTo>
                  <a:pt x="33528" y="0"/>
                  <a:pt x="43199" y="9670"/>
                  <a:pt x="43199" y="21600"/>
                </a:cubicBezTo>
              </a:path>
              <a:path w="43199" h="21600" stroke="0" extrusionOk="0">
                <a:moveTo>
                  <a:pt x="-1" y="21412"/>
                </a:moveTo>
                <a:cubicBezTo>
                  <a:pt x="102" y="9557"/>
                  <a:pt x="9742" y="0"/>
                  <a:pt x="21599" y="0"/>
                </a:cubicBezTo>
                <a:cubicBezTo>
                  <a:pt x="33528" y="0"/>
                  <a:pt x="43199" y="9670"/>
                  <a:pt x="43199" y="21600"/>
                </a:cubicBezTo>
                <a:lnTo>
                  <a:pt x="21599" y="21600"/>
                </a:lnTo>
                <a:close/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31110" name="Line 6">
            <a:extLst>
              <a:ext uri="{FF2B5EF4-FFF2-40B4-BE49-F238E27FC236}">
                <a16:creationId xmlns:a16="http://schemas.microsoft.com/office/drawing/2014/main" id="{F9C416C6-500A-25FE-C03D-7F635B727585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629400" y="3357563"/>
            <a:ext cx="1828800" cy="1143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31111" name="Line 7">
            <a:extLst>
              <a:ext uri="{FF2B5EF4-FFF2-40B4-BE49-F238E27FC236}">
                <a16:creationId xmlns:a16="http://schemas.microsoft.com/office/drawing/2014/main" id="{C9BDBAD9-0BBD-5838-EC38-5E779C09FC4A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439025" y="3481388"/>
            <a:ext cx="1628775" cy="10191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31112" name="Text Box 8">
            <a:extLst>
              <a:ext uri="{FF2B5EF4-FFF2-40B4-BE49-F238E27FC236}">
                <a16:creationId xmlns:a16="http://schemas.microsoft.com/office/drawing/2014/main" id="{3DCA893F-5D75-8979-AB5D-4DDA7369181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29600" y="3409950"/>
            <a:ext cx="303213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altLang="tr-TR" sz="1800" i="1"/>
              <a:t>I</a:t>
            </a:r>
            <a:r>
              <a:rPr lang="en-US" altLang="tr-TR" sz="1800" i="1" baseline="-25000"/>
              <a:t>i</a:t>
            </a:r>
          </a:p>
        </p:txBody>
      </p:sp>
      <p:sp>
        <p:nvSpPr>
          <p:cNvPr id="431113" name="Line 9">
            <a:extLst>
              <a:ext uri="{FF2B5EF4-FFF2-40B4-BE49-F238E27FC236}">
                <a16:creationId xmlns:a16="http://schemas.microsoft.com/office/drawing/2014/main" id="{A69D3D41-E674-CCA1-6D39-19B0F05C6E62}"/>
              </a:ext>
            </a:extLst>
          </p:cNvPr>
          <p:cNvSpPr>
            <a:spLocks noChangeShapeType="1"/>
          </p:cNvSpPr>
          <p:nvPr/>
        </p:nvSpPr>
        <p:spPr bwMode="auto">
          <a:xfrm>
            <a:off x="5029200" y="3357563"/>
            <a:ext cx="1828800" cy="1143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31114" name="Line 10">
            <a:extLst>
              <a:ext uri="{FF2B5EF4-FFF2-40B4-BE49-F238E27FC236}">
                <a16:creationId xmlns:a16="http://schemas.microsoft.com/office/drawing/2014/main" id="{9B0F268F-688B-9C20-BA69-71F13D37E6DF}"/>
              </a:ext>
            </a:extLst>
          </p:cNvPr>
          <p:cNvSpPr>
            <a:spLocks noChangeShapeType="1"/>
          </p:cNvSpPr>
          <p:nvPr/>
        </p:nvSpPr>
        <p:spPr bwMode="auto">
          <a:xfrm>
            <a:off x="5486400" y="3357563"/>
            <a:ext cx="1828800" cy="1143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31115" name="AutoShape 11">
            <a:extLst>
              <a:ext uri="{FF2B5EF4-FFF2-40B4-BE49-F238E27FC236}">
                <a16:creationId xmlns:a16="http://schemas.microsoft.com/office/drawing/2014/main" id="{D5307C39-3B15-89F9-7BEA-BCB4128A072C}"/>
              </a:ext>
            </a:extLst>
          </p:cNvPr>
          <p:cNvSpPr>
            <a:spLocks/>
          </p:cNvSpPr>
          <p:nvPr/>
        </p:nvSpPr>
        <p:spPr bwMode="auto">
          <a:xfrm rot="-5400000">
            <a:off x="6934200" y="4500563"/>
            <a:ext cx="228600" cy="838200"/>
          </a:xfrm>
          <a:prstGeom prst="leftBrace">
            <a:avLst>
              <a:gd name="adj1" fmla="val 30556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31116" name="Text Box 12">
            <a:extLst>
              <a:ext uri="{FF2B5EF4-FFF2-40B4-BE49-F238E27FC236}">
                <a16:creationId xmlns:a16="http://schemas.microsoft.com/office/drawing/2014/main" id="{83AC2138-45EA-B8A1-021C-C739D741D09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89625" y="4954588"/>
            <a:ext cx="2284413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tr-TR" sz="2000"/>
              <a:t>Incoming intensity </a:t>
            </a:r>
            <a:r>
              <a:rPr lang="en-US" altLang="tr-TR" sz="2000" i="1"/>
              <a:t>I</a:t>
            </a:r>
            <a:r>
              <a:rPr lang="en-US" altLang="tr-TR" sz="2000" i="1" baseline="-25000"/>
              <a:t>i</a:t>
            </a:r>
            <a:br>
              <a:rPr lang="en-US" altLang="tr-TR" sz="2000"/>
            </a:br>
            <a:r>
              <a:rPr lang="en-US" altLang="tr-TR" sz="2000"/>
              <a:t>spread over this area</a:t>
            </a:r>
          </a:p>
        </p:txBody>
      </p:sp>
      <p:sp>
        <p:nvSpPr>
          <p:cNvPr id="431117" name="AutoShape 13">
            <a:extLst>
              <a:ext uri="{FF2B5EF4-FFF2-40B4-BE49-F238E27FC236}">
                <a16:creationId xmlns:a16="http://schemas.microsoft.com/office/drawing/2014/main" id="{4D3D587B-44A2-1088-C7EA-69CE8970B573}"/>
              </a:ext>
            </a:extLst>
          </p:cNvPr>
          <p:cNvSpPr>
            <a:spLocks/>
          </p:cNvSpPr>
          <p:nvPr/>
        </p:nvSpPr>
        <p:spPr bwMode="auto">
          <a:xfrm rot="-5400000">
            <a:off x="6972300" y="5681663"/>
            <a:ext cx="228600" cy="457200"/>
          </a:xfrm>
          <a:prstGeom prst="leftBrace">
            <a:avLst>
              <a:gd name="adj1" fmla="val 16667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31118" name="Text Box 14">
            <a:extLst>
              <a:ext uri="{FF2B5EF4-FFF2-40B4-BE49-F238E27FC236}">
                <a16:creationId xmlns:a16="http://schemas.microsoft.com/office/drawing/2014/main" id="{B333314E-94DE-9469-D950-321F5AA79D6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86425" y="5932488"/>
            <a:ext cx="2654300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tr-TR" sz="2000"/>
              <a:t>Portion of intensity over</a:t>
            </a:r>
          </a:p>
          <a:p>
            <a:r>
              <a:rPr lang="en-US" altLang="tr-TR" sz="2000"/>
              <a:t>region d</a:t>
            </a:r>
            <a:r>
              <a:rPr lang="en-US" altLang="tr-TR" sz="2000" i="1"/>
              <a:t>A</a:t>
            </a:r>
            <a:r>
              <a:rPr lang="en-US" altLang="tr-TR" sz="2000"/>
              <a:t> is cos </a:t>
            </a:r>
            <a:r>
              <a:rPr lang="en-US" altLang="tr-TR" sz="2000" i="1">
                <a:latin typeface="Symbol" pitchFamily="2" charset="2"/>
              </a:rPr>
              <a:t>q</a:t>
            </a:r>
            <a:r>
              <a:rPr lang="en-US" altLang="tr-TR" sz="2000"/>
              <a:t> </a:t>
            </a:r>
            <a:r>
              <a:rPr lang="en-US" altLang="tr-TR" sz="2000" i="1"/>
              <a:t>I</a:t>
            </a:r>
            <a:r>
              <a:rPr lang="en-US" altLang="tr-TR" sz="2000" i="1" baseline="-25000"/>
              <a:t>i</a:t>
            </a:r>
            <a:endParaRPr lang="en-US" altLang="tr-TR" sz="2000"/>
          </a:p>
        </p:txBody>
      </p:sp>
      <p:sp>
        <p:nvSpPr>
          <p:cNvPr id="431119" name="Line 15">
            <a:extLst>
              <a:ext uri="{FF2B5EF4-FFF2-40B4-BE49-F238E27FC236}">
                <a16:creationId xmlns:a16="http://schemas.microsoft.com/office/drawing/2014/main" id="{1A68A8A0-C998-8A24-E7F6-401E08C0C45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858000" y="2900363"/>
            <a:ext cx="0" cy="1600200"/>
          </a:xfrm>
          <a:prstGeom prst="line">
            <a:avLst/>
          </a:prstGeom>
          <a:noFill/>
          <a:ln w="9525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31120" name="Line 16">
            <a:extLst>
              <a:ext uri="{FF2B5EF4-FFF2-40B4-BE49-F238E27FC236}">
                <a16:creationId xmlns:a16="http://schemas.microsoft.com/office/drawing/2014/main" id="{49CA32AF-5314-EF5E-C408-AC3416990A8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315200" y="2900363"/>
            <a:ext cx="0" cy="1595437"/>
          </a:xfrm>
          <a:prstGeom prst="line">
            <a:avLst/>
          </a:prstGeom>
          <a:noFill/>
          <a:ln w="9525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31121" name="Text Box 17">
            <a:extLst>
              <a:ext uri="{FF2B5EF4-FFF2-40B4-BE49-F238E27FC236}">
                <a16:creationId xmlns:a16="http://schemas.microsoft.com/office/drawing/2014/main" id="{687C7851-C9A7-1766-93D7-69D3719E177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53000" y="2895600"/>
            <a:ext cx="138112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altLang="tr-TR" sz="1800" i="1">
                <a:latin typeface="Symbol" pitchFamily="2" charset="2"/>
              </a:rPr>
              <a:t>r</a:t>
            </a:r>
            <a:r>
              <a:rPr lang="en-US" altLang="tr-TR" sz="1800"/>
              <a:t> </a:t>
            </a:r>
            <a:r>
              <a:rPr lang="en-US" altLang="tr-TR" sz="1800" i="1"/>
              <a:t>I</a:t>
            </a:r>
            <a:r>
              <a:rPr lang="en-US" altLang="tr-TR" sz="1800" i="1" baseline="-25000"/>
              <a:t>i</a:t>
            </a:r>
            <a:r>
              <a:rPr lang="en-US" altLang="tr-TR" sz="1800"/>
              <a:t> cos</a:t>
            </a:r>
            <a:r>
              <a:rPr lang="en-US" altLang="tr-TR" sz="1800" i="1">
                <a:latin typeface="Symbol" pitchFamily="2" charset="2"/>
              </a:rPr>
              <a:t>q</a:t>
            </a:r>
            <a:r>
              <a:rPr lang="en-US" altLang="tr-TR" sz="1800" i="1" baseline="-25000"/>
              <a:t>i</a:t>
            </a:r>
            <a:r>
              <a:rPr lang="en-US" altLang="tr-TR" sz="1800"/>
              <a:t> </a:t>
            </a:r>
            <a:r>
              <a:rPr lang="en-US" altLang="tr-TR" sz="1800" i="1"/>
              <a:t>d</a:t>
            </a:r>
            <a:r>
              <a:rPr lang="en-US" altLang="tr-TR" sz="1800" i="1">
                <a:latin typeface="Symbol" pitchFamily="2" charset="2"/>
              </a:rPr>
              <a:t>w</a:t>
            </a:r>
            <a:r>
              <a:rPr lang="en-US" altLang="tr-TR" sz="1800" i="1" baseline="-25000"/>
              <a:t>i</a:t>
            </a:r>
          </a:p>
        </p:txBody>
      </p:sp>
      <p:sp>
        <p:nvSpPr>
          <p:cNvPr id="431122" name="Line 18">
            <a:extLst>
              <a:ext uri="{FF2B5EF4-FFF2-40B4-BE49-F238E27FC236}">
                <a16:creationId xmlns:a16="http://schemas.microsoft.com/office/drawing/2014/main" id="{E6AF2EF2-4745-7337-C8CA-35BAE5C8CDA0}"/>
              </a:ext>
            </a:extLst>
          </p:cNvPr>
          <p:cNvSpPr>
            <a:spLocks noChangeShapeType="1"/>
          </p:cNvSpPr>
          <p:nvPr/>
        </p:nvSpPr>
        <p:spPr bwMode="auto">
          <a:xfrm>
            <a:off x="6110288" y="1674813"/>
            <a:ext cx="2590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31123" name="Line 19">
            <a:extLst>
              <a:ext uri="{FF2B5EF4-FFF2-40B4-BE49-F238E27FC236}">
                <a16:creationId xmlns:a16="http://schemas.microsoft.com/office/drawing/2014/main" id="{CEE1DD56-8429-4F7E-426F-BD7DF4803BC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405688" y="979488"/>
            <a:ext cx="114300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31124" name="Line 20">
            <a:extLst>
              <a:ext uri="{FF2B5EF4-FFF2-40B4-BE49-F238E27FC236}">
                <a16:creationId xmlns:a16="http://schemas.microsoft.com/office/drawing/2014/main" id="{3016F2FA-2D1E-1ABA-A07E-487FB986CD3C}"/>
              </a:ext>
            </a:extLst>
          </p:cNvPr>
          <p:cNvSpPr>
            <a:spLocks noChangeShapeType="1"/>
          </p:cNvSpPr>
          <p:nvPr/>
        </p:nvSpPr>
        <p:spPr bwMode="auto">
          <a:xfrm>
            <a:off x="6491288" y="1055688"/>
            <a:ext cx="91440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31125" name="Line 21">
            <a:extLst>
              <a:ext uri="{FF2B5EF4-FFF2-40B4-BE49-F238E27FC236}">
                <a16:creationId xmlns:a16="http://schemas.microsoft.com/office/drawing/2014/main" id="{A6761AC9-F60B-DBF3-399D-E53D6142A8A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253288" y="1665288"/>
            <a:ext cx="15240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31126" name="Text Box 22">
            <a:extLst>
              <a:ext uri="{FF2B5EF4-FFF2-40B4-BE49-F238E27FC236}">
                <a16:creationId xmlns:a16="http://schemas.microsoft.com/office/drawing/2014/main" id="{316E2432-F46F-B900-5ABA-C219FEF909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12075" y="841375"/>
            <a:ext cx="366713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altLang="tr-TR" sz="1800" i="1"/>
              <a:t>E</a:t>
            </a:r>
            <a:r>
              <a:rPr lang="en-US" altLang="tr-TR" sz="1800" i="1" baseline="-25000"/>
              <a:t>i</a:t>
            </a:r>
          </a:p>
        </p:txBody>
      </p:sp>
      <p:sp>
        <p:nvSpPr>
          <p:cNvPr id="431127" name="Text Box 23">
            <a:extLst>
              <a:ext uri="{FF2B5EF4-FFF2-40B4-BE49-F238E27FC236}">
                <a16:creationId xmlns:a16="http://schemas.microsoft.com/office/drawing/2014/main" id="{E43AA2B3-BE00-1504-E4F0-7F8A73F33C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48488" y="836613"/>
            <a:ext cx="684212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altLang="tr-TR" sz="1800">
                <a:latin typeface="Symbol" pitchFamily="2" charset="2"/>
              </a:rPr>
              <a:t>S</a:t>
            </a:r>
            <a:r>
              <a:rPr lang="en-US" altLang="tr-TR" sz="1800" i="1">
                <a:latin typeface="Symbol" pitchFamily="2" charset="2"/>
              </a:rPr>
              <a:t>r</a:t>
            </a:r>
            <a:r>
              <a:rPr lang="en-US" altLang="tr-TR" sz="1800" i="1"/>
              <a:t> E</a:t>
            </a:r>
            <a:r>
              <a:rPr lang="en-US" altLang="tr-TR" sz="1800" i="1" baseline="-25000"/>
              <a:t>i</a:t>
            </a:r>
          </a:p>
        </p:txBody>
      </p:sp>
      <p:sp>
        <p:nvSpPr>
          <p:cNvPr id="431128" name="Line 24">
            <a:extLst>
              <a:ext uri="{FF2B5EF4-FFF2-40B4-BE49-F238E27FC236}">
                <a16:creationId xmlns:a16="http://schemas.microsoft.com/office/drawing/2014/main" id="{A2FE2BAB-6C26-96B0-183F-17523DFF1358}"/>
              </a:ext>
            </a:extLst>
          </p:cNvPr>
          <p:cNvSpPr>
            <a:spLocks noChangeShapeType="1"/>
          </p:cNvSpPr>
          <p:nvPr/>
        </p:nvSpPr>
        <p:spPr bwMode="auto">
          <a:xfrm>
            <a:off x="6415088" y="1284288"/>
            <a:ext cx="9906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31129" name="Line 25">
            <a:extLst>
              <a:ext uri="{FF2B5EF4-FFF2-40B4-BE49-F238E27FC236}">
                <a16:creationId xmlns:a16="http://schemas.microsoft.com/office/drawing/2014/main" id="{8B7DE9D1-2994-E1E0-0147-B124EFB9C34E}"/>
              </a:ext>
            </a:extLst>
          </p:cNvPr>
          <p:cNvSpPr>
            <a:spLocks noChangeShapeType="1"/>
          </p:cNvSpPr>
          <p:nvPr/>
        </p:nvSpPr>
        <p:spPr bwMode="auto">
          <a:xfrm>
            <a:off x="6643688" y="903288"/>
            <a:ext cx="76200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31130" name="Text Box 26">
            <a:extLst>
              <a:ext uri="{FF2B5EF4-FFF2-40B4-BE49-F238E27FC236}">
                <a16:creationId xmlns:a16="http://schemas.microsoft.com/office/drawing/2014/main" id="{250CE6AF-696C-4CE0-B703-81F9DDE0E7F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48488" y="2060575"/>
            <a:ext cx="107632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altLang="tr-TR" sz="1800">
                <a:latin typeface="Symbol" pitchFamily="2" charset="2"/>
              </a:rPr>
              <a:t>(1-S</a:t>
            </a:r>
            <a:r>
              <a:rPr lang="en-US" altLang="tr-TR" sz="1800" i="1">
                <a:latin typeface="Symbol" pitchFamily="2" charset="2"/>
              </a:rPr>
              <a:t>r</a:t>
            </a:r>
            <a:r>
              <a:rPr lang="en-US" altLang="tr-TR" sz="1800"/>
              <a:t>)</a:t>
            </a:r>
            <a:r>
              <a:rPr lang="en-US" altLang="tr-TR" sz="1800" i="1"/>
              <a:t> E</a:t>
            </a:r>
            <a:r>
              <a:rPr lang="en-US" altLang="tr-TR" sz="1800" i="1" baseline="-25000"/>
              <a:t>i</a:t>
            </a:r>
          </a:p>
        </p:txBody>
      </p:sp>
      <p:sp>
        <p:nvSpPr>
          <p:cNvPr id="431131" name="Arc 27">
            <a:extLst>
              <a:ext uri="{FF2B5EF4-FFF2-40B4-BE49-F238E27FC236}">
                <a16:creationId xmlns:a16="http://schemas.microsoft.com/office/drawing/2014/main" id="{678FBF9D-8349-1237-1109-0175A7F7AF28}"/>
              </a:ext>
            </a:extLst>
          </p:cNvPr>
          <p:cNvSpPr>
            <a:spLocks/>
          </p:cNvSpPr>
          <p:nvPr/>
        </p:nvSpPr>
        <p:spPr bwMode="auto">
          <a:xfrm>
            <a:off x="6864350" y="3276600"/>
            <a:ext cx="454025" cy="1220788"/>
          </a:xfrm>
          <a:custGeom>
            <a:avLst/>
            <a:gdLst>
              <a:gd name="G0" fmla="+- 4164 0 0"/>
              <a:gd name="G1" fmla="+- 21600 0 0"/>
              <a:gd name="G2" fmla="+- 21600 0 0"/>
              <a:gd name="T0" fmla="*/ 0 w 8565"/>
              <a:gd name="T1" fmla="*/ 405 h 21600"/>
              <a:gd name="T2" fmla="*/ 8565 w 8565"/>
              <a:gd name="T3" fmla="*/ 453 h 21600"/>
              <a:gd name="T4" fmla="*/ 4164 w 8565"/>
              <a:gd name="T5" fmla="*/ 216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8565" h="21600" fill="none" extrusionOk="0">
                <a:moveTo>
                  <a:pt x="0" y="405"/>
                </a:moveTo>
                <a:cubicBezTo>
                  <a:pt x="1371" y="135"/>
                  <a:pt x="2766" y="0"/>
                  <a:pt x="4164" y="0"/>
                </a:cubicBezTo>
                <a:cubicBezTo>
                  <a:pt x="5642" y="0"/>
                  <a:pt x="7117" y="151"/>
                  <a:pt x="8564" y="453"/>
                </a:cubicBezTo>
              </a:path>
              <a:path w="8565" h="21600" stroke="0" extrusionOk="0">
                <a:moveTo>
                  <a:pt x="0" y="405"/>
                </a:moveTo>
                <a:cubicBezTo>
                  <a:pt x="1371" y="135"/>
                  <a:pt x="2766" y="0"/>
                  <a:pt x="4164" y="0"/>
                </a:cubicBezTo>
                <a:cubicBezTo>
                  <a:pt x="5642" y="0"/>
                  <a:pt x="7117" y="151"/>
                  <a:pt x="8564" y="453"/>
                </a:cubicBezTo>
                <a:lnTo>
                  <a:pt x="4164" y="21600"/>
                </a:lnTo>
                <a:close/>
              </a:path>
            </a:pathLst>
          </a:cu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31132" name="Arc 28">
            <a:extLst>
              <a:ext uri="{FF2B5EF4-FFF2-40B4-BE49-F238E27FC236}">
                <a16:creationId xmlns:a16="http://schemas.microsoft.com/office/drawing/2014/main" id="{03EAFD60-3259-20D3-E1D7-69BC2142D570}"/>
              </a:ext>
            </a:extLst>
          </p:cNvPr>
          <p:cNvSpPr>
            <a:spLocks/>
          </p:cNvSpPr>
          <p:nvPr/>
        </p:nvSpPr>
        <p:spPr bwMode="auto">
          <a:xfrm>
            <a:off x="7086600" y="3692525"/>
            <a:ext cx="1054100" cy="827088"/>
          </a:xfrm>
          <a:custGeom>
            <a:avLst/>
            <a:gdLst>
              <a:gd name="G0" fmla="+- 0 0 0"/>
              <a:gd name="G1" fmla="+- 14642 0 0"/>
              <a:gd name="G2" fmla="+- 21600 0 0"/>
              <a:gd name="T0" fmla="*/ 15880 w 19919"/>
              <a:gd name="T1" fmla="*/ 0 h 14642"/>
              <a:gd name="T2" fmla="*/ 19919 w 19919"/>
              <a:gd name="T3" fmla="*/ 6288 h 14642"/>
              <a:gd name="T4" fmla="*/ 0 w 19919"/>
              <a:gd name="T5" fmla="*/ 14642 h 1464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9919" h="14642" fill="none" extrusionOk="0">
                <a:moveTo>
                  <a:pt x="15879" y="0"/>
                </a:moveTo>
                <a:cubicBezTo>
                  <a:pt x="17581" y="1845"/>
                  <a:pt x="18948" y="3973"/>
                  <a:pt x="19919" y="6287"/>
                </a:cubicBezTo>
              </a:path>
              <a:path w="19919" h="14642" stroke="0" extrusionOk="0">
                <a:moveTo>
                  <a:pt x="15879" y="0"/>
                </a:moveTo>
                <a:cubicBezTo>
                  <a:pt x="17581" y="1845"/>
                  <a:pt x="18948" y="3973"/>
                  <a:pt x="19919" y="6287"/>
                </a:cubicBezTo>
                <a:lnTo>
                  <a:pt x="0" y="14642"/>
                </a:lnTo>
                <a:close/>
              </a:path>
            </a:pathLst>
          </a:cu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31133" name="Line 29">
            <a:extLst>
              <a:ext uri="{FF2B5EF4-FFF2-40B4-BE49-F238E27FC236}">
                <a16:creationId xmlns:a16="http://schemas.microsoft.com/office/drawing/2014/main" id="{ECCBB170-4C7A-7B1B-5689-7B178ADF2C75}"/>
              </a:ext>
            </a:extLst>
          </p:cNvPr>
          <p:cNvSpPr>
            <a:spLocks noChangeShapeType="1"/>
          </p:cNvSpPr>
          <p:nvPr/>
        </p:nvSpPr>
        <p:spPr bwMode="auto">
          <a:xfrm>
            <a:off x="7086600" y="3200400"/>
            <a:ext cx="0" cy="1524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31134" name="Line 30">
            <a:extLst>
              <a:ext uri="{FF2B5EF4-FFF2-40B4-BE49-F238E27FC236}">
                <a16:creationId xmlns:a16="http://schemas.microsoft.com/office/drawing/2014/main" id="{FF4990B6-8C74-7BD4-32F3-23F0030BCDA4}"/>
              </a:ext>
            </a:extLst>
          </p:cNvPr>
          <p:cNvSpPr>
            <a:spLocks noChangeShapeType="1"/>
          </p:cNvSpPr>
          <p:nvPr/>
        </p:nvSpPr>
        <p:spPr bwMode="auto">
          <a:xfrm rot="3600000">
            <a:off x="8045450" y="3786188"/>
            <a:ext cx="0" cy="1524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130" name="Rectangle 2">
            <a:extLst>
              <a:ext uri="{FF2B5EF4-FFF2-40B4-BE49-F238E27FC236}">
                <a16:creationId xmlns:a16="http://schemas.microsoft.com/office/drawing/2014/main" id="{FBBCC324-AE1B-5BBD-D17A-C6A8540E2E5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52400" y="152400"/>
            <a:ext cx="7010400" cy="990600"/>
          </a:xfrm>
        </p:spPr>
        <p:txBody>
          <a:bodyPr/>
          <a:lstStyle/>
          <a:p>
            <a:r>
              <a:rPr lang="en-US" altLang="tr-TR"/>
              <a:t>Illumination via Reflectivity</a:t>
            </a:r>
          </a:p>
        </p:txBody>
      </p:sp>
      <p:sp>
        <p:nvSpPr>
          <p:cNvPr id="432131" name="Rectangle 3">
            <a:extLst>
              <a:ext uri="{FF2B5EF4-FFF2-40B4-BE49-F238E27FC236}">
                <a16:creationId xmlns:a16="http://schemas.microsoft.com/office/drawing/2014/main" id="{09F590CB-C0DD-5B66-35AE-C4F38620869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52400" y="1447800"/>
            <a:ext cx="8740775" cy="5257800"/>
          </a:xfrm>
        </p:spPr>
        <p:txBody>
          <a:bodyPr/>
          <a:lstStyle/>
          <a:p>
            <a:pPr algn="ctr">
              <a:lnSpc>
                <a:spcPct val="90000"/>
              </a:lnSpc>
              <a:buFontTx/>
              <a:buNone/>
            </a:pPr>
            <a:r>
              <a:rPr lang="en-US" altLang="tr-TR" sz="2400" i="1"/>
              <a:t>I</a:t>
            </a:r>
            <a:r>
              <a:rPr lang="en-US" altLang="tr-TR" sz="2400" i="1" baseline="-25000"/>
              <a:t>r</a:t>
            </a:r>
            <a:r>
              <a:rPr lang="en-US" altLang="tr-TR" sz="2400" i="1"/>
              <a:t> = k</a:t>
            </a:r>
            <a:r>
              <a:rPr lang="en-US" altLang="tr-TR" sz="2400" i="1" baseline="-25000"/>
              <a:t>a</a:t>
            </a:r>
            <a:r>
              <a:rPr lang="en-US" altLang="tr-TR" sz="2400" i="1">
                <a:latin typeface="Symbol" pitchFamily="2" charset="2"/>
              </a:rPr>
              <a:t>r</a:t>
            </a:r>
            <a:r>
              <a:rPr lang="en-US" altLang="tr-TR" sz="2400" i="1" baseline="-25000"/>
              <a:t>a </a:t>
            </a:r>
            <a:r>
              <a:rPr lang="en-US" altLang="tr-TR" sz="2400" i="1"/>
              <a:t>I</a:t>
            </a:r>
            <a:r>
              <a:rPr lang="en-US" altLang="tr-TR" sz="2400" i="1" baseline="-25000"/>
              <a:t>a </a:t>
            </a:r>
            <a:r>
              <a:rPr lang="en-US" altLang="tr-TR" sz="2400"/>
              <a:t>(</a:t>
            </a:r>
            <a:r>
              <a:rPr lang="en-US" altLang="tr-TR" sz="2400" i="1"/>
              <a:t>N</a:t>
            </a:r>
            <a:r>
              <a:rPr lang="en-US" altLang="tr-TR" sz="2400"/>
              <a:t> </a:t>
            </a:r>
            <a:r>
              <a:rPr lang="en-US" altLang="tr-TR" sz="2400">
                <a:sym typeface="Symbol" pitchFamily="2" charset="2"/>
              </a:rPr>
              <a:t></a:t>
            </a:r>
            <a:r>
              <a:rPr lang="en-US" altLang="tr-TR" sz="2400"/>
              <a:t> </a:t>
            </a:r>
            <a:r>
              <a:rPr lang="en-US" altLang="tr-TR" sz="2400" i="1"/>
              <a:t>L</a:t>
            </a:r>
            <a:r>
              <a:rPr lang="en-US" altLang="tr-TR" sz="2400"/>
              <a:t>) +</a:t>
            </a:r>
            <a:r>
              <a:rPr lang="en-US" altLang="tr-TR" sz="2400" i="1"/>
              <a:t> </a:t>
            </a:r>
            <a:r>
              <a:rPr lang="en-US" altLang="tr-TR" sz="2400">
                <a:latin typeface="Symbol" pitchFamily="2" charset="2"/>
              </a:rPr>
              <a:t>S (</a:t>
            </a:r>
            <a:r>
              <a:rPr lang="en-US" altLang="tr-TR" sz="2400" i="1"/>
              <a:t>k</a:t>
            </a:r>
            <a:r>
              <a:rPr lang="en-US" altLang="tr-TR" sz="2400" i="1" baseline="-25000"/>
              <a:t>d</a:t>
            </a:r>
            <a:r>
              <a:rPr lang="en-US" altLang="tr-TR" sz="2400" i="1">
                <a:latin typeface="Symbol" pitchFamily="2" charset="2"/>
              </a:rPr>
              <a:t>r</a:t>
            </a:r>
            <a:r>
              <a:rPr lang="en-US" altLang="tr-TR" sz="2400" i="1" baseline="-25000"/>
              <a:t>d </a:t>
            </a:r>
            <a:r>
              <a:rPr lang="en-US" altLang="tr-TR" sz="2400" i="1"/>
              <a:t>I</a:t>
            </a:r>
            <a:r>
              <a:rPr lang="en-US" altLang="tr-TR" sz="2400" i="1" baseline="-25000"/>
              <a:t>d</a:t>
            </a:r>
            <a:r>
              <a:rPr lang="en-US" altLang="tr-TR" sz="2400"/>
              <a:t> +</a:t>
            </a:r>
            <a:r>
              <a:rPr lang="en-US" altLang="tr-TR" sz="2400" i="1">
                <a:latin typeface="Symbol" pitchFamily="2" charset="2"/>
              </a:rPr>
              <a:t> </a:t>
            </a:r>
            <a:r>
              <a:rPr lang="en-US" altLang="tr-TR" sz="2400" i="1"/>
              <a:t>k</a:t>
            </a:r>
            <a:r>
              <a:rPr lang="en-US" altLang="tr-TR" sz="2400" i="1" baseline="-25000"/>
              <a:t>s</a:t>
            </a:r>
            <a:r>
              <a:rPr lang="en-US" altLang="tr-TR" sz="2400" i="1">
                <a:latin typeface="Symbol" pitchFamily="2" charset="2"/>
              </a:rPr>
              <a:t>r</a:t>
            </a:r>
            <a:r>
              <a:rPr lang="en-US" altLang="tr-TR" sz="2400" i="1" baseline="-25000"/>
              <a:t>s </a:t>
            </a:r>
            <a:r>
              <a:rPr lang="en-US" altLang="tr-TR" sz="2400" i="1"/>
              <a:t>I</a:t>
            </a:r>
            <a:r>
              <a:rPr lang="en-US" altLang="tr-TR" sz="2400" i="1" baseline="-25000"/>
              <a:t>s</a:t>
            </a:r>
            <a:r>
              <a:rPr lang="en-US" altLang="tr-TR" sz="2400"/>
              <a:t>) (</a:t>
            </a:r>
            <a:r>
              <a:rPr lang="en-US" altLang="tr-TR" sz="2400" i="1"/>
              <a:t>N</a:t>
            </a:r>
            <a:r>
              <a:rPr lang="en-US" altLang="tr-TR" sz="2400"/>
              <a:t> </a:t>
            </a:r>
            <a:r>
              <a:rPr lang="en-US" altLang="tr-TR" sz="2400">
                <a:sym typeface="Symbol" pitchFamily="2" charset="2"/>
              </a:rPr>
              <a:t></a:t>
            </a:r>
            <a:r>
              <a:rPr lang="en-US" altLang="tr-TR" sz="2400"/>
              <a:t> </a:t>
            </a:r>
            <a:r>
              <a:rPr lang="en-US" altLang="tr-TR" sz="2400" i="1"/>
              <a:t>L</a:t>
            </a:r>
            <a:r>
              <a:rPr lang="en-US" altLang="tr-TR" sz="2400"/>
              <a:t>) </a:t>
            </a:r>
            <a:r>
              <a:rPr lang="en-US" altLang="tr-TR" sz="2400" i="1"/>
              <a:t>d</a:t>
            </a:r>
            <a:r>
              <a:rPr lang="en-US" altLang="tr-TR" sz="2400" i="1">
                <a:latin typeface="Symbol" pitchFamily="2" charset="2"/>
              </a:rPr>
              <a:t>w</a:t>
            </a:r>
          </a:p>
          <a:p>
            <a:pPr>
              <a:lnSpc>
                <a:spcPct val="90000"/>
              </a:lnSpc>
            </a:pPr>
            <a:r>
              <a:rPr lang="en-US" altLang="tr-TR" sz="2400"/>
              <a:t>Constants </a:t>
            </a:r>
            <a:r>
              <a:rPr lang="en-US" altLang="tr-TR" sz="2400" i="1"/>
              <a:t>k</a:t>
            </a:r>
            <a:r>
              <a:rPr lang="en-US" altLang="tr-TR" sz="2400" i="1" baseline="-25000"/>
              <a:t>d</a:t>
            </a:r>
            <a:r>
              <a:rPr lang="en-US" altLang="tr-TR" sz="2400"/>
              <a:t> + </a:t>
            </a:r>
            <a:r>
              <a:rPr lang="en-US" altLang="tr-TR" sz="2400" i="1"/>
              <a:t>k</a:t>
            </a:r>
            <a:r>
              <a:rPr lang="en-US" altLang="tr-TR" sz="2400" i="1" baseline="-25000"/>
              <a:t>s</a:t>
            </a:r>
            <a:r>
              <a:rPr lang="en-US" altLang="tr-TR" sz="2400"/>
              <a:t> = 1</a:t>
            </a:r>
          </a:p>
          <a:p>
            <a:pPr>
              <a:lnSpc>
                <a:spcPct val="90000"/>
              </a:lnSpc>
            </a:pPr>
            <a:r>
              <a:rPr lang="en-US" altLang="tr-TR" sz="2400"/>
              <a:t>Intensities</a:t>
            </a:r>
          </a:p>
          <a:p>
            <a:pPr lvl="1">
              <a:lnSpc>
                <a:spcPct val="90000"/>
              </a:lnSpc>
            </a:pPr>
            <a:r>
              <a:rPr lang="en-US" altLang="tr-TR" sz="2400" i="1"/>
              <a:t>I</a:t>
            </a:r>
            <a:r>
              <a:rPr lang="en-US" altLang="tr-TR" sz="2400" i="1" baseline="-25000"/>
              <a:t>a</a:t>
            </a:r>
            <a:r>
              <a:rPr lang="en-US" altLang="tr-TR" sz="2400"/>
              <a:t> = average color of reflected light in scene</a:t>
            </a:r>
          </a:p>
          <a:p>
            <a:pPr lvl="1">
              <a:lnSpc>
                <a:spcPct val="90000"/>
              </a:lnSpc>
            </a:pPr>
            <a:r>
              <a:rPr lang="en-US" altLang="tr-TR" sz="2400" i="1"/>
              <a:t>I</a:t>
            </a:r>
            <a:r>
              <a:rPr lang="en-US" altLang="tr-TR" sz="2400" i="1" baseline="-25000"/>
              <a:t>d</a:t>
            </a:r>
            <a:r>
              <a:rPr lang="en-US" altLang="tr-TR" sz="2400"/>
              <a:t> = color of material</a:t>
            </a:r>
          </a:p>
          <a:p>
            <a:pPr lvl="1">
              <a:lnSpc>
                <a:spcPct val="90000"/>
              </a:lnSpc>
            </a:pPr>
            <a:r>
              <a:rPr lang="en-US" altLang="tr-TR" sz="2400" i="1"/>
              <a:t>I</a:t>
            </a:r>
            <a:r>
              <a:rPr lang="en-US" altLang="tr-TR" sz="2400" i="1" baseline="-25000"/>
              <a:t>s</a:t>
            </a:r>
            <a:r>
              <a:rPr lang="en-US" altLang="tr-TR" sz="2400"/>
              <a:t> = color of light source</a:t>
            </a:r>
          </a:p>
          <a:p>
            <a:pPr>
              <a:lnSpc>
                <a:spcPct val="90000"/>
              </a:lnSpc>
            </a:pPr>
            <a:r>
              <a:rPr lang="en-US" altLang="tr-TR" sz="2400"/>
              <a:t>Reflectivities</a:t>
            </a:r>
          </a:p>
          <a:p>
            <a:pPr lvl="1">
              <a:lnSpc>
                <a:spcPct val="90000"/>
              </a:lnSpc>
            </a:pPr>
            <a:r>
              <a:rPr lang="en-US" altLang="tr-TR" sz="2400"/>
              <a:t>Ambient: </a:t>
            </a:r>
            <a:r>
              <a:rPr lang="en-US" altLang="tr-TR" sz="2400" i="1">
                <a:latin typeface="Symbol" pitchFamily="2" charset="2"/>
              </a:rPr>
              <a:t>r</a:t>
            </a:r>
            <a:r>
              <a:rPr lang="en-US" altLang="tr-TR" sz="2400" i="1" baseline="-25000"/>
              <a:t>a</a:t>
            </a:r>
            <a:r>
              <a:rPr lang="en-US" altLang="tr-TR" sz="2400"/>
              <a:t>(</a:t>
            </a:r>
            <a:r>
              <a:rPr lang="en-US" altLang="tr-TR" sz="2400" i="1"/>
              <a:t>V</a:t>
            </a:r>
            <a:r>
              <a:rPr lang="en-US" altLang="tr-TR" sz="2400"/>
              <a:t>,</a:t>
            </a:r>
            <a:r>
              <a:rPr lang="en-US" altLang="tr-TR" sz="2400" i="1"/>
              <a:t>L</a:t>
            </a:r>
            <a:r>
              <a:rPr lang="en-US" altLang="tr-TR" sz="2400"/>
              <a:t>) = 1/ (</a:t>
            </a:r>
            <a:r>
              <a:rPr lang="en-US" altLang="tr-TR" sz="2400" i="1"/>
              <a:t>N</a:t>
            </a:r>
            <a:r>
              <a:rPr lang="en-US" altLang="tr-TR" sz="2400"/>
              <a:t> </a:t>
            </a:r>
            <a:r>
              <a:rPr lang="en-US" altLang="tr-TR" sz="2400">
                <a:sym typeface="Symbol" pitchFamily="2" charset="2"/>
              </a:rPr>
              <a:t></a:t>
            </a:r>
            <a:r>
              <a:rPr lang="en-US" altLang="tr-TR" sz="2400"/>
              <a:t> </a:t>
            </a:r>
            <a:r>
              <a:rPr lang="en-US" altLang="tr-TR" sz="2400" i="1"/>
              <a:t>L</a:t>
            </a:r>
            <a:r>
              <a:rPr lang="en-US" altLang="tr-TR" sz="2400"/>
              <a:t>) – constant color regardless of surface orientation</a:t>
            </a:r>
          </a:p>
          <a:p>
            <a:pPr lvl="1">
              <a:lnSpc>
                <a:spcPct val="90000"/>
              </a:lnSpc>
            </a:pPr>
            <a:r>
              <a:rPr lang="en-US" altLang="tr-TR" sz="2400"/>
              <a:t>Lambertian: </a:t>
            </a:r>
            <a:r>
              <a:rPr lang="en-US" altLang="tr-TR" sz="2400" i="1">
                <a:latin typeface="Symbol" pitchFamily="2" charset="2"/>
              </a:rPr>
              <a:t>r</a:t>
            </a:r>
            <a:r>
              <a:rPr lang="en-US" altLang="tr-TR" sz="2400" i="1" baseline="-25000"/>
              <a:t>d</a:t>
            </a:r>
            <a:r>
              <a:rPr lang="en-US" altLang="tr-TR" sz="2400"/>
              <a:t>(</a:t>
            </a:r>
            <a:r>
              <a:rPr lang="en-US" altLang="tr-TR" sz="2400" i="1"/>
              <a:t>V</a:t>
            </a:r>
            <a:r>
              <a:rPr lang="en-US" altLang="tr-TR" sz="2400"/>
              <a:t>,</a:t>
            </a:r>
            <a:r>
              <a:rPr lang="en-US" altLang="tr-TR" sz="2400" i="1"/>
              <a:t>L</a:t>
            </a:r>
            <a:r>
              <a:rPr lang="en-US" altLang="tr-TR" sz="2400"/>
              <a:t>) = 1 – reflects light uniformly in all directions</a:t>
            </a:r>
          </a:p>
          <a:p>
            <a:pPr lvl="1">
              <a:lnSpc>
                <a:spcPct val="90000"/>
              </a:lnSpc>
            </a:pPr>
            <a:r>
              <a:rPr lang="en-US" altLang="tr-TR" sz="2400"/>
              <a:t>(Phong) Specular: </a:t>
            </a:r>
            <a:r>
              <a:rPr lang="en-US" altLang="tr-TR" sz="2400" i="1">
                <a:latin typeface="Symbol" pitchFamily="2" charset="2"/>
              </a:rPr>
              <a:t>r</a:t>
            </a:r>
            <a:r>
              <a:rPr lang="en-US" altLang="tr-TR" sz="2400" i="1" baseline="-25000"/>
              <a:t>s</a:t>
            </a:r>
            <a:r>
              <a:rPr lang="en-US" altLang="tr-TR" sz="2400"/>
              <a:t>(</a:t>
            </a:r>
            <a:r>
              <a:rPr lang="en-US" altLang="tr-TR" sz="2400" i="1"/>
              <a:t>V</a:t>
            </a:r>
            <a:r>
              <a:rPr lang="en-US" altLang="tr-TR" sz="2400"/>
              <a:t>,</a:t>
            </a:r>
            <a:r>
              <a:rPr lang="en-US" altLang="tr-TR" sz="2400" i="1"/>
              <a:t>L</a:t>
            </a:r>
            <a:r>
              <a:rPr lang="en-US" altLang="tr-TR" sz="2400"/>
              <a:t>) = (</a:t>
            </a:r>
            <a:r>
              <a:rPr lang="en-US" altLang="tr-TR" sz="2400" i="1"/>
              <a:t>V</a:t>
            </a:r>
            <a:r>
              <a:rPr lang="en-US" altLang="tr-TR" sz="2400"/>
              <a:t> </a:t>
            </a:r>
            <a:r>
              <a:rPr lang="en-US" altLang="tr-TR" sz="2400">
                <a:sym typeface="Symbol" pitchFamily="2" charset="2"/>
              </a:rPr>
              <a:t></a:t>
            </a:r>
            <a:r>
              <a:rPr lang="en-US" altLang="tr-TR" sz="2400"/>
              <a:t> </a:t>
            </a:r>
            <a:r>
              <a:rPr lang="en-US" altLang="tr-TR" sz="2400" i="1"/>
              <a:t>R</a:t>
            </a:r>
            <a:r>
              <a:rPr lang="en-US" altLang="tr-TR" sz="2400"/>
              <a:t>)</a:t>
            </a:r>
            <a:r>
              <a:rPr lang="en-US" altLang="tr-TR" sz="2400" baseline="30000"/>
              <a:t>n</a:t>
            </a:r>
            <a:r>
              <a:rPr lang="en-US" altLang="tr-TR" sz="2400"/>
              <a:t>/ (</a:t>
            </a:r>
            <a:r>
              <a:rPr lang="en-US" altLang="tr-TR" sz="2400" i="1"/>
              <a:t>N</a:t>
            </a:r>
            <a:r>
              <a:rPr lang="en-US" altLang="tr-TR" sz="2400"/>
              <a:t> </a:t>
            </a:r>
            <a:r>
              <a:rPr lang="en-US" altLang="tr-TR" sz="2400">
                <a:sym typeface="Symbol" pitchFamily="2" charset="2"/>
              </a:rPr>
              <a:t></a:t>
            </a:r>
            <a:r>
              <a:rPr lang="en-US" altLang="tr-TR" sz="2400"/>
              <a:t> </a:t>
            </a:r>
            <a:r>
              <a:rPr lang="en-US" altLang="tr-TR" sz="2400" i="1"/>
              <a:t>L</a:t>
            </a:r>
            <a:r>
              <a:rPr lang="en-US" altLang="tr-TR" sz="2400"/>
              <a:t>) – focuses light in reflected direction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From Phong to Physically-Based Rendering (PBR)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Phong limitations: non-energy conserving, empirical</a:t>
            </a:r>
          </a:p>
          <a:p>
            <a:r>
              <a:t>Modern models: Cook–Torrance, GGX, Disney BRDF</a:t>
            </a:r>
          </a:p>
          <a:p>
            <a:r>
              <a:t>Physically-based shading is industry standard (Unreal, Unity, Pixar)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D–F–G: Core Components of Microfacet BRDF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Normal Distribution Function (D): GGX</a:t>
            </a:r>
          </a:p>
          <a:p>
            <a:r>
              <a:t>Fresnel (F): Schlick Approximation</a:t>
            </a:r>
          </a:p>
          <a:p>
            <a:r>
              <a:t>Geometry/Microshadowing (G): Smith</a:t>
            </a:r>
          </a:p>
          <a:p>
            <a:r>
              <a:t>BRDF = DFG / 4(N·L)(N·V)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Modern PBR Material Workflow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PBR texture maps: BaseColor, Metallic, Roughness, Normal, AO</a:t>
            </a:r>
          </a:p>
          <a:p>
            <a:r>
              <a:t>Artist-facing workflow</a:t>
            </a:r>
          </a:p>
          <a:p>
            <a:r>
              <a:t>Materials defined by real physical parameters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514" name="Rectangle 2">
            <a:extLst>
              <a:ext uri="{FF2B5EF4-FFF2-40B4-BE49-F238E27FC236}">
                <a16:creationId xmlns:a16="http://schemas.microsoft.com/office/drawing/2014/main" id="{0FBA63AB-5CAF-8B90-A9F6-33D355D1398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tr-TR"/>
              <a:t>Motion Blur</a:t>
            </a:r>
          </a:p>
        </p:txBody>
      </p:sp>
      <p:sp>
        <p:nvSpPr>
          <p:cNvPr id="448515" name="Rectangle 3">
            <a:extLst>
              <a:ext uri="{FF2B5EF4-FFF2-40B4-BE49-F238E27FC236}">
                <a16:creationId xmlns:a16="http://schemas.microsoft.com/office/drawing/2014/main" id="{1B5A6654-B3DA-C6B5-24E6-8EE44125E96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GB" altLang="tr-TR" sz="2700"/>
              <a:t>Moving left to right</a:t>
            </a:r>
          </a:p>
          <a:p>
            <a:pPr lvl="1">
              <a:lnSpc>
                <a:spcPct val="90000"/>
              </a:lnSpc>
            </a:pPr>
            <a:r>
              <a:rPr lang="en-GB" altLang="tr-TR" sz="2200"/>
              <a:t> blur horizontally</a:t>
            </a:r>
          </a:p>
          <a:p>
            <a:pPr>
              <a:lnSpc>
                <a:spcPct val="90000"/>
              </a:lnSpc>
            </a:pPr>
            <a:r>
              <a:rPr lang="en-GB" altLang="tr-TR" sz="2700"/>
              <a:t>If the camera is tracking an object</a:t>
            </a:r>
          </a:p>
          <a:p>
            <a:pPr lvl="1">
              <a:lnSpc>
                <a:spcPct val="90000"/>
              </a:lnSpc>
            </a:pPr>
            <a:r>
              <a:rPr lang="en-GB" altLang="tr-TR" sz="2200"/>
              <a:t>The background blurs</a:t>
            </a:r>
          </a:p>
          <a:p>
            <a:pPr>
              <a:lnSpc>
                <a:spcPct val="90000"/>
              </a:lnSpc>
            </a:pPr>
            <a:r>
              <a:rPr lang="en-GB" altLang="tr-TR" sz="2700"/>
              <a:t>Methods</a:t>
            </a:r>
          </a:p>
          <a:p>
            <a:pPr lvl="1">
              <a:lnSpc>
                <a:spcPct val="90000"/>
              </a:lnSpc>
            </a:pPr>
            <a:r>
              <a:rPr lang="en-GB" altLang="tr-TR" sz="2200"/>
              <a:t>Render the blur itself for moving objects</a:t>
            </a:r>
          </a:p>
          <a:p>
            <a:pPr lvl="1">
              <a:lnSpc>
                <a:spcPct val="90000"/>
              </a:lnSpc>
            </a:pPr>
            <a:r>
              <a:rPr lang="en-GB" altLang="tr-TR" sz="2200"/>
              <a:t>Average a series of images using the accumulation buffer</a:t>
            </a:r>
          </a:p>
          <a:p>
            <a:pPr lvl="1">
              <a:lnSpc>
                <a:spcPct val="90000"/>
              </a:lnSpc>
            </a:pPr>
            <a:r>
              <a:rPr lang="en-GB" altLang="tr-TR" sz="2200"/>
              <a:t>Vertex shaders:	</a:t>
            </a:r>
          </a:p>
          <a:p>
            <a:pPr lvl="2">
              <a:lnSpc>
                <a:spcPct val="90000"/>
              </a:lnSpc>
            </a:pPr>
            <a:r>
              <a:rPr lang="en-GB" altLang="tr-TR" sz="1800"/>
              <a:t>First pass: render the object normally</a:t>
            </a:r>
          </a:p>
          <a:p>
            <a:pPr lvl="2">
              <a:lnSpc>
                <a:spcPct val="90000"/>
              </a:lnSpc>
            </a:pPr>
            <a:r>
              <a:rPr lang="en-GB" altLang="tr-TR" sz="1800"/>
              <a:t>Second pass: vertex shader applies the previous frame’s and the current frame’s transform to each vertex. The difference gives a motion vector per vertex.</a:t>
            </a:r>
          </a:p>
        </p:txBody>
      </p:sp>
      <p:pic>
        <p:nvPicPr>
          <p:cNvPr id="448517" name="Picture 5">
            <a:extLst>
              <a:ext uri="{FF2B5EF4-FFF2-40B4-BE49-F238E27FC236}">
                <a16:creationId xmlns:a16="http://schemas.microsoft.com/office/drawing/2014/main" id="{5ABD6C10-9BF5-170D-51BF-CCED7DC824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00788" y="333375"/>
            <a:ext cx="2676525" cy="32400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0000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538" name="Rectangle 2">
            <a:extLst>
              <a:ext uri="{FF2B5EF4-FFF2-40B4-BE49-F238E27FC236}">
                <a16:creationId xmlns:a16="http://schemas.microsoft.com/office/drawing/2014/main" id="{BA65806B-9FA8-A14B-2E91-6793C1E0B20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tr-TR"/>
              <a:t>Depth of Field</a:t>
            </a:r>
          </a:p>
        </p:txBody>
      </p:sp>
      <p:graphicFrame>
        <p:nvGraphicFramePr>
          <p:cNvPr id="449540" name="Object 4">
            <a:extLst>
              <a:ext uri="{FF2B5EF4-FFF2-40B4-BE49-F238E27FC236}">
                <a16:creationId xmlns:a16="http://schemas.microsoft.com/office/drawing/2014/main" id="{802BD7ED-46F9-7E32-289E-78721BF7AE31}"/>
              </a:ext>
            </a:extLst>
          </p:cNvPr>
          <p:cNvGraphicFramePr>
            <a:graphicFrameLocks noGrp="1" noChangeAspect="1"/>
          </p:cNvGraphicFramePr>
          <p:nvPr>
            <p:ph idx="1"/>
          </p:nvPr>
        </p:nvGraphicFramePr>
        <p:xfrm>
          <a:off x="2411413" y="1341438"/>
          <a:ext cx="4535487" cy="2854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비트맵 이미지" r:id="rId3" imgW="3975100" imgH="2501900" progId="Paint.Picture">
                  <p:embed/>
                </p:oleObj>
              </mc:Choice>
              <mc:Fallback>
                <p:oleObj name="비트맵 이미지" r:id="rId3" imgW="3975100" imgH="2501900" progId="Paint.Picture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11413" y="1341438"/>
                        <a:ext cx="4535487" cy="2854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449542" name="Picture 6">
            <a:extLst>
              <a:ext uri="{FF2B5EF4-FFF2-40B4-BE49-F238E27FC236}">
                <a16:creationId xmlns:a16="http://schemas.microsoft.com/office/drawing/2014/main" id="{B0FDBD4D-F1E8-5B08-D6D5-A0AC0CFE9C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39975" y="4724400"/>
            <a:ext cx="4933950" cy="1657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0000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586" name="Rectangle 2">
            <a:extLst>
              <a:ext uri="{FF2B5EF4-FFF2-40B4-BE49-F238E27FC236}">
                <a16:creationId xmlns:a16="http://schemas.microsoft.com/office/drawing/2014/main" id="{EEF4F0D3-2A54-3855-710A-AFA958307FF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tr-TR"/>
              <a:t>Reflections</a:t>
            </a:r>
          </a:p>
        </p:txBody>
      </p:sp>
      <p:sp>
        <p:nvSpPr>
          <p:cNvPr id="451587" name="Rectangle 3">
            <a:extLst>
              <a:ext uri="{FF2B5EF4-FFF2-40B4-BE49-F238E27FC236}">
                <a16:creationId xmlns:a16="http://schemas.microsoft.com/office/drawing/2014/main" id="{9F672174-7513-AC73-A395-2F16CA50E43E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684213" y="1052513"/>
            <a:ext cx="4535487" cy="5400675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GB" altLang="tr-TR" sz="2700"/>
              <a:t>Reflections, refractions and shadows are all global illumination</a:t>
            </a:r>
          </a:p>
          <a:p>
            <a:pPr>
              <a:lnSpc>
                <a:spcPct val="90000"/>
              </a:lnSpc>
            </a:pPr>
            <a:r>
              <a:rPr lang="en-GB" altLang="tr-TR" sz="2700"/>
              <a:t>Easier to estimate the spatial relationships between objects</a:t>
            </a:r>
          </a:p>
          <a:p>
            <a:pPr>
              <a:lnSpc>
                <a:spcPct val="90000"/>
              </a:lnSpc>
            </a:pPr>
            <a:r>
              <a:rPr lang="en-GB" altLang="tr-TR" sz="2700"/>
              <a:t>EM is used for reflections of objects at a distance</a:t>
            </a:r>
          </a:p>
          <a:p>
            <a:pPr>
              <a:lnSpc>
                <a:spcPct val="90000"/>
              </a:lnSpc>
            </a:pPr>
            <a:r>
              <a:rPr lang="en-GB" altLang="tr-TR" sz="2700"/>
              <a:t>Limitation of EM:</a:t>
            </a:r>
          </a:p>
          <a:p>
            <a:pPr lvl="1">
              <a:lnSpc>
                <a:spcPct val="90000"/>
              </a:lnSpc>
            </a:pPr>
            <a:r>
              <a:rPr lang="en-GB" altLang="tr-TR" sz="2200"/>
              <a:t>Reflected objects are located far from the reflector</a:t>
            </a:r>
          </a:p>
          <a:p>
            <a:pPr lvl="1">
              <a:lnSpc>
                <a:spcPct val="90000"/>
              </a:lnSpc>
            </a:pPr>
            <a:r>
              <a:rPr lang="en-GB" altLang="tr-TR" sz="2200"/>
              <a:t>The same texture is used for all reflection rays</a:t>
            </a:r>
          </a:p>
          <a:p>
            <a:pPr lvl="1">
              <a:lnSpc>
                <a:spcPct val="90000"/>
              </a:lnSpc>
            </a:pPr>
            <a:endParaRPr lang="en-GB" altLang="tr-TR" sz="2200"/>
          </a:p>
        </p:txBody>
      </p:sp>
      <p:pic>
        <p:nvPicPr>
          <p:cNvPr id="451591" name="Picture 7">
            <a:extLst>
              <a:ext uri="{FF2B5EF4-FFF2-40B4-BE49-F238E27FC236}">
                <a16:creationId xmlns:a16="http://schemas.microsoft.com/office/drawing/2014/main" id="{7D009315-D403-6A15-B098-1C16547231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24525" y="2060575"/>
            <a:ext cx="2497138" cy="2105025"/>
          </a:xfrm>
          <a:prstGeom prst="rect">
            <a:avLst/>
          </a:prstGeom>
          <a:noFill/>
          <a:ln w="38100">
            <a:solidFill>
              <a:schemeClr val="accent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914" name="Rectangle 2">
            <a:extLst>
              <a:ext uri="{FF2B5EF4-FFF2-40B4-BE49-F238E27FC236}">
                <a16:creationId xmlns:a16="http://schemas.microsoft.com/office/drawing/2014/main" id="{7D2B2BE4-5025-AC25-FBBC-6B677EA9F10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tr-TR"/>
              <a:t>Reflections</a:t>
            </a:r>
          </a:p>
        </p:txBody>
      </p:sp>
      <p:sp>
        <p:nvSpPr>
          <p:cNvPr id="550915" name="Rectangle 3">
            <a:extLst>
              <a:ext uri="{FF2B5EF4-FFF2-40B4-BE49-F238E27FC236}">
                <a16:creationId xmlns:a16="http://schemas.microsoft.com/office/drawing/2014/main" id="{2F1CC222-E573-7E59-29B3-D14DCC342A92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684213" y="1268413"/>
            <a:ext cx="7558087" cy="2232025"/>
          </a:xfrm>
        </p:spPr>
        <p:txBody>
          <a:bodyPr/>
          <a:lstStyle/>
          <a:p>
            <a:r>
              <a:rPr lang="en-GB" altLang="tr-TR" sz="2700"/>
              <a:t>Planar Reflections</a:t>
            </a:r>
          </a:p>
          <a:p>
            <a:pPr lvl="1"/>
            <a:r>
              <a:rPr lang="en-GB" altLang="tr-TR" sz="2200"/>
              <a:t>Reflection of a flat surface (mirror)</a:t>
            </a:r>
          </a:p>
          <a:p>
            <a:pPr lvl="1"/>
            <a:r>
              <a:rPr lang="en-GB" altLang="tr-TR" sz="2200"/>
              <a:t>Law of Reflection</a:t>
            </a:r>
          </a:p>
          <a:p>
            <a:pPr marL="914400" lvl="2" indent="-152400"/>
            <a:r>
              <a:rPr lang="en-GB" altLang="tr-TR" sz="1800"/>
              <a:t>Angle of incidence = angle of reflection</a:t>
            </a:r>
          </a:p>
        </p:txBody>
      </p:sp>
      <p:graphicFrame>
        <p:nvGraphicFramePr>
          <p:cNvPr id="550916" name="Object 4">
            <a:extLst>
              <a:ext uri="{FF2B5EF4-FFF2-40B4-BE49-F238E27FC236}">
                <a16:creationId xmlns:a16="http://schemas.microsoft.com/office/drawing/2014/main" id="{184BB21F-71F4-3123-7ADD-30A23909718F}"/>
              </a:ext>
            </a:extLst>
          </p:cNvPr>
          <p:cNvGraphicFramePr>
            <a:graphicFrameLocks noGrp="1" noChangeAspect="1"/>
          </p:cNvGraphicFramePr>
          <p:nvPr>
            <p:ph sz="half" idx="2"/>
          </p:nvPr>
        </p:nvGraphicFramePr>
        <p:xfrm>
          <a:off x="1476375" y="3141663"/>
          <a:ext cx="5545138" cy="3105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비트맵 이미지" r:id="rId3" imgW="3968750" imgH="2222500" progId="Paint.Picture">
                  <p:embed/>
                </p:oleObj>
              </mc:Choice>
              <mc:Fallback>
                <p:oleObj name="비트맵 이미지" r:id="rId3" imgW="3968750" imgH="2222500" progId="Paint.Picture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76375" y="3141663"/>
                        <a:ext cx="5545138" cy="3105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634" name="Rectangle 2">
            <a:extLst>
              <a:ext uri="{FF2B5EF4-FFF2-40B4-BE49-F238E27FC236}">
                <a16:creationId xmlns:a16="http://schemas.microsoft.com/office/drawing/2014/main" id="{798ACC09-8F09-C728-28DC-B7293578E81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tr-TR"/>
              <a:t>Reflections</a:t>
            </a:r>
          </a:p>
        </p:txBody>
      </p:sp>
      <p:sp>
        <p:nvSpPr>
          <p:cNvPr id="453635" name="Rectangle 3">
            <a:extLst>
              <a:ext uri="{FF2B5EF4-FFF2-40B4-BE49-F238E27FC236}">
                <a16:creationId xmlns:a16="http://schemas.microsoft.com/office/drawing/2014/main" id="{3C0767F0-A22E-C134-BB16-1B93D8F61A2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79388" y="1524000"/>
            <a:ext cx="8964612" cy="472440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GB" altLang="tr-TR" sz="2700"/>
              <a:t>Instead of following the reflected ray, follow the incident ray through the reflector and hit the same point on the reflected object.</a:t>
            </a:r>
          </a:p>
          <a:p>
            <a:pPr lvl="1">
              <a:lnSpc>
                <a:spcPct val="90000"/>
              </a:lnSpc>
            </a:pPr>
            <a:r>
              <a:rPr lang="en-GB" altLang="tr-TR" sz="2200"/>
              <a:t>A reflection can be rendered by creating a copy of the object</a:t>
            </a:r>
          </a:p>
          <a:p>
            <a:pPr lvl="1">
              <a:lnSpc>
                <a:spcPct val="90000"/>
              </a:lnSpc>
            </a:pPr>
            <a:r>
              <a:rPr lang="en-GB" altLang="tr-TR" sz="2200"/>
              <a:t>Transforming it into the reflected position</a:t>
            </a:r>
          </a:p>
          <a:p>
            <a:pPr lvl="1">
              <a:lnSpc>
                <a:spcPct val="90000"/>
              </a:lnSpc>
            </a:pPr>
            <a:r>
              <a:rPr lang="en-GB" altLang="tr-TR" sz="2200"/>
              <a:t>Rendering it from there.</a:t>
            </a:r>
          </a:p>
          <a:p>
            <a:pPr lvl="1">
              <a:lnSpc>
                <a:spcPct val="90000"/>
              </a:lnSpc>
            </a:pPr>
            <a:r>
              <a:rPr lang="en-GB" altLang="tr-TR" sz="2200"/>
              <a:t>Correct lighting: reflect the light sources in the plane</a:t>
            </a:r>
          </a:p>
          <a:p>
            <a:pPr>
              <a:lnSpc>
                <a:spcPct val="90000"/>
              </a:lnSpc>
            </a:pPr>
            <a:r>
              <a:rPr lang="en-GB" altLang="tr-TR" sz="2700"/>
              <a:t>The reflector has to be partially transparent if the reflection is to be visible</a:t>
            </a:r>
          </a:p>
          <a:p>
            <a:pPr>
              <a:lnSpc>
                <a:spcPct val="90000"/>
              </a:lnSpc>
            </a:pPr>
            <a:r>
              <a:rPr lang="en-GB" altLang="tr-TR" sz="2700"/>
              <a:t>Transparency is a reflectivity factor:</a:t>
            </a:r>
          </a:p>
          <a:p>
            <a:pPr lvl="1">
              <a:lnSpc>
                <a:spcPct val="90000"/>
              </a:lnSpc>
            </a:pPr>
            <a:r>
              <a:rPr lang="en-GB" altLang="tr-TR" sz="2200"/>
              <a:t>More reflective with increasing transparency</a:t>
            </a:r>
          </a:p>
          <a:p>
            <a:pPr>
              <a:lnSpc>
                <a:spcPct val="90000"/>
              </a:lnSpc>
            </a:pPr>
            <a:endParaRPr lang="en-GB" altLang="tr-TR" sz="270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658" name="Rectangle 2">
            <a:extLst>
              <a:ext uri="{FF2B5EF4-FFF2-40B4-BE49-F238E27FC236}">
                <a16:creationId xmlns:a16="http://schemas.microsoft.com/office/drawing/2014/main" id="{E510BCF6-8EE2-5FEC-2163-BC1C9C6EF79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tr-TR"/>
              <a:t>Reflections</a:t>
            </a:r>
          </a:p>
        </p:txBody>
      </p:sp>
      <p:sp>
        <p:nvSpPr>
          <p:cNvPr id="454659" name="Rectangle 3">
            <a:extLst>
              <a:ext uri="{FF2B5EF4-FFF2-40B4-BE49-F238E27FC236}">
                <a16:creationId xmlns:a16="http://schemas.microsoft.com/office/drawing/2014/main" id="{BAA7F0CD-4480-10AD-8B28-57E174D64C0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altLang="tr-TR"/>
              <a:t>Use stencil buffer for the surfaces which has partially no reflection</a:t>
            </a:r>
          </a:p>
          <a:p>
            <a:r>
              <a:rPr lang="en-GB" altLang="tr-TR"/>
              <a:t>The reflected geometry is rendered when with stencil turned on</a:t>
            </a:r>
          </a:p>
          <a:p>
            <a:endParaRPr lang="en-GB" altLang="tr-TR"/>
          </a:p>
          <a:p>
            <a:endParaRPr lang="en-GB" altLang="tr-TR"/>
          </a:p>
        </p:txBody>
      </p:sp>
      <p:pic>
        <p:nvPicPr>
          <p:cNvPr id="454660" name="Picture 4">
            <a:extLst>
              <a:ext uri="{FF2B5EF4-FFF2-40B4-BE49-F238E27FC236}">
                <a16:creationId xmlns:a16="http://schemas.microsoft.com/office/drawing/2014/main" id="{43466B43-96A8-A330-9BD1-9DAF0B18C8C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" y="3581400"/>
            <a:ext cx="2817813" cy="31686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54661" name="Picture 5">
            <a:extLst>
              <a:ext uri="{FF2B5EF4-FFF2-40B4-BE49-F238E27FC236}">
                <a16:creationId xmlns:a16="http://schemas.microsoft.com/office/drawing/2014/main" id="{8A20266D-5895-A5A3-E419-D315F86515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62400" y="3581400"/>
            <a:ext cx="2771775" cy="3124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010" name="Rectangle 2">
            <a:extLst>
              <a:ext uri="{FF2B5EF4-FFF2-40B4-BE49-F238E27FC236}">
                <a16:creationId xmlns:a16="http://schemas.microsoft.com/office/drawing/2014/main" id="{E0A6AA02-91D0-495A-391E-79711F6603A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tr-TR"/>
              <a:t>Reflections</a:t>
            </a:r>
          </a:p>
        </p:txBody>
      </p:sp>
      <p:sp>
        <p:nvSpPr>
          <p:cNvPr id="555011" name="Rectangle 3">
            <a:extLst>
              <a:ext uri="{FF2B5EF4-FFF2-40B4-BE49-F238E27FC236}">
                <a16:creationId xmlns:a16="http://schemas.microsoft.com/office/drawing/2014/main" id="{5198E331-9918-23C3-AC6A-622565A7D9C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sv-SE" altLang="tr-TR"/>
              <a:t>How should you render?</a:t>
            </a:r>
          </a:p>
          <a:p>
            <a:r>
              <a:rPr lang="sv-SE" altLang="tr-TR"/>
              <a:t>1) the ground plan polygon into the stencil buffer</a:t>
            </a:r>
          </a:p>
          <a:p>
            <a:r>
              <a:rPr lang="sv-SE" altLang="tr-TR"/>
              <a:t>2) the scaled (1,1,-1) model, but mask with stencil buffer</a:t>
            </a:r>
          </a:p>
          <a:p>
            <a:r>
              <a:rPr lang="sv-SE" altLang="tr-TR"/>
              <a:t>3) the ground plane (semi-transparent)</a:t>
            </a:r>
          </a:p>
          <a:p>
            <a:r>
              <a:rPr lang="sv-SE" altLang="tr-TR"/>
              <a:t>4) the unscaled model</a:t>
            </a:r>
          </a:p>
          <a:p>
            <a:endParaRPr lang="en-GB" altLang="tr-TR"/>
          </a:p>
          <a:p>
            <a:endParaRPr lang="en-GB" altLang="tr-TR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7058" name="Rectangle 2">
            <a:extLst>
              <a:ext uri="{FF2B5EF4-FFF2-40B4-BE49-F238E27FC236}">
                <a16:creationId xmlns:a16="http://schemas.microsoft.com/office/drawing/2014/main" id="{A3A6C4E5-7516-AA1C-2449-086A16EAD33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tr-TR"/>
              <a:t>Reflections</a:t>
            </a:r>
          </a:p>
        </p:txBody>
      </p:sp>
      <p:sp>
        <p:nvSpPr>
          <p:cNvPr id="557059" name="Rectangle 3">
            <a:extLst>
              <a:ext uri="{FF2B5EF4-FFF2-40B4-BE49-F238E27FC236}">
                <a16:creationId xmlns:a16="http://schemas.microsoft.com/office/drawing/2014/main" id="{A9C3EDAA-358B-F5B1-D9D3-26D96F8C20F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GB" altLang="tr-TR"/>
          </a:p>
          <a:p>
            <a:endParaRPr lang="en-GB" altLang="tr-TR"/>
          </a:p>
        </p:txBody>
      </p:sp>
      <p:pic>
        <p:nvPicPr>
          <p:cNvPr id="557060" name="Picture 4">
            <a:extLst>
              <a:ext uri="{FF2B5EF4-FFF2-40B4-BE49-F238E27FC236}">
                <a16:creationId xmlns:a16="http://schemas.microsoft.com/office/drawing/2014/main" id="{AD0842FA-F901-D532-C30F-F94DBCA6133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1550" y="1268413"/>
            <a:ext cx="5410200" cy="37703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57061" name="Rectangle 5">
            <a:extLst>
              <a:ext uri="{FF2B5EF4-FFF2-40B4-BE49-F238E27FC236}">
                <a16:creationId xmlns:a16="http://schemas.microsoft.com/office/drawing/2014/main" id="{A3EB8176-4455-2E6A-8CAF-01BBA44356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2988" y="5300663"/>
            <a:ext cx="6408737" cy="1187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0000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/>
            <a:r>
              <a:rPr lang="sv-SE" altLang="tr-TR" sz="2400"/>
              <a:t>Instead of the scale-trick, you can reflect the camera position and direction in the plane</a:t>
            </a:r>
          </a:p>
          <a:p>
            <a:pPr algn="l"/>
            <a:r>
              <a:rPr lang="sv-SE" altLang="tr-TR" sz="2400"/>
              <a:t>Then render reflection image from there</a:t>
            </a:r>
            <a:endParaRPr lang="en-GB" altLang="tr-TR" sz="240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682" name="Rectangle 2">
            <a:extLst>
              <a:ext uri="{FF2B5EF4-FFF2-40B4-BE49-F238E27FC236}">
                <a16:creationId xmlns:a16="http://schemas.microsoft.com/office/drawing/2014/main" id="{F9D5F5B1-C707-9639-DB4A-3ECD6B2F403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tr-TR"/>
              <a:t>Glossy Effects</a:t>
            </a:r>
          </a:p>
        </p:txBody>
      </p:sp>
      <p:sp>
        <p:nvSpPr>
          <p:cNvPr id="455683" name="Rectangle 3">
            <a:extLst>
              <a:ext uri="{FF2B5EF4-FFF2-40B4-BE49-F238E27FC236}">
                <a16:creationId xmlns:a16="http://schemas.microsoft.com/office/drawing/2014/main" id="{893D9AA5-0AF9-A847-A9AD-F56461BF57C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altLang="tr-TR"/>
              <a:t>Fogged reflections</a:t>
            </a:r>
          </a:p>
          <a:p>
            <a:pPr lvl="1"/>
            <a:r>
              <a:rPr lang="en-GB" altLang="tr-TR"/>
              <a:t>Vertex shaders</a:t>
            </a:r>
          </a:p>
          <a:p>
            <a:pPr lvl="1"/>
            <a:r>
              <a:rPr lang="en-GB" altLang="tr-TR"/>
              <a:t>Accumulation and stencil buffers for fuzzy reflections, frosted glass</a:t>
            </a:r>
          </a:p>
          <a:p>
            <a:pPr lvl="1"/>
            <a:endParaRPr lang="en-GB" altLang="tr-TR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706" name="Rectangle 2">
            <a:extLst>
              <a:ext uri="{FF2B5EF4-FFF2-40B4-BE49-F238E27FC236}">
                <a16:creationId xmlns:a16="http://schemas.microsoft.com/office/drawing/2014/main" id="{042CDFDB-394F-7B57-9114-5EEA208D013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tr-TR"/>
              <a:t>Refractions</a:t>
            </a:r>
          </a:p>
        </p:txBody>
      </p:sp>
      <p:sp>
        <p:nvSpPr>
          <p:cNvPr id="456707" name="Rectangle 3">
            <a:extLst>
              <a:ext uri="{FF2B5EF4-FFF2-40B4-BE49-F238E27FC236}">
                <a16:creationId xmlns:a16="http://schemas.microsoft.com/office/drawing/2014/main" id="{5E189A26-1573-48EA-C6A5-84120B9AE04D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685800" y="1524000"/>
            <a:ext cx="4822825" cy="3705225"/>
          </a:xfrm>
        </p:spPr>
        <p:txBody>
          <a:bodyPr/>
          <a:lstStyle/>
          <a:p>
            <a:pPr>
              <a:lnSpc>
                <a:spcPct val="80000"/>
              </a:lnSpc>
            </a:pPr>
            <a:r>
              <a:rPr lang="en-GB" altLang="tr-TR" sz="2100"/>
              <a:t>Combination of different effects</a:t>
            </a:r>
          </a:p>
          <a:p>
            <a:pPr>
              <a:lnSpc>
                <a:spcPct val="80000"/>
              </a:lnSpc>
            </a:pPr>
            <a:r>
              <a:rPr lang="en-GB" altLang="tr-TR" sz="2100"/>
              <a:t>Fresnel term</a:t>
            </a:r>
          </a:p>
          <a:p>
            <a:pPr lvl="1">
              <a:lnSpc>
                <a:spcPct val="80000"/>
              </a:lnSpc>
            </a:pPr>
            <a:r>
              <a:rPr lang="en-GB" altLang="tr-TR" sz="1800"/>
              <a:t>A blend factor between of reflection and refraction</a:t>
            </a:r>
          </a:p>
          <a:p>
            <a:pPr lvl="1">
              <a:lnSpc>
                <a:spcPct val="80000"/>
              </a:lnSpc>
            </a:pPr>
            <a:r>
              <a:rPr lang="en-GB" altLang="tr-TR" sz="1800"/>
              <a:t>Underwater objects are visible when looking directly into water, but looking at a grazing angle mostly hides what is below</a:t>
            </a:r>
          </a:p>
          <a:p>
            <a:pPr>
              <a:lnSpc>
                <a:spcPct val="80000"/>
              </a:lnSpc>
            </a:pPr>
            <a:r>
              <a:rPr lang="en-GB" altLang="tr-TR" sz="2100"/>
              <a:t>Snell’s Law</a:t>
            </a:r>
          </a:p>
          <a:p>
            <a:pPr lvl="1">
              <a:lnSpc>
                <a:spcPct val="80000"/>
              </a:lnSpc>
            </a:pPr>
            <a:r>
              <a:rPr lang="en-GB" altLang="tr-TR" sz="1800"/>
              <a:t>Relationship between incoming and outgoing vectors when moving from one medium to other</a:t>
            </a:r>
          </a:p>
          <a:p>
            <a:pPr lvl="1">
              <a:lnSpc>
                <a:spcPct val="80000"/>
              </a:lnSpc>
            </a:pPr>
            <a:r>
              <a:rPr lang="en-GB" altLang="tr-TR" sz="1800"/>
              <a:t>Water 1.33, glass 1.5, air 1.0 (n refraction index)</a:t>
            </a:r>
          </a:p>
          <a:p>
            <a:pPr lvl="1">
              <a:lnSpc>
                <a:spcPct val="80000"/>
              </a:lnSpc>
              <a:buFontTx/>
              <a:buNone/>
            </a:pPr>
            <a:endParaRPr lang="en-GB" altLang="tr-TR" sz="1800"/>
          </a:p>
        </p:txBody>
      </p:sp>
      <p:graphicFrame>
        <p:nvGraphicFramePr>
          <p:cNvPr id="456708" name="Object 4">
            <a:extLst>
              <a:ext uri="{FF2B5EF4-FFF2-40B4-BE49-F238E27FC236}">
                <a16:creationId xmlns:a16="http://schemas.microsoft.com/office/drawing/2014/main" id="{9D89A1E4-0856-2E19-6812-6AE78D8D8CD8}"/>
              </a:ext>
            </a:extLst>
          </p:cNvPr>
          <p:cNvGraphicFramePr>
            <a:graphicFrameLocks noGrp="1" noChangeAspect="1"/>
          </p:cNvGraphicFramePr>
          <p:nvPr>
            <p:ph sz="half" idx="2"/>
          </p:nvPr>
        </p:nvGraphicFramePr>
        <p:xfrm>
          <a:off x="1476375" y="5734050"/>
          <a:ext cx="3810000" cy="588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32181800" imgH="4978400" progId="Equation.3">
                  <p:embed/>
                </p:oleObj>
              </mc:Choice>
              <mc:Fallback>
                <p:oleObj name="Equation" r:id="rId3" imgW="32181800" imgH="49784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76375" y="5734050"/>
                        <a:ext cx="3810000" cy="5889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456710" name="Picture 6">
            <a:extLst>
              <a:ext uri="{FF2B5EF4-FFF2-40B4-BE49-F238E27FC236}">
                <a16:creationId xmlns:a16="http://schemas.microsoft.com/office/drawing/2014/main" id="{FACFB9E7-4FC1-7DE5-D244-3638A1C236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59563" y="260350"/>
            <a:ext cx="1924050" cy="1895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0000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56711" name="Picture 7">
            <a:extLst>
              <a:ext uri="{FF2B5EF4-FFF2-40B4-BE49-F238E27FC236}">
                <a16:creationId xmlns:a16="http://schemas.microsoft.com/office/drawing/2014/main" id="{80635971-123E-C47C-4314-7D0CEEDC6F3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16688" y="2708275"/>
            <a:ext cx="2400300" cy="3657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0000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754" name="Rectangle 2">
            <a:extLst>
              <a:ext uri="{FF2B5EF4-FFF2-40B4-BE49-F238E27FC236}">
                <a16:creationId xmlns:a16="http://schemas.microsoft.com/office/drawing/2014/main" id="{1E86EE4F-1B19-1145-7746-BC87FCE2D10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tr-TR"/>
              <a:t>Refractions</a:t>
            </a:r>
          </a:p>
        </p:txBody>
      </p:sp>
      <p:sp>
        <p:nvSpPr>
          <p:cNvPr id="458755" name="Rectangle 3">
            <a:extLst>
              <a:ext uri="{FF2B5EF4-FFF2-40B4-BE49-F238E27FC236}">
                <a16:creationId xmlns:a16="http://schemas.microsoft.com/office/drawing/2014/main" id="{76412EDC-8A3F-B49E-339D-F92653ADA0A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altLang="tr-TR"/>
              <a:t>Simulating refraction</a:t>
            </a:r>
          </a:p>
          <a:p>
            <a:pPr lvl="1"/>
            <a:r>
              <a:rPr lang="en-GB" altLang="tr-TR"/>
              <a:t>Use a transform matrix to properly warp an image generated from a refracted viewpoint. </a:t>
            </a:r>
          </a:p>
          <a:p>
            <a:pPr lvl="1"/>
            <a:r>
              <a:rPr lang="en-GB" altLang="tr-TR"/>
              <a:t>Use environment bump mapping</a:t>
            </a:r>
          </a:p>
          <a:p>
            <a:pPr lvl="1"/>
            <a:endParaRPr lang="en-GB" altLang="tr-TR"/>
          </a:p>
          <a:p>
            <a:pPr lvl="1"/>
            <a:r>
              <a:rPr lang="en-GB" altLang="tr-TR"/>
              <a:t>http://www.ps.missouri.edu/rickspage/refract/refraction.html</a:t>
            </a:r>
          </a:p>
          <a:p>
            <a:pPr lvl="1"/>
            <a:endParaRPr lang="en-GB" altLang="tr-TR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778" name="Rectangle 2">
            <a:extLst>
              <a:ext uri="{FF2B5EF4-FFF2-40B4-BE49-F238E27FC236}">
                <a16:creationId xmlns:a16="http://schemas.microsoft.com/office/drawing/2014/main" id="{AFFC9901-FEF1-1306-50C8-E63F8977054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tr-TR"/>
              <a:t>Shadows</a:t>
            </a:r>
          </a:p>
        </p:txBody>
      </p:sp>
      <p:graphicFrame>
        <p:nvGraphicFramePr>
          <p:cNvPr id="459780" name="Object 4">
            <a:extLst>
              <a:ext uri="{FF2B5EF4-FFF2-40B4-BE49-F238E27FC236}">
                <a16:creationId xmlns:a16="http://schemas.microsoft.com/office/drawing/2014/main" id="{ECE1A3AF-4F42-BF97-92CE-0D1E16A5C62F}"/>
              </a:ext>
            </a:extLst>
          </p:cNvPr>
          <p:cNvGraphicFramePr>
            <a:graphicFrameLocks noGrp="1" noChangeAspect="1"/>
          </p:cNvGraphicFramePr>
          <p:nvPr>
            <p:ph idx="1"/>
          </p:nvPr>
        </p:nvGraphicFramePr>
        <p:xfrm>
          <a:off x="1331913" y="1196975"/>
          <a:ext cx="6570662" cy="4125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비트맵 이미지" r:id="rId3" imgW="6381750" imgH="4006850" progId="Paint.Picture">
                  <p:embed/>
                </p:oleObj>
              </mc:Choice>
              <mc:Fallback>
                <p:oleObj name="비트맵 이미지" r:id="rId3" imgW="6381750" imgH="4006850" progId="Paint.Picture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31913" y="1196975"/>
                        <a:ext cx="6570662" cy="4125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9106" name="Rectangle 2">
            <a:extLst>
              <a:ext uri="{FF2B5EF4-FFF2-40B4-BE49-F238E27FC236}">
                <a16:creationId xmlns:a16="http://schemas.microsoft.com/office/drawing/2014/main" id="{859EFA9F-21EE-A04B-92C2-EA1C1355352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en-GB" altLang="tr-TR"/>
          </a:p>
        </p:txBody>
      </p:sp>
      <p:sp>
        <p:nvSpPr>
          <p:cNvPr id="559107" name="Rectangle 3">
            <a:extLst>
              <a:ext uri="{FF2B5EF4-FFF2-40B4-BE49-F238E27FC236}">
                <a16:creationId xmlns:a16="http://schemas.microsoft.com/office/drawing/2014/main" id="{9B6D86FC-104D-A8A0-A33E-7E6D6B1C078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GB" altLang="tr-TR"/>
          </a:p>
        </p:txBody>
      </p:sp>
      <p:pic>
        <p:nvPicPr>
          <p:cNvPr id="559108" name="Picture 4">
            <a:extLst>
              <a:ext uri="{FF2B5EF4-FFF2-40B4-BE49-F238E27FC236}">
                <a16:creationId xmlns:a16="http://schemas.microsoft.com/office/drawing/2014/main" id="{90195A8B-42B5-6ED8-3312-E3DF3C16F4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1550" y="333375"/>
            <a:ext cx="6746875" cy="5060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130" name="Rectangle 2">
            <a:extLst>
              <a:ext uri="{FF2B5EF4-FFF2-40B4-BE49-F238E27FC236}">
                <a16:creationId xmlns:a16="http://schemas.microsoft.com/office/drawing/2014/main" id="{D53FA991-FC59-597D-2EBA-42A7B76D433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en-GB" altLang="tr-TR"/>
          </a:p>
        </p:txBody>
      </p:sp>
      <p:sp>
        <p:nvSpPr>
          <p:cNvPr id="560131" name="Rectangle 3">
            <a:extLst>
              <a:ext uri="{FF2B5EF4-FFF2-40B4-BE49-F238E27FC236}">
                <a16:creationId xmlns:a16="http://schemas.microsoft.com/office/drawing/2014/main" id="{7F7F6B40-48E6-F227-9314-98BF5D3061B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GB" altLang="tr-TR"/>
          </a:p>
        </p:txBody>
      </p:sp>
      <p:pic>
        <p:nvPicPr>
          <p:cNvPr id="560132" name="Picture 4">
            <a:extLst>
              <a:ext uri="{FF2B5EF4-FFF2-40B4-BE49-F238E27FC236}">
                <a16:creationId xmlns:a16="http://schemas.microsoft.com/office/drawing/2014/main" id="{C0C84E3F-9E16-25D5-0BB6-C69A3758B35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0113" y="981075"/>
            <a:ext cx="7239000" cy="54244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1156" name="Picture 4">
            <a:extLst>
              <a:ext uri="{FF2B5EF4-FFF2-40B4-BE49-F238E27FC236}">
                <a16:creationId xmlns:a16="http://schemas.microsoft.com/office/drawing/2014/main" id="{FCAE40F9-B283-75C4-0C29-E8C4B26DF4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1916113"/>
            <a:ext cx="4343400" cy="41449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61157" name="Picture 5">
            <a:extLst>
              <a:ext uri="{FF2B5EF4-FFF2-40B4-BE49-F238E27FC236}">
                <a16:creationId xmlns:a16="http://schemas.microsoft.com/office/drawing/2014/main" id="{38832FE5-E0BC-3A7B-4A4B-3BA840EC74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00600" y="1916113"/>
            <a:ext cx="4343400" cy="41465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1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611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1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5611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2180" name="Picture 4">
            <a:extLst>
              <a:ext uri="{FF2B5EF4-FFF2-40B4-BE49-F238E27FC236}">
                <a16:creationId xmlns:a16="http://schemas.microsoft.com/office/drawing/2014/main" id="{A2E87A7E-089C-FBD7-1DD1-DBD0D738D0F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1371600"/>
            <a:ext cx="4068763" cy="5029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62181" name="Picture 5">
            <a:extLst>
              <a:ext uri="{FF2B5EF4-FFF2-40B4-BE49-F238E27FC236}">
                <a16:creationId xmlns:a16="http://schemas.microsoft.com/office/drawing/2014/main" id="{D1EC0E1A-990B-2002-24AB-DFF8A6ADA8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97450" y="1371600"/>
            <a:ext cx="4070350" cy="5029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826" name="Rectangle 2">
            <a:extLst>
              <a:ext uri="{FF2B5EF4-FFF2-40B4-BE49-F238E27FC236}">
                <a16:creationId xmlns:a16="http://schemas.microsoft.com/office/drawing/2014/main" id="{BB75651A-09AE-3654-5284-A6C9395BE7E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tr-TR"/>
              <a:t>Shadows</a:t>
            </a:r>
          </a:p>
        </p:txBody>
      </p:sp>
      <p:sp>
        <p:nvSpPr>
          <p:cNvPr id="461827" name="Rectangle 3">
            <a:extLst>
              <a:ext uri="{FF2B5EF4-FFF2-40B4-BE49-F238E27FC236}">
                <a16:creationId xmlns:a16="http://schemas.microsoft.com/office/drawing/2014/main" id="{14899442-33D8-BCB0-4762-BCC09191580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altLang="tr-TR"/>
              <a:t>It is better to have an inaccurate shadow than none at all.</a:t>
            </a:r>
          </a:p>
          <a:p>
            <a:r>
              <a:rPr lang="en-GB" altLang="tr-TR"/>
              <a:t>Give a visual cue</a:t>
            </a:r>
          </a:p>
          <a:p>
            <a:endParaRPr lang="en-GB" altLang="tr-TR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850" name="Rectangle 2">
            <a:extLst>
              <a:ext uri="{FF2B5EF4-FFF2-40B4-BE49-F238E27FC236}">
                <a16:creationId xmlns:a16="http://schemas.microsoft.com/office/drawing/2014/main" id="{DC8F8749-D140-1EE7-BA52-97422AC8EDF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tr-TR"/>
              <a:t>Shadows</a:t>
            </a:r>
          </a:p>
        </p:txBody>
      </p:sp>
      <p:sp>
        <p:nvSpPr>
          <p:cNvPr id="462851" name="Rectangle 3">
            <a:extLst>
              <a:ext uri="{FF2B5EF4-FFF2-40B4-BE49-F238E27FC236}">
                <a16:creationId xmlns:a16="http://schemas.microsoft.com/office/drawing/2014/main" id="{E4BFD8D9-97A1-0591-09BF-A2AEA6E42A94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611188" y="1341438"/>
            <a:ext cx="7993062" cy="4724400"/>
          </a:xfrm>
        </p:spPr>
        <p:txBody>
          <a:bodyPr/>
          <a:lstStyle/>
          <a:p>
            <a:r>
              <a:rPr lang="en-GB" altLang="tr-TR" sz="2700"/>
              <a:t>Planar Shadows two types: Projection and Soft</a:t>
            </a:r>
          </a:p>
          <a:p>
            <a:pPr lvl="1"/>
            <a:r>
              <a:rPr lang="en-GB" altLang="tr-TR" sz="2200"/>
              <a:t>Projection Shadows</a:t>
            </a:r>
          </a:p>
          <a:p>
            <a:pPr marL="914400" lvl="2" indent="-152400"/>
            <a:r>
              <a:rPr lang="en-GB" altLang="tr-TR" sz="1800"/>
              <a:t>3D object is rendered a second time to create a shadow. Project the vertices onto a plane</a:t>
            </a:r>
          </a:p>
          <a:p>
            <a:pPr marL="914400" lvl="2" indent="-152400"/>
            <a:endParaRPr lang="en-GB" altLang="tr-TR" sz="1800"/>
          </a:p>
        </p:txBody>
      </p:sp>
      <p:graphicFrame>
        <p:nvGraphicFramePr>
          <p:cNvPr id="462852" name="Object 4">
            <a:extLst>
              <a:ext uri="{FF2B5EF4-FFF2-40B4-BE49-F238E27FC236}">
                <a16:creationId xmlns:a16="http://schemas.microsoft.com/office/drawing/2014/main" id="{CD24C2CD-95E1-FFE0-3579-411D9C920919}"/>
              </a:ext>
            </a:extLst>
          </p:cNvPr>
          <p:cNvGraphicFramePr>
            <a:graphicFrameLocks noGrp="1" noChangeAspect="1"/>
          </p:cNvGraphicFramePr>
          <p:nvPr>
            <p:ph sz="half" idx="2"/>
          </p:nvPr>
        </p:nvGraphicFramePr>
        <p:xfrm>
          <a:off x="755650" y="3068638"/>
          <a:ext cx="7632700" cy="30781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비트맵 이미지" r:id="rId3" imgW="4502150" imgH="1816100" progId="Paint.Picture">
                  <p:embed/>
                </p:oleObj>
              </mc:Choice>
              <mc:Fallback>
                <p:oleObj name="비트맵 이미지" r:id="rId3" imgW="4502150" imgH="1816100" progId="Paint.Picture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5650" y="3068638"/>
                        <a:ext cx="7632700" cy="30781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949" name="Rectangle 5">
            <a:extLst>
              <a:ext uri="{FF2B5EF4-FFF2-40B4-BE49-F238E27FC236}">
                <a16:creationId xmlns:a16="http://schemas.microsoft.com/office/drawing/2014/main" id="{AD5F1088-DF3F-687A-B038-7983FD1E4F6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tr-TR"/>
              <a:t>Shadows</a:t>
            </a:r>
          </a:p>
        </p:txBody>
      </p:sp>
      <p:graphicFrame>
        <p:nvGraphicFramePr>
          <p:cNvPr id="466948" name="Object 4">
            <a:extLst>
              <a:ext uri="{FF2B5EF4-FFF2-40B4-BE49-F238E27FC236}">
                <a16:creationId xmlns:a16="http://schemas.microsoft.com/office/drawing/2014/main" id="{5E2D541A-98F4-4665-1634-F0A3CA16EDD2}"/>
              </a:ext>
            </a:extLst>
          </p:cNvPr>
          <p:cNvGraphicFramePr>
            <a:graphicFrameLocks noGrp="1" noChangeAspect="1"/>
          </p:cNvGraphicFramePr>
          <p:nvPr>
            <p:ph idx="1"/>
          </p:nvPr>
        </p:nvGraphicFramePr>
        <p:xfrm>
          <a:off x="1042988" y="2924175"/>
          <a:ext cx="7845425" cy="1906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비트맵 이미지" r:id="rId3" imgW="6629400" imgH="1625600" progId="Paint.Picture">
                  <p:embed/>
                </p:oleObj>
              </mc:Choice>
              <mc:Fallback>
                <p:oleObj name="비트맵 이미지" r:id="rId3" imgW="6629400" imgH="1625600" progId="Paint.Picture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42988" y="2924175"/>
                        <a:ext cx="7845425" cy="19065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66951" name="Text Box 7">
            <a:extLst>
              <a:ext uri="{FF2B5EF4-FFF2-40B4-BE49-F238E27FC236}">
                <a16:creationId xmlns:a16="http://schemas.microsoft.com/office/drawing/2014/main" id="{80F40CA9-0A50-4FB4-952B-8B05FACEE89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563" y="3419475"/>
            <a:ext cx="1000125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0000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GB" altLang="tr-TR" sz="3600"/>
              <a:t>M=(</a:t>
            </a:r>
          </a:p>
        </p:txBody>
      </p:sp>
      <p:sp>
        <p:nvSpPr>
          <p:cNvPr id="466952" name="Text Box 8">
            <a:extLst>
              <a:ext uri="{FF2B5EF4-FFF2-40B4-BE49-F238E27FC236}">
                <a16:creationId xmlns:a16="http://schemas.microsoft.com/office/drawing/2014/main" id="{45FB2661-78A3-2429-AC02-4550BE88078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08400" y="1700213"/>
            <a:ext cx="1646238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0000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GB" altLang="tr-TR" sz="3600"/>
              <a:t>Mv=p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898" name="Rectangle 2">
            <a:extLst>
              <a:ext uri="{FF2B5EF4-FFF2-40B4-BE49-F238E27FC236}">
                <a16:creationId xmlns:a16="http://schemas.microsoft.com/office/drawing/2014/main" id="{5902FE87-39DF-6248-CAC6-B6452B22C2E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tr-TR"/>
              <a:t>Shadows</a:t>
            </a:r>
          </a:p>
        </p:txBody>
      </p:sp>
      <p:sp>
        <p:nvSpPr>
          <p:cNvPr id="464899" name="Rectangle 3">
            <a:extLst>
              <a:ext uri="{FF2B5EF4-FFF2-40B4-BE49-F238E27FC236}">
                <a16:creationId xmlns:a16="http://schemas.microsoft.com/office/drawing/2014/main" id="{FC4C3868-EC97-1D43-3C22-DAB75B27E85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GB" altLang="tr-TR" sz="2700"/>
              <a:t>To render shadow apply the projection matrix to the objects that should cast shadows on the plane PI and render this projected object with a dark color and no illumination</a:t>
            </a:r>
          </a:p>
          <a:p>
            <a:pPr>
              <a:lnSpc>
                <a:spcPct val="90000"/>
              </a:lnSpc>
            </a:pPr>
            <a:r>
              <a:rPr lang="en-GB" altLang="tr-TR" sz="2700"/>
              <a:t>Use stencil buffer for shadows falling outside of the plane</a:t>
            </a:r>
          </a:p>
          <a:p>
            <a:pPr>
              <a:lnSpc>
                <a:spcPct val="90000"/>
              </a:lnSpc>
            </a:pPr>
            <a:r>
              <a:rPr lang="en-GB" altLang="tr-TR" sz="2700"/>
              <a:t>For semitransparent shadows more care</a:t>
            </a:r>
          </a:p>
          <a:p>
            <a:pPr>
              <a:lnSpc>
                <a:spcPct val="90000"/>
              </a:lnSpc>
            </a:pPr>
            <a:r>
              <a:rPr lang="en-GB" altLang="tr-TR" sz="2700"/>
              <a:t>Projective shadows has to be rendered at each frame even if the shadow is not changing</a:t>
            </a:r>
          </a:p>
          <a:p>
            <a:pPr>
              <a:lnSpc>
                <a:spcPct val="90000"/>
              </a:lnSpc>
            </a:pPr>
            <a:r>
              <a:rPr lang="en-GB" altLang="tr-TR" sz="2700"/>
              <a:t>Shadows are view-independent</a:t>
            </a:r>
          </a:p>
          <a:p>
            <a:pPr>
              <a:lnSpc>
                <a:spcPct val="90000"/>
              </a:lnSpc>
            </a:pPr>
            <a:r>
              <a:rPr lang="en-GB" altLang="tr-TR" sz="2700"/>
              <a:t>We can use textures !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922" name="Rectangle 2">
            <a:extLst>
              <a:ext uri="{FF2B5EF4-FFF2-40B4-BE49-F238E27FC236}">
                <a16:creationId xmlns:a16="http://schemas.microsoft.com/office/drawing/2014/main" id="{3EB4C8BE-E118-B9DC-A505-358A67DE72A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tr-TR"/>
              <a:t>Shadows</a:t>
            </a:r>
          </a:p>
        </p:txBody>
      </p:sp>
      <p:sp>
        <p:nvSpPr>
          <p:cNvPr id="465923" name="Rectangle 3">
            <a:extLst>
              <a:ext uri="{FF2B5EF4-FFF2-40B4-BE49-F238E27FC236}">
                <a16:creationId xmlns:a16="http://schemas.microsoft.com/office/drawing/2014/main" id="{3D76AF34-F9CA-2147-9AF7-9EBD6A90DC8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altLang="tr-TR" sz="2700"/>
              <a:t>Soft Shadows</a:t>
            </a:r>
          </a:p>
          <a:p>
            <a:pPr lvl="1"/>
            <a:r>
              <a:rPr lang="en-GB" altLang="tr-TR" sz="2200"/>
              <a:t>Whenever a light source has an area</a:t>
            </a:r>
          </a:p>
          <a:p>
            <a:pPr lvl="1"/>
            <a:r>
              <a:rPr lang="en-GB" altLang="tr-TR" sz="2200"/>
              <a:t>Generic way: Area light = N number of point lights</a:t>
            </a:r>
          </a:p>
          <a:p>
            <a:pPr lvl="1"/>
            <a:r>
              <a:rPr lang="en-GB" altLang="tr-TR" sz="2200"/>
              <a:t> For a each of these point light sources an image is rendered and added to the accumulation buffer</a:t>
            </a:r>
          </a:p>
          <a:p>
            <a:pPr lvl="1"/>
            <a:r>
              <a:rPr lang="en-GB" altLang="tr-TR" sz="2200"/>
              <a:t>Heckbert, Herf method: </a:t>
            </a:r>
          </a:p>
          <a:p>
            <a:pPr lvl="2"/>
            <a:r>
              <a:rPr lang="en-GB" altLang="tr-TR" sz="1800"/>
              <a:t>use a frustrum. For each point light source, the occluders inside the pyramid formed by the point light source and the receiver parallelogram are transformed into a parallelepiped with the matrix M.</a:t>
            </a:r>
          </a:p>
          <a:p>
            <a:pPr lvl="2"/>
            <a:r>
              <a:rPr lang="en-GB" altLang="tr-TR" sz="1800"/>
              <a:t>Sample the light source with point lights</a:t>
            </a:r>
          </a:p>
          <a:p>
            <a:pPr lvl="2"/>
            <a:r>
              <a:rPr lang="en-GB" altLang="tr-TR" sz="1800"/>
              <a:t>The shadow has to be recomputed when the objects or the light source moves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994" name="Rectangle 2">
            <a:extLst>
              <a:ext uri="{FF2B5EF4-FFF2-40B4-BE49-F238E27FC236}">
                <a16:creationId xmlns:a16="http://schemas.microsoft.com/office/drawing/2014/main" id="{BF626424-58BB-8E0F-DF0D-C5417673BD4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tr-TR"/>
              <a:t>Shadows</a:t>
            </a:r>
          </a:p>
        </p:txBody>
      </p:sp>
      <p:sp>
        <p:nvSpPr>
          <p:cNvPr id="468995" name="Rectangle 3">
            <a:extLst>
              <a:ext uri="{FF2B5EF4-FFF2-40B4-BE49-F238E27FC236}">
                <a16:creationId xmlns:a16="http://schemas.microsoft.com/office/drawing/2014/main" id="{3BEABEB6-8E43-9104-C4E7-6B39BB405EC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GB" altLang="tr-TR"/>
              <a:t>Gooch’s method</a:t>
            </a:r>
          </a:p>
          <a:p>
            <a:pPr lvl="1">
              <a:lnSpc>
                <a:spcPct val="90000"/>
              </a:lnSpc>
            </a:pPr>
            <a:r>
              <a:rPr lang="en-GB" altLang="tr-TR"/>
              <a:t>Move the receiving plane’s location up and down and the projections cast upon it are averaged.</a:t>
            </a:r>
          </a:p>
          <a:p>
            <a:pPr lvl="1">
              <a:lnSpc>
                <a:spcPct val="90000"/>
              </a:lnSpc>
            </a:pPr>
            <a:r>
              <a:rPr lang="en-GB" altLang="tr-TR"/>
              <a:t>Nested shadows: looks better, fewer samples</a:t>
            </a:r>
          </a:p>
          <a:p>
            <a:pPr lvl="1">
              <a:lnSpc>
                <a:spcPct val="90000"/>
              </a:lnSpc>
            </a:pPr>
            <a:r>
              <a:rPr lang="en-GB" altLang="tr-TR"/>
              <a:t>Problem: If the object touches the receiver then the shadow will not be modelled correctly</a:t>
            </a:r>
          </a:p>
          <a:p>
            <a:pPr lvl="1">
              <a:lnSpc>
                <a:spcPct val="90000"/>
              </a:lnSpc>
            </a:pPr>
            <a:r>
              <a:rPr lang="en-GB" altLang="tr-TR"/>
              <a:t>Large Umbra: projected shadow is larger than the object. In reality, if an area light is larger than the width of an occluder, the occluder will cast a smaller umbra region 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018" name="Rectangle 2">
            <a:extLst>
              <a:ext uri="{FF2B5EF4-FFF2-40B4-BE49-F238E27FC236}">
                <a16:creationId xmlns:a16="http://schemas.microsoft.com/office/drawing/2014/main" id="{8C193F9D-8908-76A5-4C7A-24E53FB7623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tr-TR"/>
              <a:t>Shadows</a:t>
            </a:r>
          </a:p>
        </p:txBody>
      </p:sp>
      <p:sp>
        <p:nvSpPr>
          <p:cNvPr id="470019" name="Rectangle 3">
            <a:extLst>
              <a:ext uri="{FF2B5EF4-FFF2-40B4-BE49-F238E27FC236}">
                <a16:creationId xmlns:a16="http://schemas.microsoft.com/office/drawing/2014/main" id="{0A2CAF62-D889-0E95-E07F-57496CAB16C6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685800" y="1524000"/>
            <a:ext cx="7773988" cy="2120900"/>
          </a:xfrm>
        </p:spPr>
        <p:txBody>
          <a:bodyPr/>
          <a:lstStyle/>
          <a:p>
            <a:r>
              <a:rPr lang="en-GB" altLang="tr-TR" sz="2700"/>
              <a:t>Shadows on Curved Surfaces</a:t>
            </a:r>
          </a:p>
          <a:p>
            <a:pPr lvl="1"/>
            <a:r>
              <a:rPr lang="en-GB" altLang="tr-TR" sz="2200"/>
              <a:t> Use Shadow textures</a:t>
            </a:r>
          </a:p>
          <a:p>
            <a:pPr marL="914400" lvl="2" indent="-152400"/>
            <a:r>
              <a:rPr lang="en-GB" altLang="tr-TR" sz="1800"/>
              <a:t>Each vertex on the receiver has a u,v texture coordinate computed for it and has the texture applied to it.</a:t>
            </a:r>
          </a:p>
        </p:txBody>
      </p:sp>
      <p:graphicFrame>
        <p:nvGraphicFramePr>
          <p:cNvPr id="470020" name="Object 4">
            <a:extLst>
              <a:ext uri="{FF2B5EF4-FFF2-40B4-BE49-F238E27FC236}">
                <a16:creationId xmlns:a16="http://schemas.microsoft.com/office/drawing/2014/main" id="{51258AE5-2EE1-04CE-4FA6-C3D9274A3123}"/>
              </a:ext>
            </a:extLst>
          </p:cNvPr>
          <p:cNvGraphicFramePr>
            <a:graphicFrameLocks noGrp="1" noChangeAspect="1"/>
          </p:cNvGraphicFramePr>
          <p:nvPr>
            <p:ph sz="half" idx="2"/>
          </p:nvPr>
        </p:nvGraphicFramePr>
        <p:xfrm>
          <a:off x="611188" y="3644900"/>
          <a:ext cx="7991475" cy="2867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비트맵 이미지" r:id="rId3" imgW="4533900" imgH="1625600" progId="Paint.Picture">
                  <p:embed/>
                </p:oleObj>
              </mc:Choice>
              <mc:Fallback>
                <p:oleObj name="비트맵 이미지" r:id="rId3" imgW="4533900" imgH="1625600" progId="Paint.Picture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1188" y="3644900"/>
                        <a:ext cx="7991475" cy="2867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066" name="Rectangle 2">
            <a:extLst>
              <a:ext uri="{FF2B5EF4-FFF2-40B4-BE49-F238E27FC236}">
                <a16:creationId xmlns:a16="http://schemas.microsoft.com/office/drawing/2014/main" id="{4D0522E9-3352-174E-3C37-0250BD7D1A8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tr-TR"/>
              <a:t>Shadows</a:t>
            </a:r>
          </a:p>
        </p:txBody>
      </p:sp>
      <p:sp>
        <p:nvSpPr>
          <p:cNvPr id="472067" name="Rectangle 3">
            <a:extLst>
              <a:ext uri="{FF2B5EF4-FFF2-40B4-BE49-F238E27FC236}">
                <a16:creationId xmlns:a16="http://schemas.microsoft.com/office/drawing/2014/main" id="{4AEA4ECA-51EC-B937-908B-572B459B95B4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685800" y="1524000"/>
            <a:ext cx="7918450" cy="233680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GB" altLang="tr-TR" sz="2300"/>
              <a:t>Shadow Volumes</a:t>
            </a:r>
          </a:p>
          <a:p>
            <a:pPr lvl="1">
              <a:lnSpc>
                <a:spcPct val="90000"/>
              </a:lnSpc>
            </a:pPr>
            <a:r>
              <a:rPr lang="en-GB" altLang="tr-TR" sz="2000"/>
              <a:t> Extending the lines from a point through the vertices of a triangle to infinity yields an infinite pyramid. The part under the triangle, the part that does not include the point, is a truncated infinite pyramid, and the upper part is simply a pyramid. </a:t>
            </a:r>
          </a:p>
          <a:p>
            <a:pPr lvl="1">
              <a:lnSpc>
                <a:spcPct val="90000"/>
              </a:lnSpc>
            </a:pPr>
            <a:r>
              <a:rPr lang="en-GB" altLang="tr-TR" sz="2000"/>
              <a:t>If the point is a light source -&gt; any part of an object that is inside the volume of the truncated pyramid is in shadow.</a:t>
            </a:r>
          </a:p>
        </p:txBody>
      </p:sp>
      <p:graphicFrame>
        <p:nvGraphicFramePr>
          <p:cNvPr id="472068" name="Object 4">
            <a:extLst>
              <a:ext uri="{FF2B5EF4-FFF2-40B4-BE49-F238E27FC236}">
                <a16:creationId xmlns:a16="http://schemas.microsoft.com/office/drawing/2014/main" id="{AE052F42-2F94-69C3-FACA-60BC9268D3C6}"/>
              </a:ext>
            </a:extLst>
          </p:cNvPr>
          <p:cNvGraphicFramePr>
            <a:graphicFrameLocks noGrp="1" noChangeAspect="1"/>
          </p:cNvGraphicFramePr>
          <p:nvPr>
            <p:ph sz="half" idx="2"/>
          </p:nvPr>
        </p:nvGraphicFramePr>
        <p:xfrm>
          <a:off x="1403350" y="3860800"/>
          <a:ext cx="6769100" cy="2647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비트맵 이미지" r:id="rId3" imgW="8636000" imgH="3378200" progId="Paint.Picture">
                  <p:embed/>
                </p:oleObj>
              </mc:Choice>
              <mc:Fallback>
                <p:oleObj name="비트맵 이미지" r:id="rId3" imgW="8636000" imgH="3378200" progId="Paint.Picture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03350" y="3860800"/>
                        <a:ext cx="6769100" cy="2647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4226" name="Rectangle 2">
            <a:extLst>
              <a:ext uri="{FF2B5EF4-FFF2-40B4-BE49-F238E27FC236}">
                <a16:creationId xmlns:a16="http://schemas.microsoft.com/office/drawing/2014/main" id="{9BAAD5DE-9671-91A2-234D-50D98CC715D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tr-TR"/>
              <a:t>Shadow Volumes</a:t>
            </a:r>
          </a:p>
        </p:txBody>
      </p:sp>
      <p:sp>
        <p:nvSpPr>
          <p:cNvPr id="564227" name="Rectangle 3">
            <a:extLst>
              <a:ext uri="{FF2B5EF4-FFF2-40B4-BE49-F238E27FC236}">
                <a16:creationId xmlns:a16="http://schemas.microsoft.com/office/drawing/2014/main" id="{9160FD06-A373-D11D-A803-F2A067718E2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tr-TR"/>
              <a:t>Shadow volume concept</a:t>
            </a:r>
          </a:p>
          <a:p>
            <a:r>
              <a:rPr lang="en-US" altLang="tr-TR"/>
              <a:t>Create volumes of space in shadow from each polygon in light.</a:t>
            </a:r>
          </a:p>
          <a:p>
            <a:r>
              <a:rPr lang="en-US" altLang="tr-TR"/>
              <a:t>Each triangle creates 3 projecting quads</a:t>
            </a:r>
          </a:p>
          <a:p>
            <a:endParaRPr lang="en-GB" altLang="tr-TR"/>
          </a:p>
        </p:txBody>
      </p:sp>
      <p:sp>
        <p:nvSpPr>
          <p:cNvPr id="564228" name="Freeform 4">
            <a:extLst>
              <a:ext uri="{FF2B5EF4-FFF2-40B4-BE49-F238E27FC236}">
                <a16:creationId xmlns:a16="http://schemas.microsoft.com/office/drawing/2014/main" id="{7E018D82-75BB-3268-2E3B-AFE2C39D6769}"/>
              </a:ext>
            </a:extLst>
          </p:cNvPr>
          <p:cNvSpPr>
            <a:spLocks/>
          </p:cNvSpPr>
          <p:nvPr/>
        </p:nvSpPr>
        <p:spPr bwMode="auto">
          <a:xfrm>
            <a:off x="3352800" y="4114800"/>
            <a:ext cx="609600" cy="685800"/>
          </a:xfrm>
          <a:custGeom>
            <a:avLst/>
            <a:gdLst>
              <a:gd name="T0" fmla="*/ 0 w 384"/>
              <a:gd name="T1" fmla="*/ 144 h 432"/>
              <a:gd name="T2" fmla="*/ 384 w 384"/>
              <a:gd name="T3" fmla="*/ 0 h 432"/>
              <a:gd name="T4" fmla="*/ 0 w 384"/>
              <a:gd name="T5" fmla="*/ 432 h 432"/>
              <a:gd name="T6" fmla="*/ 0 w 384"/>
              <a:gd name="T7" fmla="*/ 144 h 4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384" h="432">
                <a:moveTo>
                  <a:pt x="0" y="144"/>
                </a:moveTo>
                <a:lnTo>
                  <a:pt x="384" y="0"/>
                </a:lnTo>
                <a:lnTo>
                  <a:pt x="0" y="432"/>
                </a:lnTo>
                <a:lnTo>
                  <a:pt x="0" y="144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 cmpd="sng">
                <a:solidFill>
                  <a:schemeClr val="tx1"/>
                </a:solidFill>
                <a:prstDash val="solid"/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64229" name="Line 5">
            <a:extLst>
              <a:ext uri="{FF2B5EF4-FFF2-40B4-BE49-F238E27FC236}">
                <a16:creationId xmlns:a16="http://schemas.microsoft.com/office/drawing/2014/main" id="{842C353C-43BA-F1BA-06AC-48066936306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352800" y="4114800"/>
            <a:ext cx="609600" cy="685800"/>
          </a:xfrm>
          <a:prstGeom prst="line">
            <a:avLst/>
          </a:prstGeom>
          <a:noFill/>
          <a:ln w="28575">
            <a:solidFill>
              <a:srgbClr val="FF66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64230" name="Line 6">
            <a:extLst>
              <a:ext uri="{FF2B5EF4-FFF2-40B4-BE49-F238E27FC236}">
                <a16:creationId xmlns:a16="http://schemas.microsoft.com/office/drawing/2014/main" id="{BB0AF9C8-17F5-4A2D-E9F5-5522A7510ED1}"/>
              </a:ext>
            </a:extLst>
          </p:cNvPr>
          <p:cNvSpPr>
            <a:spLocks noChangeShapeType="1"/>
          </p:cNvSpPr>
          <p:nvPr/>
        </p:nvSpPr>
        <p:spPr bwMode="auto">
          <a:xfrm>
            <a:off x="1600200" y="4038600"/>
            <a:ext cx="1752600" cy="762000"/>
          </a:xfrm>
          <a:prstGeom prst="line">
            <a:avLst/>
          </a:prstGeom>
          <a:noFill/>
          <a:ln w="19050">
            <a:solidFill>
              <a:srgbClr val="993366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64231" name="Line 7">
            <a:extLst>
              <a:ext uri="{FF2B5EF4-FFF2-40B4-BE49-F238E27FC236}">
                <a16:creationId xmlns:a16="http://schemas.microsoft.com/office/drawing/2014/main" id="{F19CE73E-F024-C3E6-EF91-42E88A3F299B}"/>
              </a:ext>
            </a:extLst>
          </p:cNvPr>
          <p:cNvSpPr>
            <a:spLocks noChangeShapeType="1"/>
          </p:cNvSpPr>
          <p:nvPr/>
        </p:nvSpPr>
        <p:spPr bwMode="auto">
          <a:xfrm>
            <a:off x="1600200" y="4038600"/>
            <a:ext cx="2362200" cy="76200"/>
          </a:xfrm>
          <a:prstGeom prst="line">
            <a:avLst/>
          </a:prstGeom>
          <a:noFill/>
          <a:ln w="19050">
            <a:solidFill>
              <a:srgbClr val="993366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64232" name="Line 8">
            <a:extLst>
              <a:ext uri="{FF2B5EF4-FFF2-40B4-BE49-F238E27FC236}">
                <a16:creationId xmlns:a16="http://schemas.microsoft.com/office/drawing/2014/main" id="{018F0B72-474C-574A-CC08-512D244D646C}"/>
              </a:ext>
            </a:extLst>
          </p:cNvPr>
          <p:cNvSpPr>
            <a:spLocks noChangeShapeType="1"/>
          </p:cNvSpPr>
          <p:nvPr/>
        </p:nvSpPr>
        <p:spPr bwMode="auto">
          <a:xfrm>
            <a:off x="3352800" y="4800600"/>
            <a:ext cx="3048000" cy="1295400"/>
          </a:xfrm>
          <a:prstGeom prst="line">
            <a:avLst/>
          </a:prstGeom>
          <a:noFill/>
          <a:ln w="19050">
            <a:solidFill>
              <a:srgbClr val="FF9900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64233" name="Line 9">
            <a:extLst>
              <a:ext uri="{FF2B5EF4-FFF2-40B4-BE49-F238E27FC236}">
                <a16:creationId xmlns:a16="http://schemas.microsoft.com/office/drawing/2014/main" id="{D3982D7B-951C-6A33-E56A-C205A6EDEBAA}"/>
              </a:ext>
            </a:extLst>
          </p:cNvPr>
          <p:cNvSpPr>
            <a:spLocks noChangeShapeType="1"/>
          </p:cNvSpPr>
          <p:nvPr/>
        </p:nvSpPr>
        <p:spPr bwMode="auto">
          <a:xfrm>
            <a:off x="3962400" y="4114800"/>
            <a:ext cx="4114800" cy="0"/>
          </a:xfrm>
          <a:prstGeom prst="line">
            <a:avLst/>
          </a:prstGeom>
          <a:noFill/>
          <a:ln w="19050">
            <a:solidFill>
              <a:srgbClr val="FF9900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64234" name="Line 10">
            <a:extLst>
              <a:ext uri="{FF2B5EF4-FFF2-40B4-BE49-F238E27FC236}">
                <a16:creationId xmlns:a16="http://schemas.microsoft.com/office/drawing/2014/main" id="{D560EB9C-28F2-D78E-4217-B5559EC0B79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352800" y="4343400"/>
            <a:ext cx="0" cy="457200"/>
          </a:xfrm>
          <a:prstGeom prst="line">
            <a:avLst/>
          </a:prstGeom>
          <a:noFill/>
          <a:ln w="28575">
            <a:solidFill>
              <a:srgbClr val="FF66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64235" name="Line 11">
            <a:extLst>
              <a:ext uri="{FF2B5EF4-FFF2-40B4-BE49-F238E27FC236}">
                <a16:creationId xmlns:a16="http://schemas.microsoft.com/office/drawing/2014/main" id="{7B9D2D24-55A5-F87E-352B-0326B246BF2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352800" y="4114800"/>
            <a:ext cx="609600" cy="228600"/>
          </a:xfrm>
          <a:prstGeom prst="line">
            <a:avLst/>
          </a:prstGeom>
          <a:noFill/>
          <a:ln w="28575">
            <a:solidFill>
              <a:srgbClr val="FF66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64236" name="Line 12">
            <a:extLst>
              <a:ext uri="{FF2B5EF4-FFF2-40B4-BE49-F238E27FC236}">
                <a16:creationId xmlns:a16="http://schemas.microsoft.com/office/drawing/2014/main" id="{C5A094CF-BFB2-B000-1ED9-D8E038EF8CC4}"/>
              </a:ext>
            </a:extLst>
          </p:cNvPr>
          <p:cNvSpPr>
            <a:spLocks noChangeShapeType="1"/>
          </p:cNvSpPr>
          <p:nvPr/>
        </p:nvSpPr>
        <p:spPr bwMode="auto">
          <a:xfrm>
            <a:off x="1600200" y="4038600"/>
            <a:ext cx="1752600" cy="304800"/>
          </a:xfrm>
          <a:prstGeom prst="line">
            <a:avLst/>
          </a:prstGeom>
          <a:noFill/>
          <a:ln w="19050">
            <a:solidFill>
              <a:srgbClr val="993366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64237" name="Line 13">
            <a:extLst>
              <a:ext uri="{FF2B5EF4-FFF2-40B4-BE49-F238E27FC236}">
                <a16:creationId xmlns:a16="http://schemas.microsoft.com/office/drawing/2014/main" id="{3C5DF373-E506-3526-A143-02066E0EC97C}"/>
              </a:ext>
            </a:extLst>
          </p:cNvPr>
          <p:cNvSpPr>
            <a:spLocks noChangeShapeType="1"/>
          </p:cNvSpPr>
          <p:nvPr/>
        </p:nvSpPr>
        <p:spPr bwMode="auto">
          <a:xfrm>
            <a:off x="3352800" y="4343400"/>
            <a:ext cx="4114800" cy="685800"/>
          </a:xfrm>
          <a:prstGeom prst="line">
            <a:avLst/>
          </a:prstGeom>
          <a:noFill/>
          <a:ln w="19050">
            <a:solidFill>
              <a:srgbClr val="FF9900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64238" name="AutoShape 14">
            <a:extLst>
              <a:ext uri="{FF2B5EF4-FFF2-40B4-BE49-F238E27FC236}">
                <a16:creationId xmlns:a16="http://schemas.microsoft.com/office/drawing/2014/main" id="{8089F49E-337D-B53A-4116-A1631817DE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06538" y="3932238"/>
            <a:ext cx="228600" cy="228600"/>
          </a:xfrm>
          <a:prstGeom prst="irregularSeal1">
            <a:avLst/>
          </a:prstGeom>
          <a:solidFill>
            <a:srgbClr val="FFFF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5250" name="Rectangle 2">
            <a:extLst>
              <a:ext uri="{FF2B5EF4-FFF2-40B4-BE49-F238E27FC236}">
                <a16:creationId xmlns:a16="http://schemas.microsoft.com/office/drawing/2014/main" id="{AA19E64C-013D-444B-AC9C-D8F3E001B4A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tr-TR"/>
              <a:t>Shadow Volumes</a:t>
            </a:r>
          </a:p>
        </p:txBody>
      </p:sp>
      <p:sp>
        <p:nvSpPr>
          <p:cNvPr id="565251" name="Rectangle 3">
            <a:extLst>
              <a:ext uri="{FF2B5EF4-FFF2-40B4-BE49-F238E27FC236}">
                <a16:creationId xmlns:a16="http://schemas.microsoft.com/office/drawing/2014/main" id="{0D92F7F0-B906-C926-FF31-3CEC4D18562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tr-TR"/>
              <a:t>To test a point, count the number of polygons between it and the eye.</a:t>
            </a:r>
          </a:p>
          <a:p>
            <a:r>
              <a:rPr lang="en-US" altLang="tr-TR"/>
              <a:t>If we look through more frontfacing than backfacing polygons, then in shadow.</a:t>
            </a:r>
            <a:endParaRPr lang="en-GB" altLang="tr-TR"/>
          </a:p>
        </p:txBody>
      </p:sp>
      <p:sp>
        <p:nvSpPr>
          <p:cNvPr id="565252" name="Line 4">
            <a:extLst>
              <a:ext uri="{FF2B5EF4-FFF2-40B4-BE49-F238E27FC236}">
                <a16:creationId xmlns:a16="http://schemas.microsoft.com/office/drawing/2014/main" id="{19E087AF-1337-2698-6AE5-B4C8107E9795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352800" y="4114800"/>
            <a:ext cx="609600" cy="685800"/>
          </a:xfrm>
          <a:prstGeom prst="line">
            <a:avLst/>
          </a:prstGeom>
          <a:noFill/>
          <a:ln w="28575">
            <a:solidFill>
              <a:srgbClr val="FF66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65253" name="Line 5">
            <a:extLst>
              <a:ext uri="{FF2B5EF4-FFF2-40B4-BE49-F238E27FC236}">
                <a16:creationId xmlns:a16="http://schemas.microsoft.com/office/drawing/2014/main" id="{6225F025-7C5B-A10D-A576-4DC36883920C}"/>
              </a:ext>
            </a:extLst>
          </p:cNvPr>
          <p:cNvSpPr>
            <a:spLocks noChangeShapeType="1"/>
          </p:cNvSpPr>
          <p:nvPr/>
        </p:nvSpPr>
        <p:spPr bwMode="auto">
          <a:xfrm>
            <a:off x="1600200" y="4038600"/>
            <a:ext cx="1752600" cy="762000"/>
          </a:xfrm>
          <a:prstGeom prst="line">
            <a:avLst/>
          </a:prstGeom>
          <a:noFill/>
          <a:ln w="19050">
            <a:solidFill>
              <a:srgbClr val="993366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65254" name="Line 6">
            <a:extLst>
              <a:ext uri="{FF2B5EF4-FFF2-40B4-BE49-F238E27FC236}">
                <a16:creationId xmlns:a16="http://schemas.microsoft.com/office/drawing/2014/main" id="{FE9ED89C-2925-84A8-F4E6-649971419E8D}"/>
              </a:ext>
            </a:extLst>
          </p:cNvPr>
          <p:cNvSpPr>
            <a:spLocks noChangeShapeType="1"/>
          </p:cNvSpPr>
          <p:nvPr/>
        </p:nvSpPr>
        <p:spPr bwMode="auto">
          <a:xfrm>
            <a:off x="1600200" y="4038600"/>
            <a:ext cx="2362200" cy="76200"/>
          </a:xfrm>
          <a:prstGeom prst="line">
            <a:avLst/>
          </a:prstGeom>
          <a:noFill/>
          <a:ln w="19050">
            <a:solidFill>
              <a:srgbClr val="993366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65255" name="Line 7">
            <a:extLst>
              <a:ext uri="{FF2B5EF4-FFF2-40B4-BE49-F238E27FC236}">
                <a16:creationId xmlns:a16="http://schemas.microsoft.com/office/drawing/2014/main" id="{21BBB7CC-5A98-2227-E554-3FDBF45F513D}"/>
              </a:ext>
            </a:extLst>
          </p:cNvPr>
          <p:cNvSpPr>
            <a:spLocks noChangeShapeType="1"/>
          </p:cNvSpPr>
          <p:nvPr/>
        </p:nvSpPr>
        <p:spPr bwMode="auto">
          <a:xfrm>
            <a:off x="3352800" y="4800600"/>
            <a:ext cx="3048000" cy="1295400"/>
          </a:xfrm>
          <a:prstGeom prst="line">
            <a:avLst/>
          </a:prstGeom>
          <a:noFill/>
          <a:ln w="19050">
            <a:solidFill>
              <a:srgbClr val="FF9900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65256" name="Line 8">
            <a:extLst>
              <a:ext uri="{FF2B5EF4-FFF2-40B4-BE49-F238E27FC236}">
                <a16:creationId xmlns:a16="http://schemas.microsoft.com/office/drawing/2014/main" id="{26FE089C-CB13-81C7-B281-F176341142AC}"/>
              </a:ext>
            </a:extLst>
          </p:cNvPr>
          <p:cNvSpPr>
            <a:spLocks noChangeShapeType="1"/>
          </p:cNvSpPr>
          <p:nvPr/>
        </p:nvSpPr>
        <p:spPr bwMode="auto">
          <a:xfrm>
            <a:off x="3962400" y="4114800"/>
            <a:ext cx="4114800" cy="0"/>
          </a:xfrm>
          <a:prstGeom prst="line">
            <a:avLst/>
          </a:prstGeom>
          <a:noFill/>
          <a:ln w="19050">
            <a:solidFill>
              <a:srgbClr val="FF9900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565257" name="Group 9">
            <a:extLst>
              <a:ext uri="{FF2B5EF4-FFF2-40B4-BE49-F238E27FC236}">
                <a16:creationId xmlns:a16="http://schemas.microsoft.com/office/drawing/2014/main" id="{0E47B160-4D9B-110A-CF64-9E05FF031414}"/>
              </a:ext>
            </a:extLst>
          </p:cNvPr>
          <p:cNvGrpSpPr>
            <a:grpSpLocks/>
          </p:cNvGrpSpPr>
          <p:nvPr/>
        </p:nvGrpSpPr>
        <p:grpSpPr bwMode="auto">
          <a:xfrm>
            <a:off x="2667000" y="5715000"/>
            <a:ext cx="685800" cy="457200"/>
            <a:chOff x="288" y="2928"/>
            <a:chExt cx="1536" cy="1056"/>
          </a:xfrm>
        </p:grpSpPr>
        <p:grpSp>
          <p:nvGrpSpPr>
            <p:cNvPr id="565258" name="Group 10">
              <a:extLst>
                <a:ext uri="{FF2B5EF4-FFF2-40B4-BE49-F238E27FC236}">
                  <a16:creationId xmlns:a16="http://schemas.microsoft.com/office/drawing/2014/main" id="{A51BDDC5-F65E-DCA5-C7E5-D4C0AE4EE23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88" y="2928"/>
              <a:ext cx="1536" cy="1056"/>
              <a:chOff x="1680" y="3264"/>
              <a:chExt cx="576" cy="432"/>
            </a:xfrm>
          </p:grpSpPr>
          <p:sp>
            <p:nvSpPr>
              <p:cNvPr id="565259" name="Line 11">
                <a:extLst>
                  <a:ext uri="{FF2B5EF4-FFF2-40B4-BE49-F238E27FC236}">
                    <a16:creationId xmlns:a16="http://schemas.microsoft.com/office/drawing/2014/main" id="{E93F053F-5E03-761A-7D85-504E365F5AD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680" y="3264"/>
                <a:ext cx="432" cy="432"/>
              </a:xfrm>
              <a:prstGeom prst="line">
                <a:avLst/>
              </a:prstGeom>
              <a:noFill/>
              <a:ln w="25400">
                <a:solidFill>
                  <a:srgbClr val="80008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65260" name="Line 12">
                <a:extLst>
                  <a:ext uri="{FF2B5EF4-FFF2-40B4-BE49-F238E27FC236}">
                    <a16:creationId xmlns:a16="http://schemas.microsoft.com/office/drawing/2014/main" id="{A6ECB821-FA91-68B2-4976-9C135E4BDDB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680" y="3504"/>
                <a:ext cx="576" cy="192"/>
              </a:xfrm>
              <a:prstGeom prst="line">
                <a:avLst/>
              </a:prstGeom>
              <a:noFill/>
              <a:ln w="25400">
                <a:solidFill>
                  <a:srgbClr val="80008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565261" name="Freeform 13">
              <a:extLst>
                <a:ext uri="{FF2B5EF4-FFF2-40B4-BE49-F238E27FC236}">
                  <a16:creationId xmlns:a16="http://schemas.microsoft.com/office/drawing/2014/main" id="{04827E0E-B9D4-8E90-3AE4-5A4C1EE4BF57}"/>
                </a:ext>
              </a:extLst>
            </p:cNvPr>
            <p:cNvSpPr>
              <a:spLocks/>
            </p:cNvSpPr>
            <p:nvPr/>
          </p:nvSpPr>
          <p:spPr bwMode="auto">
            <a:xfrm>
              <a:off x="1248" y="3120"/>
              <a:ext cx="408" cy="464"/>
            </a:xfrm>
            <a:custGeom>
              <a:avLst/>
              <a:gdLst>
                <a:gd name="T0" fmla="*/ 0 w 408"/>
                <a:gd name="T1" fmla="*/ 0 h 464"/>
                <a:gd name="T2" fmla="*/ 240 w 408"/>
                <a:gd name="T3" fmla="*/ 48 h 464"/>
                <a:gd name="T4" fmla="*/ 384 w 408"/>
                <a:gd name="T5" fmla="*/ 240 h 464"/>
                <a:gd name="T6" fmla="*/ 384 w 408"/>
                <a:gd name="T7" fmla="*/ 432 h 4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08" h="464">
                  <a:moveTo>
                    <a:pt x="0" y="0"/>
                  </a:moveTo>
                  <a:cubicBezTo>
                    <a:pt x="88" y="4"/>
                    <a:pt x="176" y="8"/>
                    <a:pt x="240" y="48"/>
                  </a:cubicBezTo>
                  <a:cubicBezTo>
                    <a:pt x="304" y="88"/>
                    <a:pt x="360" y="176"/>
                    <a:pt x="384" y="240"/>
                  </a:cubicBezTo>
                  <a:cubicBezTo>
                    <a:pt x="408" y="304"/>
                    <a:pt x="384" y="464"/>
                    <a:pt x="384" y="432"/>
                  </a:cubicBezTo>
                </a:path>
              </a:pathLst>
            </a:custGeom>
            <a:noFill/>
            <a:ln w="28575" cap="flat" cmpd="sng">
              <a:solidFill>
                <a:srgbClr val="800080"/>
              </a:solidFill>
              <a:prstDash val="solid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65262" name="Oval 14">
              <a:extLst>
                <a:ext uri="{FF2B5EF4-FFF2-40B4-BE49-F238E27FC236}">
                  <a16:creationId xmlns:a16="http://schemas.microsoft.com/office/drawing/2014/main" id="{7581CD69-2DC6-5B81-1909-6838B682C302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-1653358">
              <a:off x="1440" y="3168"/>
              <a:ext cx="144" cy="336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565263" name="Line 15">
            <a:extLst>
              <a:ext uri="{FF2B5EF4-FFF2-40B4-BE49-F238E27FC236}">
                <a16:creationId xmlns:a16="http://schemas.microsoft.com/office/drawing/2014/main" id="{A2AC478E-82DB-8273-A044-E156663F582D}"/>
              </a:ext>
            </a:extLst>
          </p:cNvPr>
          <p:cNvSpPr>
            <a:spLocks noChangeShapeType="1"/>
          </p:cNvSpPr>
          <p:nvPr/>
        </p:nvSpPr>
        <p:spPr bwMode="auto">
          <a:xfrm>
            <a:off x="4800600" y="4800600"/>
            <a:ext cx="838200" cy="1371600"/>
          </a:xfrm>
          <a:prstGeom prst="line">
            <a:avLst/>
          </a:prstGeom>
          <a:noFill/>
          <a:ln w="28575">
            <a:solidFill>
              <a:srgbClr val="FF66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65264" name="Line 16">
            <a:extLst>
              <a:ext uri="{FF2B5EF4-FFF2-40B4-BE49-F238E27FC236}">
                <a16:creationId xmlns:a16="http://schemas.microsoft.com/office/drawing/2014/main" id="{4A4513AF-2F59-CEE5-0720-DDC46D553571}"/>
              </a:ext>
            </a:extLst>
          </p:cNvPr>
          <p:cNvSpPr>
            <a:spLocks noChangeShapeType="1"/>
          </p:cNvSpPr>
          <p:nvPr/>
        </p:nvSpPr>
        <p:spPr bwMode="auto">
          <a:xfrm>
            <a:off x="4800600" y="3505200"/>
            <a:ext cx="0" cy="1295400"/>
          </a:xfrm>
          <a:prstGeom prst="line">
            <a:avLst/>
          </a:prstGeom>
          <a:noFill/>
          <a:ln w="28575">
            <a:solidFill>
              <a:srgbClr val="FF66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65265" name="Line 17">
            <a:extLst>
              <a:ext uri="{FF2B5EF4-FFF2-40B4-BE49-F238E27FC236}">
                <a16:creationId xmlns:a16="http://schemas.microsoft.com/office/drawing/2014/main" id="{C18874B7-B1BD-B53D-8536-C2FF9BFF42B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276600" y="3810000"/>
            <a:ext cx="1524000" cy="2057400"/>
          </a:xfrm>
          <a:prstGeom prst="line">
            <a:avLst/>
          </a:prstGeom>
          <a:noFill/>
          <a:ln w="19050">
            <a:solidFill>
              <a:srgbClr val="FFFF00"/>
            </a:solidFill>
            <a:prstDash val="dash"/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65266" name="Line 18">
            <a:extLst>
              <a:ext uri="{FF2B5EF4-FFF2-40B4-BE49-F238E27FC236}">
                <a16:creationId xmlns:a16="http://schemas.microsoft.com/office/drawing/2014/main" id="{95950E0F-7876-DF40-23C3-5CE37A0342B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276600" y="4953000"/>
            <a:ext cx="1600200" cy="914400"/>
          </a:xfrm>
          <a:prstGeom prst="line">
            <a:avLst/>
          </a:prstGeom>
          <a:noFill/>
          <a:ln w="19050">
            <a:solidFill>
              <a:srgbClr val="FFFF00"/>
            </a:solidFill>
            <a:prstDash val="dash"/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65267" name="Line 19">
            <a:extLst>
              <a:ext uri="{FF2B5EF4-FFF2-40B4-BE49-F238E27FC236}">
                <a16:creationId xmlns:a16="http://schemas.microsoft.com/office/drawing/2014/main" id="{F7C778B4-AEE5-D2A0-6152-E8AD2DF09B84}"/>
              </a:ext>
            </a:extLst>
          </p:cNvPr>
          <p:cNvSpPr>
            <a:spLocks noChangeShapeType="1"/>
          </p:cNvSpPr>
          <p:nvPr/>
        </p:nvSpPr>
        <p:spPr bwMode="auto">
          <a:xfrm>
            <a:off x="3276600" y="5867400"/>
            <a:ext cx="2209800" cy="76200"/>
          </a:xfrm>
          <a:prstGeom prst="line">
            <a:avLst/>
          </a:prstGeom>
          <a:noFill/>
          <a:ln w="19050">
            <a:solidFill>
              <a:srgbClr val="FFFF00"/>
            </a:solidFill>
            <a:prstDash val="dash"/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65268" name="Text Box 20">
            <a:extLst>
              <a:ext uri="{FF2B5EF4-FFF2-40B4-BE49-F238E27FC236}">
                <a16:creationId xmlns:a16="http://schemas.microsoft.com/office/drawing/2014/main" id="{7617D8F6-D7DA-EB93-F1A2-632DCC4273F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84875" y="5562600"/>
            <a:ext cx="160813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eaLnBrk="1" hangingPunct="1"/>
            <a:r>
              <a:rPr lang="en-US" altLang="tr-TR" sz="2400">
                <a:solidFill>
                  <a:srgbClr val="FFCC00"/>
                </a:solidFill>
                <a:latin typeface="Arial" panose="020B0604020202020204" pitchFamily="34" charset="0"/>
              </a:rPr>
              <a:t>frontfacing</a:t>
            </a:r>
            <a:endParaRPr lang="en-US" altLang="tr-TR" sz="2400">
              <a:solidFill>
                <a:srgbClr val="FFCC00"/>
              </a:solidFill>
            </a:endParaRPr>
          </a:p>
        </p:txBody>
      </p:sp>
      <p:sp>
        <p:nvSpPr>
          <p:cNvPr id="565269" name="Text Box 21">
            <a:extLst>
              <a:ext uri="{FF2B5EF4-FFF2-40B4-BE49-F238E27FC236}">
                <a16:creationId xmlns:a16="http://schemas.microsoft.com/office/drawing/2014/main" id="{85F0D323-6CDD-B291-36CA-217DC7005A4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67413" y="3733800"/>
            <a:ext cx="164306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eaLnBrk="1" hangingPunct="1"/>
            <a:r>
              <a:rPr lang="en-US" altLang="tr-TR" sz="2400">
                <a:solidFill>
                  <a:srgbClr val="FFCC00"/>
                </a:solidFill>
                <a:latin typeface="Arial" panose="020B0604020202020204" pitchFamily="34" charset="0"/>
              </a:rPr>
              <a:t>backfacing</a:t>
            </a:r>
            <a:endParaRPr lang="en-US" altLang="tr-TR" sz="2400">
              <a:solidFill>
                <a:srgbClr val="FFCC00"/>
              </a:solidFill>
            </a:endParaRPr>
          </a:p>
        </p:txBody>
      </p:sp>
      <p:sp>
        <p:nvSpPr>
          <p:cNvPr id="565270" name="Line 22">
            <a:extLst>
              <a:ext uri="{FF2B5EF4-FFF2-40B4-BE49-F238E27FC236}">
                <a16:creationId xmlns:a16="http://schemas.microsoft.com/office/drawing/2014/main" id="{A94A112B-68CF-7EA8-2D44-ABD34B454AB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943600" y="3733800"/>
            <a:ext cx="0" cy="381000"/>
          </a:xfrm>
          <a:prstGeom prst="line">
            <a:avLst/>
          </a:prstGeom>
          <a:noFill/>
          <a:ln w="9525">
            <a:solidFill>
              <a:srgbClr val="FF99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65271" name="Line 23">
            <a:extLst>
              <a:ext uri="{FF2B5EF4-FFF2-40B4-BE49-F238E27FC236}">
                <a16:creationId xmlns:a16="http://schemas.microsoft.com/office/drawing/2014/main" id="{2921E87E-9F28-60F6-8A9B-FDCB626E590A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867400" y="5943600"/>
            <a:ext cx="152400" cy="304800"/>
          </a:xfrm>
          <a:prstGeom prst="line">
            <a:avLst/>
          </a:prstGeom>
          <a:noFill/>
          <a:ln w="9525">
            <a:solidFill>
              <a:srgbClr val="FF99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65272" name="Oval 24">
            <a:extLst>
              <a:ext uri="{FF2B5EF4-FFF2-40B4-BE49-F238E27FC236}">
                <a16:creationId xmlns:a16="http://schemas.microsoft.com/office/drawing/2014/main" id="{7297B6A3-3CCE-7A3D-C66F-63F499420B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95800" y="4038600"/>
            <a:ext cx="152400" cy="152400"/>
          </a:xfrm>
          <a:prstGeom prst="ellipse">
            <a:avLst/>
          </a:prstGeom>
          <a:solidFill>
            <a:srgbClr val="FF00FF"/>
          </a:solidFill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65273" name="Oval 25">
            <a:extLst>
              <a:ext uri="{FF2B5EF4-FFF2-40B4-BE49-F238E27FC236}">
                <a16:creationId xmlns:a16="http://schemas.microsoft.com/office/drawing/2014/main" id="{7AFD8A2A-3F47-50A5-8829-2C5DC133C5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22700" y="4953000"/>
            <a:ext cx="152400" cy="152400"/>
          </a:xfrm>
          <a:prstGeom prst="ellipse">
            <a:avLst/>
          </a:prstGeom>
          <a:solidFill>
            <a:srgbClr val="FF0000"/>
          </a:solidFill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65274" name="Oval 26">
            <a:extLst>
              <a:ext uri="{FF2B5EF4-FFF2-40B4-BE49-F238E27FC236}">
                <a16:creationId xmlns:a16="http://schemas.microsoft.com/office/drawing/2014/main" id="{7336BB9E-CCCA-36B7-F78B-CC77A4319D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98950" y="5162550"/>
            <a:ext cx="152400" cy="152400"/>
          </a:xfrm>
          <a:prstGeom prst="ellipse">
            <a:avLst/>
          </a:prstGeom>
          <a:solidFill>
            <a:srgbClr val="FF0000"/>
          </a:solidFill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65275" name="AutoShape 27">
            <a:extLst>
              <a:ext uri="{FF2B5EF4-FFF2-40B4-BE49-F238E27FC236}">
                <a16:creationId xmlns:a16="http://schemas.microsoft.com/office/drawing/2014/main" id="{F72F996B-9A5E-B353-7B43-A589910537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06538" y="3932238"/>
            <a:ext cx="228600" cy="228600"/>
          </a:xfrm>
          <a:prstGeom prst="irregularSeal1">
            <a:avLst/>
          </a:prstGeom>
          <a:solidFill>
            <a:srgbClr val="FFFF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7299" name="Rectangle 3">
            <a:extLst>
              <a:ext uri="{FF2B5EF4-FFF2-40B4-BE49-F238E27FC236}">
                <a16:creationId xmlns:a16="http://schemas.microsoft.com/office/drawing/2014/main" id="{5F2C2712-B048-4DBB-36C4-1CA731928CC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altLang="tr-TR"/>
              <a:t>Merging Volumes</a:t>
            </a:r>
          </a:p>
          <a:p>
            <a:r>
              <a:rPr lang="en-US" altLang="tr-TR"/>
              <a:t>Edge shared by two polygons facing the light creates front and backfacing quad</a:t>
            </a:r>
            <a:endParaRPr lang="en-GB" altLang="tr-TR"/>
          </a:p>
        </p:txBody>
      </p:sp>
      <p:sp>
        <p:nvSpPr>
          <p:cNvPr id="567300" name="Line 4">
            <a:extLst>
              <a:ext uri="{FF2B5EF4-FFF2-40B4-BE49-F238E27FC236}">
                <a16:creationId xmlns:a16="http://schemas.microsoft.com/office/drawing/2014/main" id="{DED64479-8274-1600-8156-3EFF4BE7719F}"/>
              </a:ext>
            </a:extLst>
          </p:cNvPr>
          <p:cNvSpPr>
            <a:spLocks noChangeShapeType="1"/>
          </p:cNvSpPr>
          <p:nvPr/>
        </p:nvSpPr>
        <p:spPr bwMode="auto">
          <a:xfrm>
            <a:off x="1600200" y="4038600"/>
            <a:ext cx="2362200" cy="76200"/>
          </a:xfrm>
          <a:prstGeom prst="line">
            <a:avLst/>
          </a:prstGeom>
          <a:noFill/>
          <a:ln w="19050">
            <a:solidFill>
              <a:srgbClr val="993366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67301" name="Freeform 5">
            <a:extLst>
              <a:ext uri="{FF2B5EF4-FFF2-40B4-BE49-F238E27FC236}">
                <a16:creationId xmlns:a16="http://schemas.microsoft.com/office/drawing/2014/main" id="{2C664A96-0F96-1EA8-940B-0129D8134082}"/>
              </a:ext>
            </a:extLst>
          </p:cNvPr>
          <p:cNvSpPr>
            <a:spLocks/>
          </p:cNvSpPr>
          <p:nvPr/>
        </p:nvSpPr>
        <p:spPr bwMode="auto">
          <a:xfrm>
            <a:off x="3352800" y="3657600"/>
            <a:ext cx="609600" cy="685800"/>
          </a:xfrm>
          <a:custGeom>
            <a:avLst/>
            <a:gdLst>
              <a:gd name="T0" fmla="*/ 192 w 384"/>
              <a:gd name="T1" fmla="*/ 0 h 432"/>
              <a:gd name="T2" fmla="*/ 384 w 384"/>
              <a:gd name="T3" fmla="*/ 288 h 432"/>
              <a:gd name="T4" fmla="*/ 0 w 384"/>
              <a:gd name="T5" fmla="*/ 432 h 432"/>
              <a:gd name="T6" fmla="*/ 192 w 384"/>
              <a:gd name="T7" fmla="*/ 0 h 4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384" h="432">
                <a:moveTo>
                  <a:pt x="192" y="0"/>
                </a:moveTo>
                <a:lnTo>
                  <a:pt x="384" y="288"/>
                </a:lnTo>
                <a:lnTo>
                  <a:pt x="0" y="432"/>
                </a:lnTo>
                <a:lnTo>
                  <a:pt x="192" y="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 cmpd="sng">
                <a:solidFill>
                  <a:schemeClr val="tx1"/>
                </a:solidFill>
                <a:prstDash val="solid"/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67302" name="Freeform 6">
            <a:extLst>
              <a:ext uri="{FF2B5EF4-FFF2-40B4-BE49-F238E27FC236}">
                <a16:creationId xmlns:a16="http://schemas.microsoft.com/office/drawing/2014/main" id="{5766E3DF-E6DA-3AE2-69F7-BAB0D29E6CC8}"/>
              </a:ext>
            </a:extLst>
          </p:cNvPr>
          <p:cNvSpPr>
            <a:spLocks/>
          </p:cNvSpPr>
          <p:nvPr/>
        </p:nvSpPr>
        <p:spPr bwMode="auto">
          <a:xfrm>
            <a:off x="3352800" y="4114800"/>
            <a:ext cx="609600" cy="685800"/>
          </a:xfrm>
          <a:custGeom>
            <a:avLst/>
            <a:gdLst>
              <a:gd name="T0" fmla="*/ 0 w 384"/>
              <a:gd name="T1" fmla="*/ 144 h 432"/>
              <a:gd name="T2" fmla="*/ 384 w 384"/>
              <a:gd name="T3" fmla="*/ 0 h 432"/>
              <a:gd name="T4" fmla="*/ 0 w 384"/>
              <a:gd name="T5" fmla="*/ 432 h 432"/>
              <a:gd name="T6" fmla="*/ 0 w 384"/>
              <a:gd name="T7" fmla="*/ 144 h 4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384" h="432">
                <a:moveTo>
                  <a:pt x="0" y="144"/>
                </a:moveTo>
                <a:lnTo>
                  <a:pt x="384" y="0"/>
                </a:lnTo>
                <a:lnTo>
                  <a:pt x="0" y="432"/>
                </a:lnTo>
                <a:lnTo>
                  <a:pt x="0" y="144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 cmpd="sng">
                <a:solidFill>
                  <a:schemeClr val="tx1"/>
                </a:solidFill>
                <a:prstDash val="solid"/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67303" name="Line 7">
            <a:extLst>
              <a:ext uri="{FF2B5EF4-FFF2-40B4-BE49-F238E27FC236}">
                <a16:creationId xmlns:a16="http://schemas.microsoft.com/office/drawing/2014/main" id="{7DC8007C-C42C-BB1E-3C0E-035023FC3F95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352800" y="4114800"/>
            <a:ext cx="609600" cy="685800"/>
          </a:xfrm>
          <a:prstGeom prst="line">
            <a:avLst/>
          </a:prstGeom>
          <a:noFill/>
          <a:ln w="28575">
            <a:solidFill>
              <a:srgbClr val="FF66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67304" name="Line 8">
            <a:extLst>
              <a:ext uri="{FF2B5EF4-FFF2-40B4-BE49-F238E27FC236}">
                <a16:creationId xmlns:a16="http://schemas.microsoft.com/office/drawing/2014/main" id="{7582A7D8-DD9D-C59F-0208-F32ADBA15F6A}"/>
              </a:ext>
            </a:extLst>
          </p:cNvPr>
          <p:cNvSpPr>
            <a:spLocks noChangeShapeType="1"/>
          </p:cNvSpPr>
          <p:nvPr/>
        </p:nvSpPr>
        <p:spPr bwMode="auto">
          <a:xfrm>
            <a:off x="1600200" y="4038600"/>
            <a:ext cx="1752600" cy="762000"/>
          </a:xfrm>
          <a:prstGeom prst="line">
            <a:avLst/>
          </a:prstGeom>
          <a:noFill/>
          <a:ln w="19050">
            <a:solidFill>
              <a:srgbClr val="993366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67305" name="Line 9">
            <a:extLst>
              <a:ext uri="{FF2B5EF4-FFF2-40B4-BE49-F238E27FC236}">
                <a16:creationId xmlns:a16="http://schemas.microsoft.com/office/drawing/2014/main" id="{C3CEF58E-63B2-2075-9100-ABFAF3623282}"/>
              </a:ext>
            </a:extLst>
          </p:cNvPr>
          <p:cNvSpPr>
            <a:spLocks noChangeShapeType="1"/>
          </p:cNvSpPr>
          <p:nvPr/>
        </p:nvSpPr>
        <p:spPr bwMode="auto">
          <a:xfrm>
            <a:off x="3352800" y="4800600"/>
            <a:ext cx="3048000" cy="1295400"/>
          </a:xfrm>
          <a:prstGeom prst="line">
            <a:avLst/>
          </a:prstGeom>
          <a:noFill/>
          <a:ln w="19050">
            <a:solidFill>
              <a:srgbClr val="FF9900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67306" name="Line 10">
            <a:extLst>
              <a:ext uri="{FF2B5EF4-FFF2-40B4-BE49-F238E27FC236}">
                <a16:creationId xmlns:a16="http://schemas.microsoft.com/office/drawing/2014/main" id="{CDC4C32E-8F8F-0ABC-8B7B-EA20DBC0ADF5}"/>
              </a:ext>
            </a:extLst>
          </p:cNvPr>
          <p:cNvSpPr>
            <a:spLocks noChangeShapeType="1"/>
          </p:cNvSpPr>
          <p:nvPr/>
        </p:nvSpPr>
        <p:spPr bwMode="auto">
          <a:xfrm>
            <a:off x="3962400" y="4114800"/>
            <a:ext cx="4114800" cy="0"/>
          </a:xfrm>
          <a:prstGeom prst="line">
            <a:avLst/>
          </a:prstGeom>
          <a:noFill/>
          <a:ln w="19050">
            <a:solidFill>
              <a:srgbClr val="FF9900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67307" name="Line 11">
            <a:extLst>
              <a:ext uri="{FF2B5EF4-FFF2-40B4-BE49-F238E27FC236}">
                <a16:creationId xmlns:a16="http://schemas.microsoft.com/office/drawing/2014/main" id="{E0490528-2736-CA17-8AAA-184A2F5982A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352800" y="4343400"/>
            <a:ext cx="0" cy="457200"/>
          </a:xfrm>
          <a:prstGeom prst="line">
            <a:avLst/>
          </a:prstGeom>
          <a:noFill/>
          <a:ln w="28575">
            <a:solidFill>
              <a:srgbClr val="FF66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67308" name="Line 12">
            <a:extLst>
              <a:ext uri="{FF2B5EF4-FFF2-40B4-BE49-F238E27FC236}">
                <a16:creationId xmlns:a16="http://schemas.microsoft.com/office/drawing/2014/main" id="{A05A5FFD-B94E-E94D-49AE-D52ACE46105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352800" y="4114800"/>
            <a:ext cx="609600" cy="228600"/>
          </a:xfrm>
          <a:prstGeom prst="line">
            <a:avLst/>
          </a:prstGeom>
          <a:noFill/>
          <a:ln w="28575">
            <a:solidFill>
              <a:srgbClr val="FF66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67309" name="Line 13">
            <a:extLst>
              <a:ext uri="{FF2B5EF4-FFF2-40B4-BE49-F238E27FC236}">
                <a16:creationId xmlns:a16="http://schemas.microsoft.com/office/drawing/2014/main" id="{220B302A-E0AE-8280-81B9-8B43FA0EEF8B}"/>
              </a:ext>
            </a:extLst>
          </p:cNvPr>
          <p:cNvSpPr>
            <a:spLocks noChangeShapeType="1"/>
          </p:cNvSpPr>
          <p:nvPr/>
        </p:nvSpPr>
        <p:spPr bwMode="auto">
          <a:xfrm>
            <a:off x="1600200" y="4038600"/>
            <a:ext cx="1752600" cy="304800"/>
          </a:xfrm>
          <a:prstGeom prst="line">
            <a:avLst/>
          </a:prstGeom>
          <a:noFill/>
          <a:ln w="19050">
            <a:solidFill>
              <a:srgbClr val="993366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67310" name="Line 14">
            <a:extLst>
              <a:ext uri="{FF2B5EF4-FFF2-40B4-BE49-F238E27FC236}">
                <a16:creationId xmlns:a16="http://schemas.microsoft.com/office/drawing/2014/main" id="{A3208710-95AA-C854-025E-E526928FA9F4}"/>
              </a:ext>
            </a:extLst>
          </p:cNvPr>
          <p:cNvSpPr>
            <a:spLocks noChangeShapeType="1"/>
          </p:cNvSpPr>
          <p:nvPr/>
        </p:nvSpPr>
        <p:spPr bwMode="auto">
          <a:xfrm>
            <a:off x="3352800" y="4343400"/>
            <a:ext cx="4114800" cy="685800"/>
          </a:xfrm>
          <a:prstGeom prst="line">
            <a:avLst/>
          </a:prstGeom>
          <a:noFill/>
          <a:ln w="19050">
            <a:solidFill>
              <a:srgbClr val="FF9900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67311" name="Line 15">
            <a:extLst>
              <a:ext uri="{FF2B5EF4-FFF2-40B4-BE49-F238E27FC236}">
                <a16:creationId xmlns:a16="http://schemas.microsoft.com/office/drawing/2014/main" id="{233A5A4C-005D-ACE3-EBC5-6B4FD29EDD1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352800" y="3657600"/>
            <a:ext cx="304800" cy="685800"/>
          </a:xfrm>
          <a:prstGeom prst="line">
            <a:avLst/>
          </a:prstGeom>
          <a:noFill/>
          <a:ln w="28575">
            <a:solidFill>
              <a:srgbClr val="FF66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67312" name="Line 16">
            <a:extLst>
              <a:ext uri="{FF2B5EF4-FFF2-40B4-BE49-F238E27FC236}">
                <a16:creationId xmlns:a16="http://schemas.microsoft.com/office/drawing/2014/main" id="{C4D228A9-ADC7-455C-5E30-47FAD4772797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3657600" y="3657600"/>
            <a:ext cx="304800" cy="457200"/>
          </a:xfrm>
          <a:prstGeom prst="line">
            <a:avLst/>
          </a:prstGeom>
          <a:noFill/>
          <a:ln w="28575">
            <a:solidFill>
              <a:srgbClr val="FF66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67313" name="Line 17">
            <a:extLst>
              <a:ext uri="{FF2B5EF4-FFF2-40B4-BE49-F238E27FC236}">
                <a16:creationId xmlns:a16="http://schemas.microsoft.com/office/drawing/2014/main" id="{EC950256-C7F4-3E80-57AC-085433D21C7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600200" y="3657600"/>
            <a:ext cx="2057400" cy="381000"/>
          </a:xfrm>
          <a:prstGeom prst="line">
            <a:avLst/>
          </a:prstGeom>
          <a:noFill/>
          <a:ln w="19050">
            <a:solidFill>
              <a:srgbClr val="993366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67314" name="AutoShape 18">
            <a:extLst>
              <a:ext uri="{FF2B5EF4-FFF2-40B4-BE49-F238E27FC236}">
                <a16:creationId xmlns:a16="http://schemas.microsoft.com/office/drawing/2014/main" id="{4984DA25-0244-3B7C-3EDE-C82C9F9817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06538" y="3932238"/>
            <a:ext cx="228600" cy="228600"/>
          </a:xfrm>
          <a:prstGeom prst="irregularSeal1">
            <a:avLst/>
          </a:prstGeom>
          <a:solidFill>
            <a:srgbClr val="FFFF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67315" name="Line 19">
            <a:extLst>
              <a:ext uri="{FF2B5EF4-FFF2-40B4-BE49-F238E27FC236}">
                <a16:creationId xmlns:a16="http://schemas.microsoft.com/office/drawing/2014/main" id="{9E791479-174C-E1D7-58D1-263B3C79189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657600" y="2971800"/>
            <a:ext cx="4114800" cy="685800"/>
          </a:xfrm>
          <a:prstGeom prst="line">
            <a:avLst/>
          </a:prstGeom>
          <a:noFill/>
          <a:ln w="19050">
            <a:solidFill>
              <a:srgbClr val="FF9900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67316" name="Text Box 20">
            <a:extLst>
              <a:ext uri="{FF2B5EF4-FFF2-40B4-BE49-F238E27FC236}">
                <a16:creationId xmlns:a16="http://schemas.microsoft.com/office/drawing/2014/main" id="{8F1C624C-77EF-241F-0EBF-16E5DA20411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09638" y="5638800"/>
            <a:ext cx="3998912" cy="822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eaLnBrk="1" hangingPunct="1"/>
            <a:r>
              <a:rPr lang="en-US" altLang="tr-TR" sz="2400">
                <a:latin typeface="Arial" panose="020B0604020202020204" pitchFamily="34" charset="0"/>
              </a:rPr>
              <a:t>This interior edge makes</a:t>
            </a:r>
          </a:p>
          <a:p>
            <a:pPr eaLnBrk="1" hangingPunct="1"/>
            <a:r>
              <a:rPr lang="en-US" altLang="tr-TR" sz="2400">
                <a:latin typeface="Arial" panose="020B0604020202020204" pitchFamily="34" charset="0"/>
              </a:rPr>
              <a:t>two quads, which cancel out</a:t>
            </a:r>
            <a:endParaRPr lang="en-US" altLang="tr-TR" sz="2400"/>
          </a:p>
        </p:txBody>
      </p:sp>
      <p:sp>
        <p:nvSpPr>
          <p:cNvPr id="567317" name="Freeform 21">
            <a:extLst>
              <a:ext uri="{FF2B5EF4-FFF2-40B4-BE49-F238E27FC236}">
                <a16:creationId xmlns:a16="http://schemas.microsoft.com/office/drawing/2014/main" id="{7A9540C3-3632-FC9A-8A74-265654ED0F7E}"/>
              </a:ext>
            </a:extLst>
          </p:cNvPr>
          <p:cNvSpPr>
            <a:spLocks/>
          </p:cNvSpPr>
          <p:nvPr/>
        </p:nvSpPr>
        <p:spPr bwMode="auto">
          <a:xfrm>
            <a:off x="3733800" y="4191000"/>
            <a:ext cx="304800" cy="1524000"/>
          </a:xfrm>
          <a:custGeom>
            <a:avLst/>
            <a:gdLst>
              <a:gd name="T0" fmla="*/ 0 w 192"/>
              <a:gd name="T1" fmla="*/ 960 h 960"/>
              <a:gd name="T2" fmla="*/ 192 w 192"/>
              <a:gd name="T3" fmla="*/ 384 h 960"/>
              <a:gd name="T4" fmla="*/ 0 w 192"/>
              <a:gd name="T5" fmla="*/ 0 h 96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92" h="960">
                <a:moveTo>
                  <a:pt x="0" y="960"/>
                </a:moveTo>
                <a:cubicBezTo>
                  <a:pt x="96" y="752"/>
                  <a:pt x="192" y="544"/>
                  <a:pt x="192" y="384"/>
                </a:cubicBezTo>
                <a:cubicBezTo>
                  <a:pt x="192" y="224"/>
                  <a:pt x="96" y="88"/>
                  <a:pt x="0" y="0"/>
                </a:cubicBezTo>
              </a:path>
            </a:pathLst>
          </a:custGeom>
          <a:noFill/>
          <a:ln w="19050" cap="flat" cmpd="sng">
            <a:solidFill>
              <a:schemeClr val="tx1"/>
            </a:solidFill>
            <a:prstDash val="solid"/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114" name="Rectangle 2">
            <a:extLst>
              <a:ext uri="{FF2B5EF4-FFF2-40B4-BE49-F238E27FC236}">
                <a16:creationId xmlns:a16="http://schemas.microsoft.com/office/drawing/2014/main" id="{5AA3FE09-A17B-C78E-04A9-8D6749EBD69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tr-TR"/>
              <a:t>Shadows</a:t>
            </a:r>
          </a:p>
        </p:txBody>
      </p:sp>
      <p:sp>
        <p:nvSpPr>
          <p:cNvPr id="474115" name="Rectangle 3">
            <a:extLst>
              <a:ext uri="{FF2B5EF4-FFF2-40B4-BE49-F238E27FC236}">
                <a16:creationId xmlns:a16="http://schemas.microsoft.com/office/drawing/2014/main" id="{65440380-C625-498E-97E8-6D25EDEE500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50825" y="1524000"/>
            <a:ext cx="8713788" cy="472440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GB" altLang="tr-TR" sz="2200"/>
              <a:t>Solution:</a:t>
            </a:r>
          </a:p>
          <a:p>
            <a:pPr lvl="1">
              <a:lnSpc>
                <a:spcPct val="90000"/>
              </a:lnSpc>
            </a:pPr>
            <a:r>
              <a:rPr lang="en-GB" altLang="tr-TR" sz="2000"/>
              <a:t>Clear the stencil buffer</a:t>
            </a:r>
          </a:p>
          <a:p>
            <a:pPr lvl="1">
              <a:lnSpc>
                <a:spcPct val="90000"/>
              </a:lnSpc>
            </a:pPr>
            <a:r>
              <a:rPr lang="en-GB" altLang="tr-TR" sz="2000"/>
              <a:t>The whole scene is drawn into the frame buffer with only ambient and emission components</a:t>
            </a:r>
          </a:p>
          <a:p>
            <a:pPr lvl="1">
              <a:lnSpc>
                <a:spcPct val="90000"/>
              </a:lnSpc>
            </a:pPr>
            <a:r>
              <a:rPr lang="en-GB" altLang="tr-TR" sz="2000"/>
              <a:t>Z-buffer updates and writing to color buffer turned off</a:t>
            </a:r>
          </a:p>
          <a:p>
            <a:pPr lvl="1">
              <a:lnSpc>
                <a:spcPct val="90000"/>
              </a:lnSpc>
            </a:pPr>
            <a:r>
              <a:rPr lang="en-GB" altLang="tr-TR" sz="2000"/>
              <a:t>Front facing polygons of the shadow volumes are drawn</a:t>
            </a:r>
          </a:p>
          <a:p>
            <a:pPr lvl="1">
              <a:lnSpc>
                <a:spcPct val="90000"/>
              </a:lnSpc>
            </a:pPr>
            <a:r>
              <a:rPr lang="en-GB" altLang="tr-TR" sz="2000"/>
              <a:t>Increase the stencil buffer wherever a polygon is drawn</a:t>
            </a:r>
          </a:p>
          <a:p>
            <a:pPr lvl="1">
              <a:lnSpc>
                <a:spcPct val="90000"/>
              </a:lnSpc>
            </a:pPr>
            <a:r>
              <a:rPr lang="en-GB" altLang="tr-TR" sz="2000"/>
              <a:t>One more pass with stencil buffer-&gt; drawing only the backfacing polygons of the shadow volume</a:t>
            </a:r>
          </a:p>
          <a:p>
            <a:pPr lvl="1">
              <a:lnSpc>
                <a:spcPct val="90000"/>
              </a:lnSpc>
            </a:pPr>
            <a:r>
              <a:rPr lang="en-GB" altLang="tr-TR" sz="2000"/>
              <a:t>The values of the stencil buffer is decremented if the polygon is drawn</a:t>
            </a:r>
          </a:p>
          <a:p>
            <a:pPr lvl="1">
              <a:lnSpc>
                <a:spcPct val="90000"/>
              </a:lnSpc>
            </a:pPr>
            <a:r>
              <a:rPr lang="en-GB" altLang="tr-TR" sz="2000"/>
              <a:t>Final rendering with diffuse and specular components and displayed only where the value of the stencil buffer is 0.</a:t>
            </a:r>
          </a:p>
          <a:p>
            <a:pPr lvl="1">
              <a:lnSpc>
                <a:spcPct val="90000"/>
              </a:lnSpc>
            </a:pPr>
            <a:r>
              <a:rPr lang="en-GB" altLang="tr-TR" sz="2000"/>
              <a:t>0 means that the ray has gone out of shadow as many times as it has gone into a shadow volume -&gt;illuminated by light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6274" name="Rectangle 2">
            <a:extLst>
              <a:ext uri="{FF2B5EF4-FFF2-40B4-BE49-F238E27FC236}">
                <a16:creationId xmlns:a16="http://schemas.microsoft.com/office/drawing/2014/main" id="{1D5CD8BF-43A0-30EA-001E-E2A0CF97D2C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en-GB" altLang="tr-TR"/>
          </a:p>
        </p:txBody>
      </p:sp>
      <p:sp>
        <p:nvSpPr>
          <p:cNvPr id="566275" name="Rectangle 3">
            <a:extLst>
              <a:ext uri="{FF2B5EF4-FFF2-40B4-BE49-F238E27FC236}">
                <a16:creationId xmlns:a16="http://schemas.microsoft.com/office/drawing/2014/main" id="{644FFA33-A5DF-94ED-FBE7-2327F055AE1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GB" altLang="tr-TR"/>
          </a:p>
        </p:txBody>
      </p:sp>
      <p:pic>
        <p:nvPicPr>
          <p:cNvPr id="566276" name="Picture 4">
            <a:extLst>
              <a:ext uri="{FF2B5EF4-FFF2-40B4-BE49-F238E27FC236}">
                <a16:creationId xmlns:a16="http://schemas.microsoft.com/office/drawing/2014/main" id="{200478EF-3445-A1CA-E5E8-0568F21194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3350" y="1268413"/>
            <a:ext cx="6324600" cy="47323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141" name="Rectangle 5">
            <a:extLst>
              <a:ext uri="{FF2B5EF4-FFF2-40B4-BE49-F238E27FC236}">
                <a16:creationId xmlns:a16="http://schemas.microsoft.com/office/drawing/2014/main" id="{DFBACF9E-D569-F64D-AB88-D36A899D8B3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tr-TR"/>
              <a:t>Shadows</a:t>
            </a:r>
          </a:p>
        </p:txBody>
      </p:sp>
      <p:graphicFrame>
        <p:nvGraphicFramePr>
          <p:cNvPr id="475140" name="Object 4">
            <a:extLst>
              <a:ext uri="{FF2B5EF4-FFF2-40B4-BE49-F238E27FC236}">
                <a16:creationId xmlns:a16="http://schemas.microsoft.com/office/drawing/2014/main" id="{4A211F78-92A2-BE1D-B0C6-83300D722796}"/>
              </a:ext>
            </a:extLst>
          </p:cNvPr>
          <p:cNvGraphicFramePr>
            <a:graphicFrameLocks noGrp="1" noChangeAspect="1"/>
          </p:cNvGraphicFramePr>
          <p:nvPr>
            <p:ph idx="1"/>
          </p:nvPr>
        </p:nvGraphicFramePr>
        <p:xfrm>
          <a:off x="250825" y="1341438"/>
          <a:ext cx="8496300" cy="3578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비트맵 이미지" r:id="rId3" imgW="4597400" imgH="1936750" progId="Paint.Picture">
                  <p:embed/>
                </p:oleObj>
              </mc:Choice>
              <mc:Fallback>
                <p:oleObj name="비트맵 이미지" r:id="rId3" imgW="4597400" imgH="1936750" progId="Paint.Picture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0825" y="1341438"/>
                        <a:ext cx="8496300" cy="3578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75144" name="Text Box 8">
            <a:extLst>
              <a:ext uri="{FF2B5EF4-FFF2-40B4-BE49-F238E27FC236}">
                <a16:creationId xmlns:a16="http://schemas.microsoft.com/office/drawing/2014/main" id="{29934F93-CE85-B4B8-B09C-0C7109A428C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03350" y="5300663"/>
            <a:ext cx="6192838" cy="581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0000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GB" altLang="tr-TR" sz="1600"/>
              <a:t>On the left a square with cutouts casts a shadow on various objects.</a:t>
            </a:r>
          </a:p>
          <a:p>
            <a:r>
              <a:rPr lang="en-GB" altLang="tr-TR" sz="1600"/>
              <a:t> On the right the various faces of the shadow volume are shown.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02" name="Rectangle 2">
            <a:extLst>
              <a:ext uri="{FF2B5EF4-FFF2-40B4-BE49-F238E27FC236}">
                <a16:creationId xmlns:a16="http://schemas.microsoft.com/office/drawing/2014/main" id="{DD459D9C-D033-92BF-4256-AD86774054D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en-GB" altLang="tr-TR"/>
          </a:p>
        </p:txBody>
      </p:sp>
      <p:sp>
        <p:nvSpPr>
          <p:cNvPr id="563203" name="Rectangle 3">
            <a:extLst>
              <a:ext uri="{FF2B5EF4-FFF2-40B4-BE49-F238E27FC236}">
                <a16:creationId xmlns:a16="http://schemas.microsoft.com/office/drawing/2014/main" id="{64405A66-A350-C884-DED5-82DA957C644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sv-SE" altLang="tr-TR"/>
              <a:t>Focus on shadow volumes, because currently most popular, and works on most hardware</a:t>
            </a:r>
            <a:endParaRPr lang="en-GB" altLang="tr-TR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186" name="Rectangle 2">
            <a:extLst>
              <a:ext uri="{FF2B5EF4-FFF2-40B4-BE49-F238E27FC236}">
                <a16:creationId xmlns:a16="http://schemas.microsoft.com/office/drawing/2014/main" id="{B041AA36-FE44-3E3E-ED9E-EC8FB93E2F0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tr-TR"/>
              <a:t>Shadows</a:t>
            </a:r>
          </a:p>
        </p:txBody>
      </p:sp>
      <p:sp>
        <p:nvSpPr>
          <p:cNvPr id="477187" name="Rectangle 3">
            <a:extLst>
              <a:ext uri="{FF2B5EF4-FFF2-40B4-BE49-F238E27FC236}">
                <a16:creationId xmlns:a16="http://schemas.microsoft.com/office/drawing/2014/main" id="{F6F3CDD5-23C9-B86E-B723-5BD2C3462D8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GB" altLang="tr-TR" sz="2800"/>
              <a:t>Shadow Map</a:t>
            </a:r>
          </a:p>
          <a:p>
            <a:pPr lvl="1">
              <a:lnSpc>
                <a:spcPct val="90000"/>
              </a:lnSpc>
            </a:pPr>
            <a:r>
              <a:rPr lang="sv-SE" altLang="tr-TR" sz="2200"/>
              <a:t>Render from light’s view (white is far                            and black is near)</a:t>
            </a:r>
            <a:endParaRPr lang="en-GB" altLang="tr-TR" sz="2200"/>
          </a:p>
          <a:p>
            <a:pPr lvl="1">
              <a:lnSpc>
                <a:spcPct val="90000"/>
              </a:lnSpc>
            </a:pPr>
            <a:r>
              <a:rPr lang="en-GB" altLang="tr-TR" sz="2200"/>
              <a:t>Render the scene using the Z-buffer algorithm, from the position of the light source that is to cast shadows. For each pixel in the Z-Buffer, the z-depth now contains the distance to the object closest to the light source. Z-Buffer is called shadow map.</a:t>
            </a:r>
          </a:p>
          <a:p>
            <a:pPr lvl="1">
              <a:lnSpc>
                <a:spcPct val="90000"/>
              </a:lnSpc>
            </a:pPr>
            <a:r>
              <a:rPr lang="en-GB" altLang="tr-TR" sz="2200"/>
              <a:t>Render the scene second time with respect to the viewer. Now as each drawing primitive is being rendered its location is compared to the shadow map</a:t>
            </a:r>
          </a:p>
          <a:p>
            <a:pPr lvl="1">
              <a:lnSpc>
                <a:spcPct val="90000"/>
              </a:lnSpc>
            </a:pPr>
            <a:r>
              <a:rPr lang="en-GB" altLang="tr-TR" sz="2200"/>
              <a:t>If a rendered point is farther away from the light source than the value in the shadow map, then that point is in shadow otherwise it is not.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213" name="Rectangle 5">
            <a:extLst>
              <a:ext uri="{FF2B5EF4-FFF2-40B4-BE49-F238E27FC236}">
                <a16:creationId xmlns:a16="http://schemas.microsoft.com/office/drawing/2014/main" id="{7DE03726-8F5F-5703-73FB-47EA5E68AC7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tr-TR"/>
              <a:t>Shadows</a:t>
            </a:r>
          </a:p>
        </p:txBody>
      </p:sp>
      <p:graphicFrame>
        <p:nvGraphicFramePr>
          <p:cNvPr id="478212" name="Object 4">
            <a:extLst>
              <a:ext uri="{FF2B5EF4-FFF2-40B4-BE49-F238E27FC236}">
                <a16:creationId xmlns:a16="http://schemas.microsoft.com/office/drawing/2014/main" id="{FA867C4E-2C55-EFB2-F761-CA84847601FB}"/>
              </a:ext>
            </a:extLst>
          </p:cNvPr>
          <p:cNvGraphicFramePr>
            <a:graphicFrameLocks noGrp="1" noChangeAspect="1"/>
          </p:cNvGraphicFramePr>
          <p:nvPr>
            <p:ph idx="1"/>
          </p:nvPr>
        </p:nvGraphicFramePr>
        <p:xfrm>
          <a:off x="1146175" y="2609850"/>
          <a:ext cx="6850063" cy="2552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비트맵 이미지" r:id="rId3" imgW="4565650" imgH="1701800" progId="Paint.Picture">
                  <p:embed/>
                </p:oleObj>
              </mc:Choice>
              <mc:Fallback>
                <p:oleObj name="비트맵 이미지" r:id="rId3" imgW="4565650" imgH="1701800" progId="Paint.Picture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46175" y="2609850"/>
                        <a:ext cx="6850063" cy="2552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258" name="Rectangle 2">
            <a:extLst>
              <a:ext uri="{FF2B5EF4-FFF2-40B4-BE49-F238E27FC236}">
                <a16:creationId xmlns:a16="http://schemas.microsoft.com/office/drawing/2014/main" id="{C1E01E16-2204-3F4C-8088-114CAC27B64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tr-TR"/>
              <a:t>Shadows</a:t>
            </a:r>
          </a:p>
        </p:txBody>
      </p:sp>
      <p:sp>
        <p:nvSpPr>
          <p:cNvPr id="480259" name="Rectangle 3">
            <a:extLst>
              <a:ext uri="{FF2B5EF4-FFF2-40B4-BE49-F238E27FC236}">
                <a16:creationId xmlns:a16="http://schemas.microsoft.com/office/drawing/2014/main" id="{60D20E1F-E025-F143-1C1E-730F5D75FB3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altLang="tr-TR"/>
              <a:t>Optimizations</a:t>
            </a:r>
          </a:p>
          <a:p>
            <a:pPr lvl="1"/>
            <a:r>
              <a:rPr lang="en-GB" altLang="tr-TR"/>
              <a:t>Great cost: Performance and Memory</a:t>
            </a:r>
          </a:p>
          <a:p>
            <a:pPr lvl="1"/>
            <a:r>
              <a:rPr lang="en-GB" altLang="tr-TR"/>
              <a:t>It is difficult to perceive correct shadow -&gt; you can generate fast fakes ! </a:t>
            </a:r>
          </a:p>
          <a:p>
            <a:pPr lvl="1"/>
            <a:r>
              <a:rPr lang="en-GB" altLang="tr-TR"/>
              <a:t>If the framerate is high, inaccuracies are ok</a:t>
            </a:r>
          </a:p>
          <a:p>
            <a:pPr lvl="2"/>
            <a:r>
              <a:rPr lang="en-GB" altLang="tr-TR"/>
              <a:t>Use low level of detail model to cast shadow</a:t>
            </a:r>
          </a:p>
          <a:p>
            <a:pPr lvl="2"/>
            <a:r>
              <a:rPr lang="en-GB" altLang="tr-TR"/>
              <a:t>Update the relevant shadow information only every other frame or less seldom (use distance also)</a:t>
            </a:r>
          </a:p>
          <a:p>
            <a:pPr lvl="2"/>
            <a:r>
              <a:rPr lang="en-GB" altLang="tr-TR"/>
              <a:t>Use culling for lights</a:t>
            </a:r>
          </a:p>
          <a:p>
            <a:pPr lvl="2"/>
            <a:endParaRPr lang="en-GB" altLang="tr-TR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Image-Based Lighting (IBL)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Uses HDR environment maps for realistic lighting</a:t>
            </a:r>
          </a:p>
          <a:p>
            <a:r>
              <a:t>Diffuse irradiance + Specular prefilter</a:t>
            </a:r>
          </a:p>
          <a:p>
            <a:r>
              <a:t>Standard in modern engines (UE5, Unity HDRP)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Modern Shadow Techniques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Legacy: Shadow Volumes, Planar Shadows</a:t>
            </a:r>
          </a:p>
          <a:p>
            <a:r>
              <a:t>Standard: Shadow Maps, PCF, PCSS, CSM</a:t>
            </a:r>
          </a:p>
          <a:p>
            <a:r>
              <a:t>Emerging: Ray-Traced Shadows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Real-Time Ray Tracing (RTX, DXR, Vulkan RT)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Hybrid Rasterization + Ray Tracing</a:t>
            </a:r>
          </a:p>
          <a:p>
            <a:r>
              <a:t>Ray shaders: Generation, Closest Hit, Miss</a:t>
            </a:r>
          </a:p>
          <a:p>
            <a:r>
              <a:t>Accurate shadows, GI, reflections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Modern Global Illumination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SSGI, Light Probes, SDF GI (UE5 Lumen)</a:t>
            </a:r>
          </a:p>
          <a:p>
            <a:r>
              <a:t>RTX GI and real-time path tracing</a:t>
            </a:r>
          </a:p>
          <a:p>
            <a:r>
              <a:t>Hybrid GI used in current engines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Classical vs Modern Mapping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Phong → Microfacet GGX</a:t>
            </a:r>
          </a:p>
          <a:p>
            <a:r>
              <a:t>Shadow Volumes → PCSS/CSM/RT Shadows</a:t>
            </a:r>
          </a:p>
          <a:p>
            <a:r>
              <a:t>CubeMap → IBL + RT Reflections</a:t>
            </a:r>
          </a:p>
          <a:p>
            <a:r>
              <a:t>Accumulation Buffer → Temporal DOF/Post-process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Modern Rendering Architectures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Forward, Deferred, Forward+, Clustered Shading</a:t>
            </a:r>
          </a:p>
          <a:p>
            <a:r>
              <a:t>Hybrid deferred + ray tracing</a:t>
            </a:r>
          </a:p>
          <a:p>
            <a:r>
              <a:t>Support for thousands of lights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From Fixed-Function to Fully Programmable GPU Pipelines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Legacy fixed-function pipelines (pre-2005)</a:t>
            </a:r>
          </a:p>
          <a:p>
            <a:r>
              <a:t>Modern fully programmable pipeline</a:t>
            </a:r>
          </a:p>
          <a:p>
            <a:r>
              <a:t>Shader stages: Vertex, Tessellation, Geometry, Fragment, Compute, RT stages</a:t>
            </a:r>
          </a:p>
          <a:p>
            <a:r>
              <a:t>Shader languages: GLSL, HLSL, MSL, WGSL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g3">
  <a:themeElements>
    <a:clrScheme name="cg3 1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cg3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FF0000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tr-TR" sz="12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FF0000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tr-TR" sz="12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</a:defRPr>
        </a:defPPr>
      </a:lstStyle>
    </a:lnDef>
  </a:objectDefaults>
  <a:extraClrSchemeLst>
    <a:extraClrScheme>
      <a:clrScheme name="cg3 1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g3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33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g3 3">
        <a:dk1>
          <a:srgbClr val="000000"/>
        </a:dk1>
        <a:lt1>
          <a:srgbClr val="FFFFCC"/>
        </a:lt1>
        <a:dk2>
          <a:srgbClr val="999933"/>
        </a:dk2>
        <a:lt2>
          <a:srgbClr val="808000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g3 4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68686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97979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g3 5">
        <a:dk1>
          <a:srgbClr val="000000"/>
        </a:dk1>
        <a:lt1>
          <a:srgbClr val="FFFFFF"/>
        </a:lt1>
        <a:dk2>
          <a:srgbClr val="000000"/>
        </a:dk2>
        <a:lt2>
          <a:srgbClr val="9F9F9F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g3 6">
        <a:dk1>
          <a:srgbClr val="000000"/>
        </a:dk1>
        <a:lt1>
          <a:srgbClr val="FFFFFF"/>
        </a:lt1>
        <a:dk2>
          <a:srgbClr val="000000"/>
        </a:dk2>
        <a:lt2>
          <a:srgbClr val="868686"/>
        </a:lt2>
        <a:accent1>
          <a:srgbClr val="CBCBCB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005CE7"/>
        </a:accent6>
        <a:hlink>
          <a:srgbClr val="FF0033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g3 7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g3 8">
        <a:dk1>
          <a:srgbClr val="0000CC"/>
        </a:dk1>
        <a:lt1>
          <a:srgbClr val="FFFFCC"/>
        </a:lt1>
        <a:dk2>
          <a:srgbClr val="999933"/>
        </a:dk2>
        <a:lt2>
          <a:srgbClr val="808000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AE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g3 9">
        <a:dk1>
          <a:srgbClr val="0000CC"/>
        </a:dk1>
        <a:lt1>
          <a:srgbClr val="FFFFCC"/>
        </a:lt1>
        <a:dk2>
          <a:srgbClr val="999933"/>
        </a:dk2>
        <a:lt2>
          <a:srgbClr val="0000CC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AE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eması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C:\PPT\BOOK_LECTURE\cg3.ppt</Template>
  <TotalTime>5781</TotalTime>
  <Words>3007</Words>
  <Application>Microsoft Macintosh PowerPoint</Application>
  <PresentationFormat>Ekran Gösterisi (4:3)</PresentationFormat>
  <Paragraphs>476</Paragraphs>
  <Slides>74</Slides>
  <Notes>55</Notes>
  <HiddenSlides>0</HiddenSlides>
  <MMClips>0</MMClips>
  <ScaleCrop>false</ScaleCrop>
  <HeadingPairs>
    <vt:vector size="8" baseType="variant">
      <vt:variant>
        <vt:lpstr>Kullanılan Yazı Tipleri</vt:lpstr>
      </vt:variant>
      <vt:variant>
        <vt:i4>4</vt:i4>
      </vt:variant>
      <vt:variant>
        <vt:lpstr>Tema</vt:lpstr>
      </vt:variant>
      <vt:variant>
        <vt:i4>1</vt:i4>
      </vt:variant>
      <vt:variant>
        <vt:lpstr>Eklenmiş OLE Hizmet Programları</vt:lpstr>
      </vt:variant>
      <vt:variant>
        <vt:i4>3</vt:i4>
      </vt:variant>
      <vt:variant>
        <vt:lpstr>Slayt Başlıkları</vt:lpstr>
      </vt:variant>
      <vt:variant>
        <vt:i4>74</vt:i4>
      </vt:variant>
    </vt:vector>
  </HeadingPairs>
  <TitlesOfParts>
    <vt:vector size="82" baseType="lpstr">
      <vt:lpstr>Arial</vt:lpstr>
      <vt:lpstr>Helvetica</vt:lpstr>
      <vt:lpstr>Symbol</vt:lpstr>
      <vt:lpstr>Times New Roman</vt:lpstr>
      <vt:lpstr>cg3</vt:lpstr>
      <vt:lpstr>Picture</vt:lpstr>
      <vt:lpstr>Equation</vt:lpstr>
      <vt:lpstr>비트맵 이미지</vt:lpstr>
      <vt:lpstr>Advanced Lighting and Shading</vt:lpstr>
      <vt:lpstr>Overview</vt:lpstr>
      <vt:lpstr>Overview</vt:lpstr>
      <vt:lpstr>Radiometry</vt:lpstr>
      <vt:lpstr>Radiometry</vt:lpstr>
      <vt:lpstr>Radiometry</vt:lpstr>
      <vt:lpstr>PowerPoint Sunusu</vt:lpstr>
      <vt:lpstr>Radiometry</vt:lpstr>
      <vt:lpstr>Radiometry</vt:lpstr>
      <vt:lpstr>Radiometry</vt:lpstr>
      <vt:lpstr>Radiometry</vt:lpstr>
      <vt:lpstr>Radiometry</vt:lpstr>
      <vt:lpstr>Radiometry</vt:lpstr>
      <vt:lpstr>Radiometry</vt:lpstr>
      <vt:lpstr>Radiometry</vt:lpstr>
      <vt:lpstr>Radiometry</vt:lpstr>
      <vt:lpstr>Radiometry</vt:lpstr>
      <vt:lpstr>Radiometry</vt:lpstr>
      <vt:lpstr>Colorimetry</vt:lpstr>
      <vt:lpstr>Colorimetry</vt:lpstr>
      <vt:lpstr>Colorimetry</vt:lpstr>
      <vt:lpstr>BRDF</vt:lpstr>
      <vt:lpstr>The BRDF</vt:lpstr>
      <vt:lpstr>Illumination via the BRDF</vt:lpstr>
      <vt:lpstr>Parameterizations</vt:lpstr>
      <vt:lpstr>BRDF Attributes</vt:lpstr>
      <vt:lpstr>Diffuse Reflection</vt:lpstr>
      <vt:lpstr>Modeling BRDF’s   </vt:lpstr>
      <vt:lpstr>The Reflectivity</vt:lpstr>
      <vt:lpstr>Illumination via Reflectivity</vt:lpstr>
      <vt:lpstr>From Phong to Physically-Based Rendering (PBR)</vt:lpstr>
      <vt:lpstr>D–F–G: Core Components of Microfacet BRDF</vt:lpstr>
      <vt:lpstr>Modern PBR Material Workflow</vt:lpstr>
      <vt:lpstr>Motion Blur</vt:lpstr>
      <vt:lpstr>Depth of Field</vt:lpstr>
      <vt:lpstr>Reflections</vt:lpstr>
      <vt:lpstr>Reflections</vt:lpstr>
      <vt:lpstr>Reflections</vt:lpstr>
      <vt:lpstr>Reflections</vt:lpstr>
      <vt:lpstr>Reflections</vt:lpstr>
      <vt:lpstr>Reflections</vt:lpstr>
      <vt:lpstr>Glossy Effects</vt:lpstr>
      <vt:lpstr>Refractions</vt:lpstr>
      <vt:lpstr>Refractions</vt:lpstr>
      <vt:lpstr>Shadows</vt:lpstr>
      <vt:lpstr>PowerPoint Sunusu</vt:lpstr>
      <vt:lpstr>PowerPoint Sunusu</vt:lpstr>
      <vt:lpstr>PowerPoint Sunusu</vt:lpstr>
      <vt:lpstr>PowerPoint Sunusu</vt:lpstr>
      <vt:lpstr>Shadows</vt:lpstr>
      <vt:lpstr>Shadows</vt:lpstr>
      <vt:lpstr>Shadows</vt:lpstr>
      <vt:lpstr>Shadows</vt:lpstr>
      <vt:lpstr>Shadows</vt:lpstr>
      <vt:lpstr>Shadows</vt:lpstr>
      <vt:lpstr>Shadows</vt:lpstr>
      <vt:lpstr>Shadows</vt:lpstr>
      <vt:lpstr>Shadow Volumes</vt:lpstr>
      <vt:lpstr>Shadow Volumes</vt:lpstr>
      <vt:lpstr>PowerPoint Sunusu</vt:lpstr>
      <vt:lpstr>Shadows</vt:lpstr>
      <vt:lpstr>PowerPoint Sunusu</vt:lpstr>
      <vt:lpstr>Shadows</vt:lpstr>
      <vt:lpstr>PowerPoint Sunusu</vt:lpstr>
      <vt:lpstr>Shadows</vt:lpstr>
      <vt:lpstr>Shadows</vt:lpstr>
      <vt:lpstr>Shadows</vt:lpstr>
      <vt:lpstr>Image-Based Lighting (IBL)</vt:lpstr>
      <vt:lpstr>Modern Shadow Techniques</vt:lpstr>
      <vt:lpstr>Real-Time Ray Tracing (RTX, DXR, Vulkan RT)</vt:lpstr>
      <vt:lpstr>Modern Global Illumination</vt:lpstr>
      <vt:lpstr>Classical vs Modern Mapping</vt:lpstr>
      <vt:lpstr>Modern Rendering Architectures</vt:lpstr>
      <vt:lpstr>From Fixed-Function to Fully Programmable GPU Pipelines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Ed Angel</dc:creator>
  <cp:lastModifiedBy>Selim Balcisoy</cp:lastModifiedBy>
  <cp:revision>384</cp:revision>
  <dcterms:created xsi:type="dcterms:W3CDTF">2002-08-02T19:17:07Z</dcterms:created>
  <dcterms:modified xsi:type="dcterms:W3CDTF">2025-11-26T17:11:39Z</dcterms:modified>
</cp:coreProperties>
</file>